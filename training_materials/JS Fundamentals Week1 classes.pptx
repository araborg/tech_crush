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Lst>
  <p:sldSz cx="12192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4A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8" d="100"/>
          <a:sy n="58" d="100"/>
        </p:scale>
        <p:origin x="9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21718-FBE3-4406-A2DF-2789830EFD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D9D49D-E377-47CB-BD20-AFCBDA7620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092588-DA5B-43A6-962B-279B4E1AB2EB}"/>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5" name="Footer Placeholder 4">
            <a:extLst>
              <a:ext uri="{FF2B5EF4-FFF2-40B4-BE49-F238E27FC236}">
                <a16:creationId xmlns:a16="http://schemas.microsoft.com/office/drawing/2014/main" id="{A9F140FB-43A6-4FD1-94C3-924F0167D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BE1BEE-8B1B-4012-BF20-CE86FBED8E1B}"/>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302360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B4EB2-E8CB-4B36-B9A3-0D744EB194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3A640E-3426-4D68-8758-266058AFEC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82BA8-052C-472F-A453-C17E9DF12547}"/>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5" name="Footer Placeholder 4">
            <a:extLst>
              <a:ext uri="{FF2B5EF4-FFF2-40B4-BE49-F238E27FC236}">
                <a16:creationId xmlns:a16="http://schemas.microsoft.com/office/drawing/2014/main" id="{7FF9BEE3-199B-4F03-9704-D635F3CD7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E9890-7D67-4AB4-BCB4-BA6C2CE1A5B1}"/>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237071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3E58F-B87E-4D51-AEC4-3C7CFC874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CA005D-E2B9-4269-BBDF-95AC6C9986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3F9A64-17C1-454E-BC10-BB7069020ADD}"/>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5" name="Footer Placeholder 4">
            <a:extLst>
              <a:ext uri="{FF2B5EF4-FFF2-40B4-BE49-F238E27FC236}">
                <a16:creationId xmlns:a16="http://schemas.microsoft.com/office/drawing/2014/main" id="{D8606CA6-DA6C-4AE0-86A8-CA6928153F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2BC59-7508-4292-ABBF-442F62416F6B}"/>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1860936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BBEF6-DF97-410B-B303-9C72F77486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155A58-EE46-43F9-8837-25A06B333E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F73056-92EC-4976-BC79-1FEF1B285B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218DC3-58A2-4EDE-A0C9-678A1E281B03}"/>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6" name="Footer Placeholder 5">
            <a:extLst>
              <a:ext uri="{FF2B5EF4-FFF2-40B4-BE49-F238E27FC236}">
                <a16:creationId xmlns:a16="http://schemas.microsoft.com/office/drawing/2014/main" id="{1FE4522F-4293-4266-980F-A30945ACB1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E3490F-8522-484A-B079-85B6EA6A3F80}"/>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1936446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62FD-9055-4B8C-97AB-2228559549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0D1E1B-6619-4B7F-A3BA-FFA223A8B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2DACB3-BE03-4FF9-B125-5650AC5083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6AD2E4-A53E-449B-9133-AA276630F9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3DF1B5-EA08-4316-B7EA-31D97887D7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D4B21C-EB1C-4120-91FD-F79489E43388}"/>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8" name="Footer Placeholder 7">
            <a:extLst>
              <a:ext uri="{FF2B5EF4-FFF2-40B4-BE49-F238E27FC236}">
                <a16:creationId xmlns:a16="http://schemas.microsoft.com/office/drawing/2014/main" id="{D41D7F33-163D-400C-9E8A-5A1EF6FD93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8231DD-3BC6-4ABD-A7E7-5C024E8408B8}"/>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4105758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4F96B-96F1-411E-9A48-A9B4E6391B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A5FE9E-CFDB-44C3-BB34-122405B6D3F6}"/>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4" name="Footer Placeholder 3">
            <a:extLst>
              <a:ext uri="{FF2B5EF4-FFF2-40B4-BE49-F238E27FC236}">
                <a16:creationId xmlns:a16="http://schemas.microsoft.com/office/drawing/2014/main" id="{5929CAE9-935B-4974-AE12-A597C6F38A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6B10DA-D8BF-4895-8F08-014D31819CDF}"/>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3171078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E6F310-9596-4995-9F10-876C56648A46}"/>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3" name="Footer Placeholder 2">
            <a:extLst>
              <a:ext uri="{FF2B5EF4-FFF2-40B4-BE49-F238E27FC236}">
                <a16:creationId xmlns:a16="http://schemas.microsoft.com/office/drawing/2014/main" id="{98178F19-38C6-41B6-81C9-D193DBC5CE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48DD17-A6D5-4FF9-8890-ACE53FF8E4C4}"/>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74087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9B2-2F89-4C05-809C-1B031BF00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457808-80A2-4665-A5FB-CE9F0549E0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9C91EF-0A94-45FA-B70E-896D02206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02E469-4ECD-4FA3-B5E5-C34645F73B05}"/>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6" name="Footer Placeholder 5">
            <a:extLst>
              <a:ext uri="{FF2B5EF4-FFF2-40B4-BE49-F238E27FC236}">
                <a16:creationId xmlns:a16="http://schemas.microsoft.com/office/drawing/2014/main" id="{6252835D-2536-4697-83C2-27D39B14D1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9D5942-A156-4A45-BFCD-B4C2128761B5}"/>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685137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6B7C1-0EF3-4B1F-9E89-BD0299ED58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2B24EE-4641-403C-9108-4F64571085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F67565-9D6C-47DB-842F-2EA9F9784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B5C72E-6208-4FF2-AD84-3C0CE72C6B1C}"/>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6" name="Footer Placeholder 5">
            <a:extLst>
              <a:ext uri="{FF2B5EF4-FFF2-40B4-BE49-F238E27FC236}">
                <a16:creationId xmlns:a16="http://schemas.microsoft.com/office/drawing/2014/main" id="{F4EDF47F-C1C3-433E-9921-4C4C7EB140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9F4E21-7F33-4ECE-8E32-139F6A999F2C}"/>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4094375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54FFB-75AE-447D-8155-D57D68875B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7BCBFD-05E8-4239-BD5C-74A5A823D5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EAE097-5EB1-4CEA-814B-896AE8311B55}"/>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5" name="Footer Placeholder 4">
            <a:extLst>
              <a:ext uri="{FF2B5EF4-FFF2-40B4-BE49-F238E27FC236}">
                <a16:creationId xmlns:a16="http://schemas.microsoft.com/office/drawing/2014/main" id="{17FA97E6-BC1A-4ED6-93BE-EA01E757E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8DFAD-BD5F-408E-B7DF-64A3B3349C72}"/>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4079011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C4C2F4-ADD3-470F-8BE1-8AAEDD08ED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CDDE29-9139-4605-97C0-6D5BA7557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B14C21-8FBC-4104-BBE9-F5F142ED2D67}"/>
              </a:ext>
            </a:extLst>
          </p:cNvPr>
          <p:cNvSpPr>
            <a:spLocks noGrp="1"/>
          </p:cNvSpPr>
          <p:nvPr>
            <p:ph type="dt" sz="half" idx="10"/>
          </p:nvPr>
        </p:nvSpPr>
        <p:spPr/>
        <p:txBody>
          <a:bodyPr/>
          <a:lstStyle/>
          <a:p>
            <a:fld id="{3FE86E5E-1B19-4D42-961C-90D457E4DBF0}" type="datetimeFigureOut">
              <a:rPr lang="en-US" smtClean="0"/>
              <a:t>3/16/2026</a:t>
            </a:fld>
            <a:endParaRPr lang="en-US"/>
          </a:p>
        </p:txBody>
      </p:sp>
      <p:sp>
        <p:nvSpPr>
          <p:cNvPr id="5" name="Footer Placeholder 4">
            <a:extLst>
              <a:ext uri="{FF2B5EF4-FFF2-40B4-BE49-F238E27FC236}">
                <a16:creationId xmlns:a16="http://schemas.microsoft.com/office/drawing/2014/main" id="{6E2621FF-4373-493A-9BB2-E725C195A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9DDCAB-A509-4930-9D8C-784C185E239D}"/>
              </a:ext>
            </a:extLst>
          </p:cNvPr>
          <p:cNvSpPr>
            <a:spLocks noGrp="1"/>
          </p:cNvSpPr>
          <p:nvPr>
            <p:ph type="sldNum" sz="quarter" idx="12"/>
          </p:nvPr>
        </p:nvSpPr>
        <p:spPr/>
        <p:txBody>
          <a:bodyPr/>
          <a:lstStyle/>
          <a:p>
            <a:fld id="{CA872B0B-EE82-4F85-B145-30A55E1CB0A5}" type="slidenum">
              <a:rPr lang="en-US" smtClean="0"/>
              <a:t>‹#›</a:t>
            </a:fld>
            <a:endParaRPr lang="en-US"/>
          </a:p>
        </p:txBody>
      </p:sp>
    </p:spTree>
    <p:extLst>
      <p:ext uri="{BB962C8B-B14F-4D97-AF65-F5344CB8AC3E}">
        <p14:creationId xmlns:p14="http://schemas.microsoft.com/office/powerpoint/2010/main" val="2591711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D06A9A-C59C-4AC0-8D3D-65255596C0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0B8DF6-15ED-4AE7-A58D-FEA2B0A0AD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12DEB-6431-4751-9672-C8A193AFD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E86E5E-1B19-4D42-961C-90D457E4DBF0}" type="datetimeFigureOut">
              <a:rPr lang="en-US" smtClean="0"/>
              <a:t>3/16/2026</a:t>
            </a:fld>
            <a:endParaRPr lang="en-US"/>
          </a:p>
        </p:txBody>
      </p:sp>
      <p:sp>
        <p:nvSpPr>
          <p:cNvPr id="5" name="Footer Placeholder 4">
            <a:extLst>
              <a:ext uri="{FF2B5EF4-FFF2-40B4-BE49-F238E27FC236}">
                <a16:creationId xmlns:a16="http://schemas.microsoft.com/office/drawing/2014/main" id="{A8437354-D1BC-4BF4-B54D-8AD0A63876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11BE00-0378-48EC-8EDC-F188A87C57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872B0B-EE82-4F85-B145-30A55E1CB0A5}" type="slidenum">
              <a:rPr lang="en-US" smtClean="0"/>
              <a:t>‹#›</a:t>
            </a:fld>
            <a:endParaRPr lang="en-US"/>
          </a:p>
        </p:txBody>
      </p:sp>
    </p:spTree>
    <p:extLst>
      <p:ext uri="{BB962C8B-B14F-4D97-AF65-F5344CB8AC3E}">
        <p14:creationId xmlns:p14="http://schemas.microsoft.com/office/powerpoint/2010/main" val="1405693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2" name="RedBottomBar"/>
          <p:cNvSpPr/>
          <p:nvPr/>
        </p:nvSpPr>
        <p:spPr>
          <a:xfrm>
            <a:off x="0" y="7620000"/>
            <a:ext cx="12192000" cy="1066800"/>
          </a:xfrm>
          <a:prstGeom prst="rect">
            <a:avLst/>
          </a:prstGeom>
          <a:solidFill>
            <a:srgbClr val="FE4A55"/>
          </a:solidFill>
          <a:ln>
            <a:noFill/>
          </a:ln>
        </p:spPr>
        <p:txBody>
          <a:bodyPr rtlCol="0" anchor="ctr"/>
          <a:lstStyle/>
          <a:p>
            <a:endParaRPr lang="en-US"/>
          </a:p>
        </p:txBody>
      </p:sp>
      <p:sp>
        <p:nvSpPr>
          <p:cNvPr id="3" name="MainTitle"/>
          <p:cNvSpPr txBox="1"/>
          <p:nvPr/>
        </p:nvSpPr>
        <p:spPr>
          <a:xfrm>
            <a:off x="304800" y="1600000"/>
            <a:ext cx="10800000" cy="2800000"/>
          </a:xfrm>
          <a:prstGeom prst="rect">
            <a:avLst/>
          </a:prstGeom>
          <a:noFill/>
        </p:spPr>
        <p:txBody>
          <a:bodyPr wrap="square" rtlCol="0">
            <a:spAutoFit/>
          </a:bodyPr>
          <a:lstStyle/>
          <a:p>
            <a:r>
              <a:rPr lang="en-US" sz="5400" b="1" dirty="0">
                <a:latin typeface="Arial Black" panose="020B0A04020102020204" pitchFamily="34" charset="0"/>
              </a:rPr>
              <a:t>JAVASCRIPT FUNDAMENTALS I</a:t>
            </a:r>
          </a:p>
          <a:p>
            <a:r>
              <a:rPr lang="en-US" sz="3600" dirty="0">
                <a:latin typeface="Arial Black" panose="020B0A04020102020204" pitchFamily="34" charset="0"/>
              </a:rPr>
              <a:t>Week 1: Variables, Control Flow and Functions</a:t>
            </a:r>
          </a:p>
        </p:txBody>
      </p:sp>
      <p:sp>
        <p:nvSpPr>
          <p:cNvPr id="4" name="Facilitator"/>
          <p:cNvSpPr txBox="1"/>
          <p:nvPr/>
        </p:nvSpPr>
        <p:spPr>
          <a:xfrm>
            <a:off x="6000000" y="4100000"/>
            <a:ext cx="5800000" cy="500000"/>
          </a:xfrm>
          <a:prstGeom prst="rect">
            <a:avLst/>
          </a:prstGeom>
          <a:noFill/>
        </p:spPr>
        <p:txBody>
          <a:bodyPr wrap="square" rtlCol="0">
            <a:spAutoFit/>
          </a:bodyPr>
          <a:lstStyle/>
          <a:p>
            <a:r>
              <a:rPr lang="en-US" sz="2000" dirty="0"/>
              <a:t>Instructor: Esther Uzoma Ogbu</a:t>
            </a:r>
          </a:p>
        </p:txBody>
      </p:sp>
      <p:sp>
        <p:nvSpPr>
          <p:cNvPr id="7" name="Disclaimer"/>
          <p:cNvSpPr txBox="1"/>
          <p:nvPr/>
        </p:nvSpPr>
        <p:spPr>
          <a:xfrm>
            <a:off x="1138518" y="8534519"/>
            <a:ext cx="7602070" cy="369332"/>
          </a:xfrm>
          <a:prstGeom prst="rect">
            <a:avLst/>
          </a:prstGeom>
          <a:noFill/>
        </p:spPr>
        <p:txBody>
          <a:bodyPr wrap="square" rtlCol="0">
            <a:spAutoFit/>
          </a:bodyPr>
          <a:lstStyle/>
          <a:p>
            <a:r>
              <a:rPr lang="en-US" i="1" dirty="0"/>
              <a:t>Disclaimer: This training material belongs to techcrush and shouldn’t be shared</a:t>
            </a:r>
          </a:p>
        </p:txBody>
      </p:sp>
      <p:sp>
        <p:nvSpPr>
          <p:cNvPr id="8" name="RedBottomLeft"/>
          <p:cNvSpPr/>
          <p:nvPr/>
        </p:nvSpPr>
        <p:spPr>
          <a:xfrm>
            <a:off x="0" y="6582800"/>
            <a:ext cx="304800" cy="1067000"/>
          </a:xfrm>
          <a:prstGeom prst="rect">
            <a:avLst/>
          </a:prstGeom>
          <a:solidFill>
            <a:srgbClr val="FE4A55"/>
          </a:solidFill>
          <a:ln>
            <a:noFill/>
          </a:ln>
        </p:spPr>
        <p:txBody>
          <a:bodyPr rtlCol="0" anchor="ct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B0F9EC-19D4-4401-8B62-37684DF88386}"/>
              </a:ext>
            </a:extLst>
          </p:cNvPr>
          <p:cNvSpPr/>
          <p:nvPr/>
        </p:nvSpPr>
        <p:spPr>
          <a:xfrm>
            <a:off x="0" y="5969"/>
            <a:ext cx="10067365" cy="651452"/>
          </a:xfrm>
          <a:prstGeom prst="rect">
            <a:avLst/>
          </a:prstGeom>
          <a:solidFill>
            <a:srgbClr val="FE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699F5A1-8D65-47F3-ACAC-E62B81FB5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669374"/>
          </a:xfrm>
          <a:prstGeom prst="rect">
            <a:avLst/>
          </a:prstGeom>
        </p:spPr>
      </p:pic>
      <p:sp>
        <p:nvSpPr>
          <p:cNvPr id="2" name="TextBox 1">
            <a:extLst>
              <a:ext uri="{FF2B5EF4-FFF2-40B4-BE49-F238E27FC236}">
                <a16:creationId xmlns:a16="http://schemas.microsoft.com/office/drawing/2014/main" id="{A65EFA57-E1E8-4980-B966-37C51ACCC417}"/>
              </a:ext>
            </a:extLst>
          </p:cNvPr>
          <p:cNvSpPr txBox="1"/>
          <p:nvPr/>
        </p:nvSpPr>
        <p:spPr>
          <a:xfrm>
            <a:off x="376513" y="64954"/>
            <a:ext cx="2752165" cy="533480"/>
          </a:xfrm>
          <a:prstGeom prst="rect">
            <a:avLst/>
          </a:prstGeom>
          <a:noFill/>
        </p:spPr>
        <p:txBody>
          <a:bodyPr wrap="square" rtlCol="0">
            <a:spAutoFit/>
          </a:bodyPr>
          <a:lstStyle/>
          <a:p>
            <a:r>
              <a:rPr lang="en-US" sz="2000" dirty="0">
                <a:solidFill>
                  <a:schemeClr val="bg1"/>
                </a:solidFill>
                <a:latin typeface="Arial Black" panose="020B0A04020102020204" pitchFamily="34" charset="0"/>
              </a:rPr>
              <a:t>GROUND RULES</a:t>
            </a:r>
          </a:p>
        </p:txBody>
      </p:sp>
      <p:sp>
        <p:nvSpPr>
          <p:cNvPr id="3" name="Rectangle 2">
            <a:extLst>
              <a:ext uri="{FF2B5EF4-FFF2-40B4-BE49-F238E27FC236}">
                <a16:creationId xmlns:a16="http://schemas.microsoft.com/office/drawing/2014/main" id="{CB5B5AAE-67F5-40C2-AA7D-701DAFBCBDEF}"/>
              </a:ext>
            </a:extLst>
          </p:cNvPr>
          <p:cNvSpPr/>
          <p:nvPr/>
        </p:nvSpPr>
        <p:spPr>
          <a:xfrm>
            <a:off x="-3" y="528340"/>
            <a:ext cx="10067365" cy="21592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D4A6CE0-AC5C-42C9-9312-0B831BD19462}"/>
              </a:ext>
            </a:extLst>
          </p:cNvPr>
          <p:cNvSpPr txBox="1"/>
          <p:nvPr/>
        </p:nvSpPr>
        <p:spPr>
          <a:xfrm>
            <a:off x="1138518" y="8630025"/>
            <a:ext cx="7602070" cy="492442"/>
          </a:xfrm>
          <a:prstGeom prst="rect">
            <a:avLst/>
          </a:prstGeom>
          <a:noFill/>
        </p:spPr>
        <p:txBody>
          <a:bodyPr wrap="square" rtlCol="0">
            <a:spAutoFit/>
          </a:bodyPr>
          <a:lstStyle/>
          <a:p>
            <a:r>
              <a:rPr lang="en-US" i="1" dirty="0"/>
              <a:t>Disclaimer: This training material belongs to </a:t>
            </a:r>
            <a:r>
              <a:rPr lang="en-US" i="1" dirty="0" err="1"/>
              <a:t>techcrush</a:t>
            </a:r>
            <a:r>
              <a:rPr lang="en-US" i="1" dirty="0"/>
              <a:t> and shouldn’t be shared</a:t>
            </a:r>
          </a:p>
        </p:txBody>
      </p:sp>
      <p:pic>
        <p:nvPicPr>
          <p:cNvPr id="33" name="Picture 32">
            <a:extLst>
              <a:ext uri="{FF2B5EF4-FFF2-40B4-BE49-F238E27FC236}">
                <a16:creationId xmlns:a16="http://schemas.microsoft.com/office/drawing/2014/main" id="{0082E549-CB91-45DF-83B9-471344D6D503}"/>
              </a:ext>
            </a:extLst>
          </p:cNvPr>
          <p:cNvPicPr>
            <a:picLocks noChangeAspect="1"/>
          </p:cNvPicPr>
          <p:nvPr/>
        </p:nvPicPr>
        <p:blipFill>
          <a:blip r:embed="rId2">
            <a:alphaModFix amt="2000"/>
            <a:extLst>
              <a:ext uri="{28A0092B-C50C-407E-A947-70E740481C1C}">
                <a14:useLocalDpi xmlns:a14="http://schemas.microsoft.com/office/drawing/2010/main" val="0"/>
              </a:ext>
            </a:extLst>
          </a:blip>
          <a:stretch>
            <a:fillRect/>
          </a:stretch>
        </p:blipFill>
        <p:spPr>
          <a:xfrm>
            <a:off x="865293" y="2523677"/>
            <a:ext cx="10541991" cy="3739664"/>
          </a:xfrm>
          <a:prstGeom prst="rect">
            <a:avLst/>
          </a:prstGeom>
          <a:effectLst>
            <a:outerShdw dist="50800" sx="1000" sy="1000" algn="ctr" rotWithShape="0">
              <a:srgbClr val="000000"/>
            </a:outerShdw>
          </a:effectLst>
        </p:spPr>
      </p:pic>
      <p:sp>
        <p:nvSpPr>
          <p:cNvPr id="6" name="Oval 5">
            <a:extLst>
              <a:ext uri="{FF2B5EF4-FFF2-40B4-BE49-F238E27FC236}">
                <a16:creationId xmlns:a16="http://schemas.microsoft.com/office/drawing/2014/main" id="{CCB1CF20-1081-4645-B0A5-7E03E60A4251}"/>
              </a:ext>
            </a:extLst>
          </p:cNvPr>
          <p:cNvSpPr/>
          <p:nvPr/>
        </p:nvSpPr>
        <p:spPr>
          <a:xfrm>
            <a:off x="582701" y="1470206"/>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8BC8704-D9C9-403B-9A5C-1C3B373EBB8A}"/>
              </a:ext>
            </a:extLst>
          </p:cNvPr>
          <p:cNvSpPr/>
          <p:nvPr/>
        </p:nvSpPr>
        <p:spPr>
          <a:xfrm>
            <a:off x="582701" y="4249266"/>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CEFD7E9-E1FE-4B9B-AF2E-EA23D25991D4}"/>
              </a:ext>
            </a:extLst>
          </p:cNvPr>
          <p:cNvSpPr/>
          <p:nvPr/>
        </p:nvSpPr>
        <p:spPr>
          <a:xfrm>
            <a:off x="582701" y="7266768"/>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13E5CC3-2EEC-46C2-BC70-3DC4FF8201E1}"/>
              </a:ext>
            </a:extLst>
          </p:cNvPr>
          <p:cNvSpPr txBox="1"/>
          <p:nvPr/>
        </p:nvSpPr>
        <p:spPr>
          <a:xfrm>
            <a:off x="1577913" y="1731986"/>
            <a:ext cx="2097615" cy="49244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PUNCTUALITY</a:t>
            </a:r>
          </a:p>
        </p:txBody>
      </p:sp>
      <p:sp>
        <p:nvSpPr>
          <p:cNvPr id="22" name="TextBox 21">
            <a:extLst>
              <a:ext uri="{FF2B5EF4-FFF2-40B4-BE49-F238E27FC236}">
                <a16:creationId xmlns:a16="http://schemas.microsoft.com/office/drawing/2014/main" id="{F373DB4F-62DA-4032-91D6-B81695515EC4}"/>
              </a:ext>
            </a:extLst>
          </p:cNvPr>
          <p:cNvSpPr txBox="1"/>
          <p:nvPr/>
        </p:nvSpPr>
        <p:spPr>
          <a:xfrm>
            <a:off x="1577913" y="4493129"/>
            <a:ext cx="2182912" cy="49244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PARTICIPATION</a:t>
            </a:r>
          </a:p>
        </p:txBody>
      </p:sp>
      <p:sp>
        <p:nvSpPr>
          <p:cNvPr id="23" name="TextBox 22">
            <a:extLst>
              <a:ext uri="{FF2B5EF4-FFF2-40B4-BE49-F238E27FC236}">
                <a16:creationId xmlns:a16="http://schemas.microsoft.com/office/drawing/2014/main" id="{30E3CB01-5A11-4A3E-A0EB-BBCE20B75DE7}"/>
              </a:ext>
            </a:extLst>
          </p:cNvPr>
          <p:cNvSpPr txBox="1"/>
          <p:nvPr/>
        </p:nvSpPr>
        <p:spPr>
          <a:xfrm>
            <a:off x="1577913" y="7141298"/>
            <a:ext cx="2575121" cy="1231106"/>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YOUR MIC MUST BE MUTED ALWAYS</a:t>
            </a:r>
          </a:p>
        </p:txBody>
      </p:sp>
      <p:pic>
        <p:nvPicPr>
          <p:cNvPr id="9" name="Picture 8">
            <a:extLst>
              <a:ext uri="{FF2B5EF4-FFF2-40B4-BE49-F238E27FC236}">
                <a16:creationId xmlns:a16="http://schemas.microsoft.com/office/drawing/2014/main" id="{71640EB1-D49F-4FEB-8C1C-2FB9798ADA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028" y="1702642"/>
            <a:ext cx="413349" cy="551132"/>
          </a:xfrm>
          <a:prstGeom prst="rect">
            <a:avLst/>
          </a:prstGeom>
        </p:spPr>
      </p:pic>
      <p:pic>
        <p:nvPicPr>
          <p:cNvPr id="30" name="Picture 29">
            <a:extLst>
              <a:ext uri="{FF2B5EF4-FFF2-40B4-BE49-F238E27FC236}">
                <a16:creationId xmlns:a16="http://schemas.microsoft.com/office/drawing/2014/main" id="{A1C1D6F6-DFAE-40E2-8643-491684C59D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260" y="4404678"/>
            <a:ext cx="528885" cy="705180"/>
          </a:xfrm>
          <a:prstGeom prst="rect">
            <a:avLst/>
          </a:prstGeom>
        </p:spPr>
      </p:pic>
      <p:pic>
        <p:nvPicPr>
          <p:cNvPr id="32" name="Picture 31">
            <a:extLst>
              <a:ext uri="{FF2B5EF4-FFF2-40B4-BE49-F238E27FC236}">
                <a16:creationId xmlns:a16="http://schemas.microsoft.com/office/drawing/2014/main" id="{530B4D1E-FDA2-48C7-A1EB-974765C999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051" y="7444568"/>
            <a:ext cx="495302" cy="660402"/>
          </a:xfrm>
          <a:prstGeom prst="rect">
            <a:avLst/>
          </a:prstGeom>
        </p:spPr>
      </p:pic>
      <p:sp>
        <p:nvSpPr>
          <p:cNvPr id="16" name="Oval 15">
            <a:extLst>
              <a:ext uri="{FF2B5EF4-FFF2-40B4-BE49-F238E27FC236}">
                <a16:creationId xmlns:a16="http://schemas.microsoft.com/office/drawing/2014/main" id="{9B6BFE9D-992B-4297-AC32-FD97974BDE51}"/>
              </a:ext>
            </a:extLst>
          </p:cNvPr>
          <p:cNvSpPr/>
          <p:nvPr/>
        </p:nvSpPr>
        <p:spPr>
          <a:xfrm>
            <a:off x="4549585" y="1519512"/>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67563A7-70D5-403D-8969-E9D91069DD4E}"/>
              </a:ext>
            </a:extLst>
          </p:cNvPr>
          <p:cNvSpPr/>
          <p:nvPr/>
        </p:nvSpPr>
        <p:spPr>
          <a:xfrm>
            <a:off x="4549584" y="4231349"/>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5ACE21E-8CA4-4871-8A64-0825DE69976C}"/>
              </a:ext>
            </a:extLst>
          </p:cNvPr>
          <p:cNvSpPr/>
          <p:nvPr/>
        </p:nvSpPr>
        <p:spPr>
          <a:xfrm>
            <a:off x="4549583" y="7332192"/>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725ABBB-4AEA-46E0-A243-DEC94C02C7D4}"/>
              </a:ext>
            </a:extLst>
          </p:cNvPr>
          <p:cNvSpPr txBox="1"/>
          <p:nvPr/>
        </p:nvSpPr>
        <p:spPr>
          <a:xfrm>
            <a:off x="5844989" y="1596626"/>
            <a:ext cx="1712258" cy="861774"/>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HAVE AN OPEN MIND</a:t>
            </a:r>
          </a:p>
        </p:txBody>
      </p:sp>
      <p:sp>
        <p:nvSpPr>
          <p:cNvPr id="26" name="TextBox 25">
            <a:extLst>
              <a:ext uri="{FF2B5EF4-FFF2-40B4-BE49-F238E27FC236}">
                <a16:creationId xmlns:a16="http://schemas.microsoft.com/office/drawing/2014/main" id="{32D38EF7-BA07-4FF7-AAFF-495DC6408D31}"/>
              </a:ext>
            </a:extLst>
          </p:cNvPr>
          <p:cNvSpPr txBox="1"/>
          <p:nvPr/>
        </p:nvSpPr>
        <p:spPr>
          <a:xfrm>
            <a:off x="5844989" y="4493129"/>
            <a:ext cx="1792940" cy="49244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ONE CLASS</a:t>
            </a:r>
          </a:p>
        </p:txBody>
      </p:sp>
      <p:sp>
        <p:nvSpPr>
          <p:cNvPr id="28" name="TextBox 27">
            <a:extLst>
              <a:ext uri="{FF2B5EF4-FFF2-40B4-BE49-F238E27FC236}">
                <a16:creationId xmlns:a16="http://schemas.microsoft.com/office/drawing/2014/main" id="{79B70A4F-9BF1-4C7C-A7C5-35AE79C0EF3B}"/>
              </a:ext>
            </a:extLst>
          </p:cNvPr>
          <p:cNvSpPr txBox="1"/>
          <p:nvPr/>
        </p:nvSpPr>
        <p:spPr>
          <a:xfrm>
            <a:off x="5844989" y="7218360"/>
            <a:ext cx="2303929" cy="1231106"/>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RAISE YOUR HAND BEFORE YOU SPEAK</a:t>
            </a:r>
          </a:p>
        </p:txBody>
      </p:sp>
      <p:pic>
        <p:nvPicPr>
          <p:cNvPr id="34" name="Picture 33">
            <a:extLst>
              <a:ext uri="{FF2B5EF4-FFF2-40B4-BE49-F238E27FC236}">
                <a16:creationId xmlns:a16="http://schemas.microsoft.com/office/drawing/2014/main" id="{46D3E550-978D-4B75-A069-796D866253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5743" y="4332894"/>
            <a:ext cx="609685" cy="812913"/>
          </a:xfrm>
          <a:prstGeom prst="rect">
            <a:avLst/>
          </a:prstGeom>
        </p:spPr>
      </p:pic>
      <p:pic>
        <p:nvPicPr>
          <p:cNvPr id="36" name="Picture 35">
            <a:extLst>
              <a:ext uri="{FF2B5EF4-FFF2-40B4-BE49-F238E27FC236}">
                <a16:creationId xmlns:a16="http://schemas.microsoft.com/office/drawing/2014/main" id="{42BF1E61-D184-4873-9E82-2C37A49AD7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51466" y="1655353"/>
            <a:ext cx="558241" cy="744321"/>
          </a:xfrm>
          <a:prstGeom prst="rect">
            <a:avLst/>
          </a:prstGeom>
        </p:spPr>
      </p:pic>
      <p:pic>
        <p:nvPicPr>
          <p:cNvPr id="38" name="Picture 37">
            <a:extLst>
              <a:ext uri="{FF2B5EF4-FFF2-40B4-BE49-F238E27FC236}">
                <a16:creationId xmlns:a16="http://schemas.microsoft.com/office/drawing/2014/main" id="{CE18C819-4140-4532-BA8A-573700D142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6759" y="7421760"/>
            <a:ext cx="627650" cy="836866"/>
          </a:xfrm>
          <a:prstGeom prst="rect">
            <a:avLst/>
          </a:prstGeom>
        </p:spPr>
      </p:pic>
      <p:sp>
        <p:nvSpPr>
          <p:cNvPr id="19" name="Oval 18">
            <a:extLst>
              <a:ext uri="{FF2B5EF4-FFF2-40B4-BE49-F238E27FC236}">
                <a16:creationId xmlns:a16="http://schemas.microsoft.com/office/drawing/2014/main" id="{03B41218-D5DF-4FE9-8CA5-F60F359EA480}"/>
              </a:ext>
            </a:extLst>
          </p:cNvPr>
          <p:cNvSpPr/>
          <p:nvPr/>
        </p:nvSpPr>
        <p:spPr>
          <a:xfrm>
            <a:off x="8516466" y="1470206"/>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DEC3B53-5870-4C61-B4F4-B86D50828B81}"/>
              </a:ext>
            </a:extLst>
          </p:cNvPr>
          <p:cNvSpPr/>
          <p:nvPr/>
        </p:nvSpPr>
        <p:spPr>
          <a:xfrm>
            <a:off x="8516466" y="4249266"/>
            <a:ext cx="762003" cy="101600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279FEB0-A87C-4EE3-A376-215C4D6560A8}"/>
              </a:ext>
            </a:extLst>
          </p:cNvPr>
          <p:cNvSpPr txBox="1"/>
          <p:nvPr/>
        </p:nvSpPr>
        <p:spPr>
          <a:xfrm>
            <a:off x="9511677" y="1547321"/>
            <a:ext cx="1703169" cy="861774"/>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ASK QUESTIONS</a:t>
            </a:r>
          </a:p>
        </p:txBody>
      </p:sp>
      <p:sp>
        <p:nvSpPr>
          <p:cNvPr id="39" name="TextBox 38">
            <a:extLst>
              <a:ext uri="{FF2B5EF4-FFF2-40B4-BE49-F238E27FC236}">
                <a16:creationId xmlns:a16="http://schemas.microsoft.com/office/drawing/2014/main" id="{E3298686-A49E-44F1-83D2-A5B00713AB83}"/>
              </a:ext>
            </a:extLst>
          </p:cNvPr>
          <p:cNvSpPr txBox="1"/>
          <p:nvPr/>
        </p:nvSpPr>
        <p:spPr>
          <a:xfrm>
            <a:off x="9637183" y="4511046"/>
            <a:ext cx="1461123" cy="492442"/>
          </a:xfrm>
          <a:prstGeom prst="rect">
            <a:avLst/>
          </a:prstGeom>
          <a:noFill/>
        </p:spPr>
        <p:txBody>
          <a:bodyPr wrap="square" rtlCol="0">
            <a:spAutoFit/>
          </a:bodyPr>
          <a:lstStyle/>
          <a:p>
            <a:r>
              <a:rPr lang="en-US" dirty="0">
                <a:latin typeface="Arial Black" panose="020B0A04020102020204" pitchFamily="34" charset="0"/>
                <a:cs typeface="Arial" panose="020B0604020202020204" pitchFamily="34" charset="0"/>
              </a:rPr>
              <a:t>RESPECT</a:t>
            </a:r>
          </a:p>
        </p:txBody>
      </p:sp>
      <p:pic>
        <p:nvPicPr>
          <p:cNvPr id="41" name="Picture 40">
            <a:extLst>
              <a:ext uri="{FF2B5EF4-FFF2-40B4-BE49-F238E27FC236}">
                <a16:creationId xmlns:a16="http://schemas.microsoft.com/office/drawing/2014/main" id="{1110C837-40FC-4692-96AD-8E8141C0D01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46453" y="1643522"/>
            <a:ext cx="502028" cy="669370"/>
          </a:xfrm>
          <a:prstGeom prst="rect">
            <a:avLst/>
          </a:prstGeom>
        </p:spPr>
      </p:pic>
      <p:pic>
        <p:nvPicPr>
          <p:cNvPr id="43" name="Picture 42">
            <a:extLst>
              <a:ext uri="{FF2B5EF4-FFF2-40B4-BE49-F238E27FC236}">
                <a16:creationId xmlns:a16="http://schemas.microsoft.com/office/drawing/2014/main" id="{3F4A5A76-28C7-4100-8BBD-1C7B74E9962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21811" y="4389726"/>
            <a:ext cx="551312" cy="735082"/>
          </a:xfrm>
          <a:prstGeom prst="rect">
            <a:avLst/>
          </a:prstGeom>
        </p:spPr>
      </p:pic>
    </p:spTree>
    <p:extLst>
      <p:ext uri="{BB962C8B-B14F-4D97-AF65-F5344CB8AC3E}">
        <p14:creationId xmlns:p14="http://schemas.microsoft.com/office/powerpoint/2010/main" val="4031296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WHAT IS JAVASCRIPT?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2000" b="0" dirty="0"/>
              <a:t>JavaScript (also called JS) is a programming language that makes websites come alive. It is the brain behind everything interactive on the web.</a:t>
            </a:r>
          </a:p>
          <a:p>
            <a:endParaRPr lang="en-US" dirty="0"/>
          </a:p>
          <a:p>
            <a:r>
              <a:rPr lang="en-US" b="1" dirty="0">
                <a:solidFill>
                  <a:srgbClr val="FF6B35"/>
                </a:solidFill>
                <a:latin typeface="Arial Black" panose="020B0A04020102020204" pitchFamily="34" charset="0"/>
              </a:rPr>
              <a:t>THINK OF IT THIS WAY:</a:t>
            </a:r>
          </a:p>
          <a:p>
            <a:endParaRPr lang="en-US" dirty="0"/>
          </a:p>
          <a:p>
            <a:pPr marL="285750" indent="-285750">
              <a:buFontTx/>
              <a:buChar char="-"/>
            </a:pPr>
            <a:r>
              <a:rPr lang="en-US" sz="1950" b="0" dirty="0"/>
              <a:t>HTML builds the structure of a webpage (like the walls of a building).</a:t>
            </a:r>
          </a:p>
          <a:p>
            <a:pPr marL="285750" indent="-285750">
              <a:buFontTx/>
              <a:buChar char="-"/>
            </a:pPr>
            <a:r>
              <a:rPr lang="en-US" sz="1950" b="0" dirty="0"/>
              <a:t>CSS adds the looks and style (like the paint, furniture, and decor).</a:t>
            </a:r>
          </a:p>
          <a:p>
            <a:pPr marL="285750" indent="-285750">
              <a:buFontTx/>
              <a:buChar char="-"/>
            </a:pPr>
            <a:r>
              <a:rPr lang="en-US" sz="1950" b="0" dirty="0"/>
              <a:t>JavaScript adds the behaviour (like lights that turn on, doors that open, and lifts that move).</a:t>
            </a:r>
          </a:p>
          <a:p>
            <a:endParaRPr lang="en-US" dirty="0"/>
          </a:p>
          <a:p>
            <a:r>
              <a:rPr lang="en-US" b="1" dirty="0">
                <a:solidFill>
                  <a:srgbClr val="FF6B35"/>
                </a:solidFill>
                <a:latin typeface="Arial Black" panose="020B0A04020102020204" pitchFamily="34" charset="0"/>
              </a:rPr>
              <a:t>REAL WORLD EXAMPLES:</a:t>
            </a:r>
          </a:p>
          <a:p>
            <a:endParaRPr lang="en-US" dirty="0"/>
          </a:p>
          <a:p>
            <a:pPr marL="285750" indent="-285750">
              <a:buFontTx/>
              <a:buChar char="-"/>
            </a:pPr>
            <a:r>
              <a:rPr lang="en-US" sz="1950" b="0" dirty="0"/>
              <a:t>When you click the LIKE button on Instagram, JavaScript sends the like without refreshing the page.</a:t>
            </a:r>
          </a:p>
          <a:p>
            <a:pPr marL="285750" indent="-285750">
              <a:buFontTx/>
              <a:buChar char="-"/>
            </a:pPr>
            <a:r>
              <a:rPr lang="en-US" sz="1950" b="0" dirty="0"/>
              <a:t>When Google suggests words as you type, JavaScript is working behind the scenes.</a:t>
            </a:r>
          </a:p>
          <a:p>
            <a:pPr marL="285750" indent="-285750">
              <a:buFontTx/>
              <a:buChar char="-"/>
            </a:pPr>
            <a:r>
              <a:rPr lang="en-US" sz="1950" b="0" dirty="0"/>
              <a:t>When your WhatsApp Web shows a new message instantly, that is JavaScript.</a:t>
            </a:r>
          </a:p>
          <a:p>
            <a:endParaRPr lang="en-US" dirty="0"/>
          </a:p>
          <a:p>
            <a:r>
              <a:rPr lang="en-US" sz="1950" b="0" dirty="0"/>
              <a:t>Fun Fact: JavaScript was created in just 10 days in 1995. Today it runs on over 98% of all websites!</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WHY LEARN JAVASCRIPT?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b="1" dirty="0">
                <a:solidFill>
                  <a:srgbClr val="FF6B35"/>
                </a:solidFill>
                <a:latin typeface="Arial Black" panose="020B0A04020102020204" pitchFamily="34" charset="0"/>
              </a:rPr>
              <a:t>REASON 1: IT IS EVERYWHERE</a:t>
            </a:r>
          </a:p>
          <a:p>
            <a:endParaRPr lang="en-US" dirty="0"/>
          </a:p>
          <a:p>
            <a:r>
              <a:rPr lang="en-US" sz="1950" b="0" dirty="0"/>
              <a:t>JavaScript is the only programming language that runs directly inside web browsers. Every website you visit uses it.</a:t>
            </a:r>
          </a:p>
          <a:p>
            <a:endParaRPr lang="en-US" dirty="0"/>
          </a:p>
          <a:p>
            <a:r>
              <a:rPr lang="en-US" b="1" dirty="0">
                <a:solidFill>
                  <a:srgbClr val="FF6B35"/>
                </a:solidFill>
                <a:latin typeface="Arial Black" panose="020B0A04020102020204" pitchFamily="34" charset="0"/>
              </a:rPr>
              <a:t>REASON 2: IT IS BEGINNER FRIENDLY</a:t>
            </a:r>
          </a:p>
          <a:p>
            <a:endParaRPr lang="en-US" dirty="0"/>
          </a:p>
          <a:p>
            <a:r>
              <a:rPr lang="en-US" sz="1950" b="0" dirty="0"/>
              <a:t>You do not need to install anything to start. Open your browser, press F12, click Console and you can already run JavaScript code.</a:t>
            </a:r>
          </a:p>
          <a:p>
            <a:endParaRPr lang="en-US" dirty="0"/>
          </a:p>
          <a:p>
            <a:r>
              <a:rPr lang="en-US" b="1" dirty="0">
                <a:solidFill>
                  <a:srgbClr val="FF6B35"/>
                </a:solidFill>
                <a:latin typeface="Arial Black" panose="020B0A04020102020204" pitchFamily="34" charset="0"/>
              </a:rPr>
              <a:t>REASON 3: IT PAYS WELL</a:t>
            </a:r>
          </a:p>
          <a:p>
            <a:endParaRPr lang="en-US" dirty="0"/>
          </a:p>
          <a:p>
            <a:r>
              <a:rPr lang="en-US" sz="1950" b="0" dirty="0"/>
              <a:t>JavaScript developers are among the most in-demand and well-paid professionals in tech around the world, including in Nigeria.</a:t>
            </a:r>
          </a:p>
          <a:p>
            <a:endParaRPr lang="en-US" dirty="0"/>
          </a:p>
          <a:p>
            <a:r>
              <a:rPr lang="en-US" b="1" dirty="0">
                <a:solidFill>
                  <a:srgbClr val="FF6B35"/>
                </a:solidFill>
                <a:latin typeface="Arial Black" panose="020B0A04020102020204" pitchFamily="34" charset="0"/>
              </a:rPr>
              <a:t>REASON 4: IT IS FULL STACK</a:t>
            </a:r>
          </a:p>
          <a:p>
            <a:endParaRPr lang="en-US" dirty="0"/>
          </a:p>
          <a:p>
            <a:r>
              <a:rPr lang="en-US" sz="1950" b="0" dirty="0"/>
              <a:t>With JavaScript you can build the part of a website users see (frontend) AND the server side (backend with Node.js). One language, everything.</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AGENDA: JAVASCRIPT FUNDAMENTALS I</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b="1" dirty="0">
                <a:solidFill>
                  <a:srgbClr val="FF6B35"/>
                </a:solidFill>
                <a:latin typeface="Arial Black" panose="020B0A04020102020204" pitchFamily="34" charset="0"/>
              </a:rPr>
              <a:t>CLASS 1: INTRO TO JAVASCRIPT</a:t>
            </a:r>
          </a:p>
          <a:p>
            <a:endParaRPr lang="en-US" dirty="0"/>
          </a:p>
          <a:p>
            <a:pPr marL="285750" indent="-285750">
              <a:buFontTx/>
              <a:buChar char="-"/>
            </a:pPr>
            <a:r>
              <a:rPr lang="en-US" sz="1950" b="0" dirty="0"/>
              <a:t>What is JavaScript, Variables (var, let, const), Data Types, Operators</a:t>
            </a:r>
          </a:p>
          <a:p>
            <a:endParaRPr lang="en-US" dirty="0"/>
          </a:p>
          <a:p>
            <a:r>
              <a:rPr lang="en-US" b="1" dirty="0">
                <a:solidFill>
                  <a:srgbClr val="FF6B35"/>
                </a:solidFill>
                <a:latin typeface="Arial Black" panose="020B0A04020102020204" pitchFamily="34" charset="0"/>
              </a:rPr>
              <a:t>CLASS 2: CONTROL FLOW</a:t>
            </a:r>
          </a:p>
          <a:p>
            <a:endParaRPr lang="en-US" dirty="0"/>
          </a:p>
          <a:p>
            <a:pPr marL="285750" indent="-285750">
              <a:buFontTx/>
              <a:buChar char="-"/>
            </a:pPr>
            <a:r>
              <a:rPr lang="en-US" sz="1950" b="0" dirty="0"/>
              <a:t>if / else statements, switch statements, for loops, while loops, for...of loops</a:t>
            </a:r>
          </a:p>
          <a:p>
            <a:endParaRPr lang="en-US" dirty="0"/>
          </a:p>
          <a:p>
            <a:r>
              <a:rPr lang="en-US" b="1" dirty="0">
                <a:solidFill>
                  <a:srgbClr val="FF6B35"/>
                </a:solidFill>
                <a:latin typeface="Arial Black" panose="020B0A04020102020204" pitchFamily="34" charset="0"/>
              </a:rPr>
              <a:t>CLASS 3: FUNCTIONS</a:t>
            </a:r>
          </a:p>
          <a:p>
            <a:endParaRPr lang="en-US" dirty="0"/>
          </a:p>
          <a:p>
            <a:pPr marL="285750" indent="-285750">
              <a:buFontTx/>
              <a:buChar char="-"/>
            </a:pPr>
            <a:r>
              <a:rPr lang="en-US" sz="1950" b="0" dirty="0"/>
              <a:t>Function declarations, Function expressions, Arrow functions (=&gt;), Scope</a:t>
            </a:r>
          </a:p>
          <a:p>
            <a:endParaRPr lang="en-US" dirty="0"/>
          </a:p>
          <a:p>
            <a:r>
              <a:rPr lang="en-US" b="1" dirty="0">
                <a:solidFill>
                  <a:srgbClr val="FF6B35"/>
                </a:solidFill>
                <a:latin typeface="Arial Black" panose="020B0A04020102020204" pitchFamily="34" charset="0"/>
              </a:rPr>
              <a:t>EACH CLASS INCLUDES:</a:t>
            </a:r>
          </a:p>
          <a:p>
            <a:endParaRPr lang="en-US" dirty="0"/>
          </a:p>
          <a:p>
            <a:pPr marL="285750" indent="-285750">
              <a:buFontTx/>
              <a:buChar char="-"/>
            </a:pPr>
            <a:r>
              <a:rPr lang="en-US" sz="1950" b="0" dirty="0"/>
              <a:t>Simple definitions with real-life analogies</a:t>
            </a:r>
          </a:p>
          <a:p>
            <a:pPr marL="285750" indent="-285750">
              <a:buFontTx/>
              <a:buChar char="-"/>
            </a:pPr>
            <a:r>
              <a:rPr lang="en-US" sz="1950" b="0" dirty="0"/>
              <a:t>Code examples you can try yourself</a:t>
            </a:r>
          </a:p>
          <a:p>
            <a:pPr marL="285750" indent="-285750">
              <a:buFontTx/>
              <a:buChar char="-"/>
            </a:pPr>
            <a:r>
              <a:rPr lang="en-US" sz="1950" b="0" dirty="0"/>
              <a:t>A real-world case study</a:t>
            </a:r>
          </a:p>
          <a:p>
            <a:pPr marL="285750" indent="-285750">
              <a:buFontTx/>
              <a:buChar char="-"/>
            </a:pPr>
            <a:r>
              <a:rPr lang="en-US" sz="1950" b="0" dirty="0"/>
              <a:t>A summary and quiz at the end</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1: INTRO TO JAVASCRIPT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2400" b="0" dirty="0"/>
              <a:t>Variables (var, let, const) | Data Types | Operators</a:t>
            </a:r>
          </a:p>
          <a:p>
            <a:endParaRPr lang="en-US" dirty="0"/>
          </a:p>
          <a:p>
            <a:r>
              <a:rPr lang="en-US" sz="2000" b="0" dirty="0"/>
              <a:t>By the end of this class, you will be able to:</a:t>
            </a:r>
          </a:p>
          <a:p>
            <a:pPr marL="285750" indent="-285750">
              <a:buFontTx/>
              <a:buChar char="-"/>
            </a:pPr>
            <a:r>
              <a:rPr lang="en-US" sz="1950" b="0" dirty="0"/>
              <a:t>Understand what a variable is and how to create one</a:t>
            </a:r>
          </a:p>
          <a:p>
            <a:pPr marL="285750" indent="-285750">
              <a:buFontTx/>
              <a:buChar char="-"/>
            </a:pPr>
            <a:r>
              <a:rPr lang="en-US" sz="1950" b="0" dirty="0"/>
              <a:t>Know the difference between var, let and const</a:t>
            </a:r>
          </a:p>
          <a:p>
            <a:pPr marL="285750" indent="-285750">
              <a:buFontTx/>
              <a:buChar char="-"/>
            </a:pPr>
            <a:r>
              <a:rPr lang="en-US" sz="1950" b="0" dirty="0"/>
              <a:t>Identify the main data types in JavaScript</a:t>
            </a:r>
          </a:p>
          <a:p>
            <a:pPr marL="285750" indent="-285750">
              <a:buFontTx/>
              <a:buChar char="-"/>
            </a:pPr>
            <a:r>
              <a:rPr lang="en-US" sz="1950" b="0" dirty="0"/>
              <a:t>Use arithmetic and comparison operators</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WHAT IS A VARIABLE?</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2000" b="0" dirty="0"/>
              <a:t>A variable is a named storage box in your computer's memory. You give the box a name, put something inside it, and use the name whenever you want the contents.</a:t>
            </a:r>
          </a:p>
          <a:p>
            <a:endParaRPr lang="en-US" dirty="0"/>
          </a:p>
          <a:p>
            <a:r>
              <a:rPr lang="en-US" b="1" dirty="0">
                <a:solidFill>
                  <a:srgbClr val="FF6B35"/>
                </a:solidFill>
                <a:latin typeface="Arial Black" panose="020B0A04020102020204" pitchFamily="34" charset="0"/>
              </a:rPr>
              <a:t>REAL LIFE ANALOGY:</a:t>
            </a:r>
          </a:p>
          <a:p>
            <a:endParaRPr lang="en-US" dirty="0"/>
          </a:p>
          <a:p>
            <a:r>
              <a:rPr lang="en-US" sz="1950" b="0" dirty="0"/>
              <a:t>Imagine you have a box labelled studentName. You put the name Amara inside it. Later in your programme, whenever you need that name, you just say studentName and JavaScript gives you back Amara.</a:t>
            </a:r>
          </a:p>
          <a:p>
            <a:endParaRPr lang="en-US" dirty="0"/>
          </a:p>
          <a:p>
            <a:r>
              <a:rPr lang="en-US" b="1" dirty="0">
                <a:solidFill>
                  <a:srgbClr val="FF6B35"/>
                </a:solidFill>
                <a:latin typeface="Arial Black" panose="020B0A04020102020204" pitchFamily="34" charset="0"/>
              </a:rPr>
              <a:t>HOW TO CREATE A VARIABLE:</a:t>
            </a:r>
          </a:p>
          <a:p>
            <a:endParaRPr lang="en-US" dirty="0"/>
          </a:p>
          <a:p>
            <a:r>
              <a:rPr lang="en-US" sz="1950" b="0" dirty="0"/>
              <a:t>You start with a keyword (var, let or const), then give it a name, then assign a value using the equals sign.</a:t>
            </a:r>
          </a:p>
          <a:p>
            <a:endParaRPr lang="en-US" dirty="0"/>
          </a:p>
          <a:p>
            <a:r>
              <a:rPr lang="en-US" sz="1950" b="1" dirty="0"/>
              <a:t>Example:   let studentName = "Amara";</a:t>
            </a:r>
          </a:p>
          <a:p>
            <a:r>
              <a:rPr lang="en-US" sz="1950" b="0" dirty="0"/>
              <a:t>This creates a box called studentName and puts the text Amara inside it.</a:t>
            </a:r>
          </a:p>
          <a:p>
            <a:endParaRPr lang="en-US" dirty="0"/>
          </a:p>
          <a:p>
            <a:r>
              <a:rPr lang="en-US" sz="1950" b="1" dirty="0"/>
              <a:t>Example:   const country = "Nigeria";</a:t>
            </a:r>
          </a:p>
          <a:p>
            <a:r>
              <a:rPr lang="en-US" sz="1950" b="0" dirty="0"/>
              <a:t>This creates a box called country with the value Nigeria that cannot be changed.</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VAR, LET AND CONST: WHAT IS THE DIFFERENCE?</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JavaScript gives us three keywords to create variables. Here is how they differ:</a:t>
            </a:r>
          </a:p>
          <a:p>
            <a:endParaRPr lang="en-US" dirty="0"/>
          </a:p>
          <a:p>
            <a:r>
              <a:rPr lang="en-US" b="1" dirty="0">
                <a:solidFill>
                  <a:srgbClr val="FF6B35"/>
                </a:solidFill>
                <a:latin typeface="Arial Black" panose="020B0A04020102020204" pitchFamily="34" charset="0"/>
              </a:rPr>
              <a:t>VAR (the old way):</a:t>
            </a:r>
          </a:p>
          <a:p>
            <a:endParaRPr lang="en-US" dirty="0"/>
          </a:p>
          <a:p>
            <a:r>
              <a:rPr lang="en-US" sz="1950" b="0" dirty="0"/>
              <a:t>var was used before 2015. It can be changed and it can be used before it is even declared (this causes confusing bugs). We avoid var in modern JavaScript.</a:t>
            </a:r>
          </a:p>
          <a:p>
            <a:r>
              <a:rPr lang="en-US" sz="1950" b="1" dirty="0"/>
              <a:t>Example: var age = 25;</a:t>
            </a:r>
          </a:p>
          <a:p>
            <a:endParaRPr lang="en-US" dirty="0"/>
          </a:p>
          <a:p>
            <a:r>
              <a:rPr lang="en-US" b="1" dirty="0">
                <a:solidFill>
                  <a:srgbClr val="FF6B35"/>
                </a:solidFill>
                <a:latin typeface="Arial Black" panose="020B0A04020102020204" pitchFamily="34" charset="0"/>
              </a:rPr>
              <a:t>LET (the modern way for values that can change):</a:t>
            </a:r>
          </a:p>
          <a:p>
            <a:endParaRPr lang="en-US" dirty="0"/>
          </a:p>
          <a:p>
            <a:r>
              <a:rPr lang="en-US" sz="1950" b="0" dirty="0"/>
              <a:t>Use let when the value might change later. For example, a score that increases as you play a game.</a:t>
            </a:r>
          </a:p>
          <a:p>
            <a:r>
              <a:rPr lang="en-US" sz="1950" b="1" dirty="0"/>
              <a:t>Example: let score = 0;   then later   score = score + 10;</a:t>
            </a:r>
          </a:p>
          <a:p>
            <a:endParaRPr lang="en-US" dirty="0"/>
          </a:p>
          <a:p>
            <a:r>
              <a:rPr lang="en-US" b="1" dirty="0">
                <a:solidFill>
                  <a:srgbClr val="FF6B35"/>
                </a:solidFill>
                <a:latin typeface="Arial Black" panose="020B0A04020102020204" pitchFamily="34" charset="0"/>
              </a:rPr>
              <a:t>CONST (for values that must never change):</a:t>
            </a:r>
          </a:p>
          <a:p>
            <a:endParaRPr lang="en-US" dirty="0"/>
          </a:p>
          <a:p>
            <a:r>
              <a:rPr lang="en-US" sz="1950" b="0" dirty="0"/>
              <a:t>Use const for things that stay fixed. Like a pi value or a country name.</a:t>
            </a:r>
          </a:p>
          <a:p>
            <a:r>
              <a:rPr lang="en-US" sz="1950" b="1" dirty="0"/>
              <a:t>Example: const pi = 3.14;   If you try to change pi later, JavaScript will throw an error.</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DATA TYPES: WHAT KIND OF DATA CAN JS STORE?</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JavaScript needs to know what type of information is stored in a variable. Here are the main types:</a:t>
            </a:r>
          </a:p>
          <a:p>
            <a:endParaRPr lang="en-US" dirty="0"/>
          </a:p>
          <a:p>
            <a:pPr marL="285750" indent="-285750">
              <a:buFontTx/>
              <a:buChar char="-"/>
            </a:pPr>
            <a:r>
              <a:rPr lang="en-US" sz="1950" b="1" dirty="0"/>
              <a:t>String:</a:t>
            </a:r>
            <a:r>
              <a:rPr lang="en-US" sz="1950" dirty="0"/>
              <a:t> Any text. Must be inside single or double quotes.</a:t>
            </a:r>
          </a:p>
          <a:p>
            <a:r>
              <a:rPr lang="en-US" sz="1600" b="1" dirty="0"/>
              <a:t>Example: let name = &amp;quot;Esther&amp;quot;;   or   let city = 'Lagos';</a:t>
            </a:r>
          </a:p>
          <a:p>
            <a:pPr marL="285750" indent="-285750">
              <a:buFontTx/>
              <a:buChar char="-"/>
            </a:pPr>
            <a:r>
              <a:rPr lang="en-US" sz="1950" b="1" dirty="0"/>
              <a:t>Number:</a:t>
            </a:r>
            <a:r>
              <a:rPr lang="en-US" sz="1950" dirty="0"/>
              <a:t> Any number (whole or decimal). No quotes needed.</a:t>
            </a:r>
          </a:p>
          <a:p>
            <a:r>
              <a:rPr lang="en-US" sz="1600" b="1" dirty="0"/>
              <a:t>Example: let age = 22;   let price = 4999.99;</a:t>
            </a:r>
          </a:p>
          <a:p>
            <a:pPr marL="285750" indent="-285750">
              <a:buFontTx/>
              <a:buChar char="-"/>
            </a:pPr>
            <a:r>
              <a:rPr lang="en-US" sz="1950" b="1" dirty="0"/>
              <a:t>Boolean:</a:t>
            </a:r>
            <a:r>
              <a:rPr lang="en-US" sz="1950" dirty="0"/>
              <a:t> Only two possible values: true or false. Used for yes/no situations.</a:t>
            </a:r>
          </a:p>
          <a:p>
            <a:r>
              <a:rPr lang="en-US" sz="1600" b="1" dirty="0"/>
              <a:t>Example: let isEnrolled = true;   let hasPaid = false;</a:t>
            </a:r>
          </a:p>
          <a:p>
            <a:pPr marL="285750" indent="-285750">
              <a:buFontTx/>
              <a:buChar char="-"/>
            </a:pPr>
            <a:r>
              <a:rPr lang="en-US" sz="1950" b="1" dirty="0"/>
              <a:t>Undefined:</a:t>
            </a:r>
            <a:r>
              <a:rPr lang="en-US" sz="1950" dirty="0"/>
              <a:t> A variable that has been created but has no value yet.</a:t>
            </a:r>
          </a:p>
          <a:p>
            <a:r>
              <a:rPr lang="en-US" sz="1600" b="1" dirty="0"/>
              <a:t>Example: let result;   (result is undefined until we assign something)</a:t>
            </a:r>
          </a:p>
          <a:p>
            <a:pPr marL="285750" indent="-285750">
              <a:buFontTx/>
              <a:buChar char="-"/>
            </a:pPr>
            <a:r>
              <a:rPr lang="en-US" sz="1950" b="1" dirty="0"/>
              <a:t>Null:</a:t>
            </a:r>
            <a:r>
              <a:rPr lang="en-US" sz="1950" dirty="0"/>
              <a:t> A variable that has been intentionally set to empty.</a:t>
            </a:r>
          </a:p>
          <a:p>
            <a:r>
              <a:rPr lang="en-US" sz="1600" b="1" dirty="0"/>
              <a:t>Example: let selectedItem = null;   (you chose to leave it empty on purpose)</a:t>
            </a:r>
          </a:p>
          <a:p>
            <a:pPr marL="285750" indent="-285750">
              <a:buFontTx/>
              <a:buChar char="-"/>
            </a:pPr>
            <a:r>
              <a:rPr lang="en-US" sz="1950" b="1" dirty="0"/>
              <a:t>Array:</a:t>
            </a:r>
            <a:r>
              <a:rPr lang="en-US" sz="1950" dirty="0"/>
              <a:t> A list of multiple values stored in one variable.</a:t>
            </a:r>
          </a:p>
          <a:p>
            <a:r>
              <a:rPr lang="en-US" sz="1600" b="1" dirty="0"/>
              <a:t>Example: let students = [&amp;quot;Amara&amp;quot;, &amp;quot;Bola&amp;quot;, &amp;quot;Chidi&amp;quot;];</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OPERATORS: DOING THINGS WITH YOUR DATA</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Operators are symbols that perform actions on values. There are several types:</a:t>
            </a:r>
          </a:p>
          <a:p>
            <a:endParaRPr lang="en-US" dirty="0"/>
          </a:p>
          <a:p>
            <a:r>
              <a:rPr lang="en-US" b="1" dirty="0">
                <a:solidFill>
                  <a:srgbClr val="FF6B35"/>
                </a:solidFill>
                <a:latin typeface="Arial Black" panose="020B0A04020102020204" pitchFamily="34" charset="0"/>
              </a:rPr>
              <a:t>ARITHMETIC OPERATORS (for maths):</a:t>
            </a:r>
          </a:p>
          <a:p>
            <a:endParaRPr lang="en-US" dirty="0"/>
          </a:p>
          <a:p>
            <a:pPr marL="285750" indent="-285750">
              <a:buFontTx/>
              <a:buChar char="-"/>
            </a:pPr>
            <a:r>
              <a:rPr lang="en-US" sz="1950" b="0" dirty="0"/>
              <a:t>+ (addition)   5 + 3 = 8</a:t>
            </a:r>
          </a:p>
          <a:p>
            <a:pPr marL="285750" indent="-285750">
              <a:buFontTx/>
              <a:buChar char="-"/>
            </a:pPr>
            <a:r>
              <a:rPr lang="en-US" sz="1950" b="0" dirty="0"/>
              <a:t>- (subtraction)   10 - 4 = 6</a:t>
            </a:r>
          </a:p>
          <a:p>
            <a:pPr marL="285750" indent="-285750">
              <a:buFontTx/>
              <a:buChar char="-"/>
            </a:pPr>
            <a:r>
              <a:rPr lang="en-US" sz="1950" b="0" dirty="0"/>
              <a:t>* (multiplication)   3 * 4 = 12</a:t>
            </a:r>
          </a:p>
          <a:p>
            <a:pPr marL="285750" indent="-285750">
              <a:buFontTx/>
              <a:buChar char="-"/>
            </a:pPr>
            <a:r>
              <a:rPr lang="en-US" sz="1950" b="0" dirty="0"/>
              <a:t>/ (division)   20 / 4 = 5</a:t>
            </a:r>
          </a:p>
          <a:p>
            <a:pPr marL="285750" indent="-285750">
              <a:buFontTx/>
              <a:buChar char="-"/>
            </a:pPr>
            <a:r>
              <a:rPr lang="en-US" sz="1950" b="0" dirty="0"/>
              <a:t>% (modulo / remainder)   10 % 3 = 1   (the leftover after dividing)</a:t>
            </a:r>
          </a:p>
          <a:p>
            <a:endParaRPr lang="en-US" dirty="0"/>
          </a:p>
          <a:p>
            <a:r>
              <a:rPr lang="en-US" b="1" dirty="0">
                <a:solidFill>
                  <a:srgbClr val="FF6B35"/>
                </a:solidFill>
                <a:latin typeface="Arial Black" panose="020B0A04020102020204" pitchFamily="34" charset="0"/>
              </a:rPr>
              <a:t>COMPARISON OPERATORS (for asking true/false questions):</a:t>
            </a:r>
          </a:p>
          <a:p>
            <a:endParaRPr lang="en-US" dirty="0"/>
          </a:p>
          <a:p>
            <a:pPr marL="285750" indent="-285750">
              <a:buFontTx/>
              <a:buChar char="-"/>
            </a:pPr>
            <a:r>
              <a:rPr lang="en-US" sz="1950" b="0" dirty="0"/>
              <a:t>=== (strictly equal)   5 === 5 is true</a:t>
            </a:r>
          </a:p>
          <a:p>
            <a:pPr marL="285750" indent="-285750">
              <a:buFontTx/>
              <a:buChar char="-"/>
            </a:pPr>
            <a:r>
              <a:rPr lang="en-US" sz="1950" b="0" dirty="0"/>
              <a:t>!== (not equal)   5 !== 3 is true</a:t>
            </a:r>
          </a:p>
          <a:p>
            <a:pPr marL="285750" indent="-285750">
              <a:buFontTx/>
              <a:buChar char="-"/>
            </a:pPr>
            <a:r>
              <a:rPr lang="en-US" sz="1950" b="0" dirty="0"/>
              <a:t>&gt; (greater than)   10 &gt; 5 is true</a:t>
            </a:r>
          </a:p>
          <a:p>
            <a:pPr marL="285750" indent="-285750">
              <a:buFontTx/>
              <a:buChar char="-"/>
            </a:pPr>
            <a:r>
              <a:rPr lang="en-US" sz="1950" b="0" dirty="0"/>
              <a:t>&lt; (less than)   3 &lt; 7 is true</a:t>
            </a:r>
          </a:p>
          <a:p>
            <a:pPr marL="285750" indent="-285750">
              <a:buFontTx/>
              <a:buChar char="-"/>
            </a:pPr>
            <a:r>
              <a:rPr lang="en-US" sz="1950" b="0" dirty="0"/>
              <a:t>&gt;= (greater than or equal to)   5 &gt;= 5 is true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OPERATORS CONTINUED: LOGICAL AND ASSIGNMENT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b="1" dirty="0">
                <a:solidFill>
                  <a:srgbClr val="FF6B35"/>
                </a:solidFill>
                <a:latin typeface="Arial Black" panose="020B0A04020102020204" pitchFamily="34" charset="0"/>
              </a:rPr>
              <a:t>LOGICAL OPERATORS (combining conditions):</a:t>
            </a:r>
          </a:p>
          <a:p>
            <a:endParaRPr lang="en-US" dirty="0"/>
          </a:p>
          <a:p>
            <a:pPr marL="285750" indent="-285750">
              <a:buFontTx/>
              <a:buChar char="-"/>
            </a:pPr>
            <a:r>
              <a:rPr lang="en-US" sz="1950" b="1" dirty="0"/>
              <a:t>&amp;&amp; (AND):</a:t>
            </a:r>
            <a:r>
              <a:rPr lang="en-US" sz="1950" dirty="0"/>
              <a:t> Both conditions must be true.   age &gt; 18 &amp;&amp; hasPaid === true</a:t>
            </a:r>
          </a:p>
          <a:p>
            <a:pPr marL="285750" indent="-285750">
              <a:buFontTx/>
              <a:buChar char="-"/>
            </a:pPr>
            <a:r>
              <a:rPr lang="en-US" sz="1950" b="1" dirty="0"/>
              <a:t>|| (OR):</a:t>
            </a:r>
            <a:r>
              <a:rPr lang="en-US" sz="1950" dirty="0"/>
              <a:t> At least one condition must be true.   isAdmin || isTeacher</a:t>
            </a:r>
          </a:p>
          <a:p>
            <a:pPr marL="285750" indent="-285750">
              <a:buFontTx/>
              <a:buChar char="-"/>
            </a:pPr>
            <a:r>
              <a:rPr lang="en-US" sz="1950" b="1" dirty="0"/>
              <a:t>! (NOT):</a:t>
            </a:r>
            <a:r>
              <a:rPr lang="en-US" sz="1950" dirty="0"/>
              <a:t> Flips true to false and false to true.   !isLoggedIn</a:t>
            </a:r>
          </a:p>
          <a:p>
            <a:endParaRPr lang="en-US" dirty="0"/>
          </a:p>
          <a:p>
            <a:r>
              <a:rPr lang="en-US" b="1" dirty="0">
                <a:solidFill>
                  <a:srgbClr val="FF6B35"/>
                </a:solidFill>
                <a:latin typeface="Arial Black" panose="020B0A04020102020204" pitchFamily="34" charset="0"/>
              </a:rPr>
              <a:t>ASSIGNMENT OPERATORS (storing and updating values):</a:t>
            </a:r>
          </a:p>
          <a:p>
            <a:endParaRPr lang="en-US" dirty="0"/>
          </a:p>
          <a:p>
            <a:pPr marL="285750" indent="-285750">
              <a:buFontTx/>
              <a:buChar char="-"/>
            </a:pPr>
            <a:r>
              <a:rPr lang="en-US" sz="1950" b="1" dirty="0"/>
              <a:t>= assigns a value:</a:t>
            </a:r>
            <a:r>
              <a:rPr lang="en-US" sz="1950" dirty="0"/>
              <a:t>   let x = 10;</a:t>
            </a:r>
          </a:p>
          <a:p>
            <a:pPr marL="285750" indent="-285750">
              <a:buFontTx/>
              <a:buChar char="-"/>
            </a:pPr>
            <a:r>
              <a:rPr lang="en-US" sz="1950" b="1" dirty="0"/>
              <a:t>+= adds and reassigns:</a:t>
            </a:r>
            <a:r>
              <a:rPr lang="en-US" sz="1950" dirty="0"/>
              <a:t>   x += 5;   is the same as   x = x + 5;</a:t>
            </a:r>
          </a:p>
          <a:p>
            <a:pPr marL="285750" indent="-285750">
              <a:buFontTx/>
              <a:buChar char="-"/>
            </a:pPr>
            <a:r>
              <a:rPr lang="en-US" sz="1950" b="1" dirty="0"/>
              <a:t>-= subtracts and reassigns:</a:t>
            </a:r>
            <a:r>
              <a:rPr lang="en-US" sz="1950" dirty="0"/>
              <a:t>   x -= 3;   is the same as   x = x - 3;</a:t>
            </a:r>
          </a:p>
          <a:p>
            <a:pPr marL="285750" indent="-285750">
              <a:buFontTx/>
              <a:buChar char="-"/>
            </a:pPr>
            <a:r>
              <a:rPr lang="en-US" sz="1950" b="1" dirty="0"/>
              <a:t>++ increments by 1:</a:t>
            </a:r>
            <a:r>
              <a:rPr lang="en-US" sz="1950" dirty="0"/>
              <a:t>   x++;   is the same as   x = x + 1;</a:t>
            </a:r>
          </a:p>
          <a:p>
            <a:pPr marL="285750" indent="-285750">
              <a:buFontTx/>
              <a:buChar char="-"/>
            </a:pPr>
            <a:r>
              <a:rPr lang="en-US" sz="1950" b="1" dirty="0"/>
              <a:t>-- decrements by 1:</a:t>
            </a:r>
            <a:r>
              <a:rPr lang="en-US" sz="1950" dirty="0"/>
              <a:t>   x--;   is the same as   x = x - 1;</a:t>
            </a:r>
          </a:p>
          <a:p>
            <a:endParaRPr lang="en-US" dirty="0"/>
          </a:p>
          <a:p>
            <a:r>
              <a:rPr lang="en-US" b="1" dirty="0">
                <a:solidFill>
                  <a:srgbClr val="FF6B35"/>
                </a:solidFill>
                <a:latin typeface="Arial Black" panose="020B0A04020102020204" pitchFamily="34" charset="0"/>
              </a:rPr>
              <a:t>QUICK TIP:</a:t>
            </a:r>
          </a:p>
          <a:p>
            <a:endParaRPr lang="en-US" dirty="0"/>
          </a:p>
          <a:p>
            <a:r>
              <a:rPr lang="en-US" sz="1950" b="0" dirty="0"/>
              <a:t>Do not confuse = (assignment) with === (comparison). The single equals puts a value in a box. The triple equals checks if two values are the same.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CASE STUDY: STUDENT REGISTRATION FORM</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Imagine you are building a website where students register for a coding bootcamp. You need to store each student's details in JavaScript. Here is how you would use variables, data types and operators:</a:t>
            </a:r>
          </a:p>
          <a:p>
            <a:endParaRPr lang="en-US" dirty="0"/>
          </a:p>
          <a:p>
            <a:r>
              <a:rPr lang="en-US" b="1" dirty="0">
                <a:solidFill>
                  <a:srgbClr val="FF6B35"/>
                </a:solidFill>
                <a:latin typeface="Arial Black" panose="020B0A04020102020204" pitchFamily="34" charset="0"/>
              </a:rPr>
              <a:t>CODE EXAMPLE:</a:t>
            </a:r>
          </a:p>
          <a:p>
            <a:endParaRPr lang="en-US" dirty="0"/>
          </a:p>
          <a:p>
            <a:r>
              <a:rPr lang="en-US" sz="1700" b="1" dirty="0"/>
              <a:t>const studentName = "Amara Johnson";     // String: will not change</a:t>
            </a:r>
          </a:p>
          <a:p>
            <a:r>
              <a:rPr lang="en-US" sz="1700" b="1" dirty="0"/>
              <a:t>const courseTitle = "JavaScript Basics";  // String: will not change</a:t>
            </a:r>
          </a:p>
          <a:p>
            <a:r>
              <a:rPr lang="en-US" sz="1700" b="1" dirty="0"/>
              <a:t>let weeksCompleted = 0;                   // Number: will increase</a:t>
            </a:r>
          </a:p>
          <a:p>
            <a:r>
              <a:rPr lang="en-US" sz="1700" b="1" dirty="0"/>
              <a:t>let totalScore = 0;                       // Number: will increase</a:t>
            </a:r>
          </a:p>
          <a:p>
            <a:r>
              <a:rPr lang="en-US" sz="1700" b="1" dirty="0"/>
              <a:t>let isEnrolled = true;                    // Boolean: yes she enrolled</a:t>
            </a:r>
          </a:p>
          <a:p>
            <a:r>
              <a:rPr lang="en-US" sz="1700" b="1" dirty="0"/>
              <a:t>const courseFee = 50000;                  // Number in Naira</a:t>
            </a:r>
          </a:p>
          <a:p>
            <a:endParaRPr lang="en-US" dirty="0"/>
          </a:p>
          <a:p>
            <a:r>
              <a:rPr lang="en-US" sz="1700" b="1" dirty="0"/>
              <a:t>// After Week 1:</a:t>
            </a:r>
          </a:p>
          <a:p>
            <a:r>
              <a:rPr lang="en-US" sz="1700" b="1" dirty="0"/>
              <a:t>weeksCompleted = weeksCompleted + 1;      // weeksCompleted is now 1</a:t>
            </a:r>
          </a:p>
          <a:p>
            <a:r>
              <a:rPr lang="en-US" sz="1700" b="1" dirty="0"/>
              <a:t>totalScore = totalScore + 85;             // totalScore is now 85</a:t>
            </a:r>
          </a:p>
          <a:p>
            <a:endParaRPr lang="en-US" dirty="0"/>
          </a:p>
          <a:p>
            <a:r>
              <a:rPr lang="en-US" b="1" dirty="0">
                <a:solidFill>
                  <a:srgbClr val="FF6B35"/>
                </a:solidFill>
                <a:latin typeface="Arial Black" panose="020B0A04020102020204" pitchFamily="34" charset="0"/>
              </a:rPr>
              <a:t>WHY IT MATTERS:</a:t>
            </a:r>
          </a:p>
          <a:p>
            <a:endParaRPr lang="en-US" dirty="0"/>
          </a:p>
          <a:p>
            <a:r>
              <a:rPr lang="en-US" sz="1950" b="0" dirty="0"/>
              <a:t>Notice how we used const for things that never change (name, title, fee) and let for things that update over time (score, weeks). This is good coding practice.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1 SUMMARY: WHAT DID WE LEARN?</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Let us recap everything from Class 1:</a:t>
            </a:r>
          </a:p>
          <a:p>
            <a:endParaRPr lang="en-US" dirty="0"/>
          </a:p>
          <a:p>
            <a:pPr marL="285750" indent="-285750">
              <a:buFontTx/>
              <a:buChar char="-"/>
            </a:pPr>
            <a:r>
              <a:rPr lang="en-US" sz="1950" b="0" dirty="0"/>
              <a:t>JavaScript is a programming language that makes websites interactive. It is used on over 98% of websites in the world.</a:t>
            </a:r>
          </a:p>
          <a:p>
            <a:pPr marL="285750" indent="-285750">
              <a:buFontTx/>
              <a:buChar char="-"/>
            </a:pPr>
            <a:r>
              <a:rPr lang="en-US" sz="1950" b="0" dirty="0"/>
              <a:t>A variable is a named storage box. You use let for values that can change and const for values that stay the same.</a:t>
            </a:r>
          </a:p>
          <a:p>
            <a:pPr marL="285750" indent="-285750">
              <a:buFontTx/>
              <a:buChar char="-"/>
            </a:pPr>
            <a:r>
              <a:rPr lang="en-US" sz="1950" b="0" dirty="0"/>
              <a:t>var is the old way to create variables. Avoid it in modern code because it has confusing rules.</a:t>
            </a:r>
          </a:p>
          <a:p>
            <a:pPr marL="285750" indent="-285750">
              <a:buFontTx/>
              <a:buChar char="-"/>
            </a:pPr>
            <a:r>
              <a:rPr lang="en-US" sz="1950" b="1" dirty="0"/>
              <a:t>Data types tell JavaScript what kind of information you are storing:</a:t>
            </a:r>
            <a:r>
              <a:rPr lang="en-US" sz="1950" dirty="0"/>
              <a:t> string (text), number, boolean (true/false), null, undefined and array.</a:t>
            </a:r>
          </a:p>
          <a:p>
            <a:pPr marL="285750" indent="-285750">
              <a:buFontTx/>
              <a:buChar char="-"/>
            </a:pPr>
            <a:r>
              <a:rPr lang="en-US" sz="1950" b="0" dirty="0"/>
              <a:t>Arithmetic operators (+, -, *, /, %) let you do maths with your data.</a:t>
            </a:r>
          </a:p>
          <a:p>
            <a:pPr marL="285750" indent="-285750">
              <a:buFontTx/>
              <a:buChar char="-"/>
            </a:pPr>
            <a:r>
              <a:rPr lang="en-US" sz="1950" b="0" dirty="0"/>
              <a:t>Comparison operators (===, !==, &gt;, &lt;) ask true or false questions about your data.</a:t>
            </a:r>
          </a:p>
          <a:p>
            <a:pPr marL="285750" indent="-285750">
              <a:buFontTx/>
              <a:buChar char="-"/>
            </a:pPr>
            <a:r>
              <a:rPr lang="en-US" sz="1950" b="0" dirty="0"/>
              <a:t>Logical operators (&amp;&amp;, ||, !) help you combine conditions together.</a:t>
            </a:r>
          </a:p>
          <a:p>
            <a:endParaRPr lang="en-US" dirty="0"/>
          </a:p>
          <a:p>
            <a:r>
              <a:rPr lang="en-US" b="1" dirty="0">
                <a:solidFill>
                  <a:srgbClr val="FF6B35"/>
                </a:solidFill>
                <a:latin typeface="Arial Black" panose="020B0A04020102020204" pitchFamily="34" charset="0"/>
              </a:rPr>
              <a:t>WHAT IS COMING NEXT:</a:t>
            </a:r>
          </a:p>
          <a:p>
            <a:endParaRPr lang="en-US" dirty="0"/>
          </a:p>
          <a:p>
            <a:r>
              <a:rPr lang="en-US" sz="1950" b="0" dirty="0"/>
              <a:t>In Class 2 we will learn how to make your programme smart. It will be able to make decisions (if/else), check many options (switch) and repeat tasks automatically (loops).</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1 QUIZ: TEST YOUR UNDERSTANDING</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Answer these questions to check what you have learned. Write your answers in the chat!</a:t>
            </a:r>
          </a:p>
          <a:p>
            <a:endParaRPr lang="en-US" dirty="0"/>
          </a:p>
          <a:p>
            <a:r>
              <a:rPr lang="en-US" b="1" dirty="0">
                <a:solidFill>
                  <a:srgbClr val="FF6B35"/>
                </a:solidFill>
                <a:latin typeface="Arial Black" panose="020B0A04020102020204" pitchFamily="34" charset="0"/>
              </a:rPr>
              <a:t>QUESTION 1:</a:t>
            </a:r>
          </a:p>
          <a:p>
            <a:endParaRPr lang="en-US" dirty="0"/>
          </a:p>
          <a:p>
            <a:r>
              <a:rPr lang="en-US" sz="1950" b="0" dirty="0"/>
              <a:t>What is the difference between let and const? Give one example of when you would use each.</a:t>
            </a:r>
          </a:p>
          <a:p>
            <a:endParaRPr lang="en-US" dirty="0"/>
          </a:p>
          <a:p>
            <a:r>
              <a:rPr lang="en-US" b="1" dirty="0">
                <a:solidFill>
                  <a:srgbClr val="FF6B35"/>
                </a:solidFill>
                <a:latin typeface="Arial Black" panose="020B0A04020102020204" pitchFamily="34" charset="0"/>
              </a:rPr>
              <a:t>QUESTION 2:</a:t>
            </a:r>
          </a:p>
          <a:p>
            <a:endParaRPr lang="en-US" dirty="0"/>
          </a:p>
          <a:p>
            <a:r>
              <a:rPr lang="en-US" sz="1950" b="0" dirty="0"/>
              <a:t>Which data type would you use to store: (a) someone's full name, (b) their age, (c) whether they have paid their fees?</a:t>
            </a:r>
          </a:p>
          <a:p>
            <a:endParaRPr lang="en-US" dirty="0"/>
          </a:p>
          <a:p>
            <a:r>
              <a:rPr lang="en-US" b="1" dirty="0">
                <a:solidFill>
                  <a:srgbClr val="FF6B35"/>
                </a:solidFill>
                <a:latin typeface="Arial Black" panose="020B0A04020102020204" pitchFamily="34" charset="0"/>
              </a:rPr>
              <a:t>QUESTION 3:</a:t>
            </a:r>
          </a:p>
          <a:p>
            <a:endParaRPr lang="en-US" dirty="0"/>
          </a:p>
          <a:p>
            <a:r>
              <a:rPr lang="en-US" sz="1950" b="0" dirty="0"/>
              <a:t>If price = 10000 and discount = 2000, write the JavaScript code to calculate and store the final price.</a:t>
            </a:r>
          </a:p>
          <a:p>
            <a:endParaRPr lang="en-US" dirty="0"/>
          </a:p>
          <a:p>
            <a:r>
              <a:rPr lang="en-US" b="1" dirty="0">
                <a:solidFill>
                  <a:srgbClr val="FF6B35"/>
                </a:solidFill>
                <a:latin typeface="Arial Black" panose="020B0A04020102020204" pitchFamily="34" charset="0"/>
              </a:rPr>
              <a:t>QUESTION 4:</a:t>
            </a:r>
          </a:p>
          <a:p>
            <a:endParaRPr lang="en-US" dirty="0"/>
          </a:p>
          <a:p>
            <a:r>
              <a:rPr lang="en-US" sz="1950" b="0" dirty="0"/>
              <a:t>What will happen if you try to use var to create a variable and then try to do the same with const later for the same name?</a:t>
            </a:r>
          </a:p>
          <a:p>
            <a:endParaRPr lang="en-US" dirty="0"/>
          </a:p>
          <a:p>
            <a:r>
              <a:rPr lang="en-US" b="1" dirty="0">
                <a:solidFill>
                  <a:srgbClr val="FF6B35"/>
                </a:solidFill>
                <a:latin typeface="Arial Black" panose="020B0A04020102020204" pitchFamily="34" charset="0"/>
              </a:rPr>
              <a:t>QUESTION 5:</a:t>
            </a:r>
          </a:p>
          <a:p>
            <a:endParaRPr lang="en-US" dirty="0"/>
          </a:p>
          <a:p>
            <a:r>
              <a:rPr lang="en-US" sz="1950" b="0" dirty="0"/>
              <a:t>What is the result of: 15 % 4?   Hint: it is the remainder after dividing.</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2: CONTROL FLOW</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2400" b="0" dirty="0"/>
              <a:t>if / else | switch | for loops | while loops | for...of</a:t>
            </a:r>
          </a:p>
          <a:p>
            <a:endParaRPr lang="en-US" dirty="0"/>
          </a:p>
          <a:p>
            <a:r>
              <a:rPr lang="en-US" sz="2000" b="0" dirty="0"/>
              <a:t>By the end of this class, you will be able to:</a:t>
            </a:r>
          </a:p>
          <a:p>
            <a:pPr marL="285750" indent="-285750">
              <a:buFontTx/>
              <a:buChar char="-"/>
            </a:pPr>
            <a:r>
              <a:rPr lang="en-US" sz="1950" b="0" dirty="0"/>
              <a:t>Write if / else statements to make decisions in code</a:t>
            </a:r>
          </a:p>
          <a:p>
            <a:pPr marL="285750" indent="-285750">
              <a:buFontTx/>
              <a:buChar char="-"/>
            </a:pPr>
            <a:r>
              <a:rPr lang="en-US" sz="1950" b="0" dirty="0"/>
              <a:t>Use switch to handle many possible values cleanly</a:t>
            </a:r>
          </a:p>
          <a:p>
            <a:pPr marL="285750" indent="-285750">
              <a:buFontTx/>
              <a:buChar char="-"/>
            </a:pPr>
            <a:r>
              <a:rPr lang="en-US" sz="1950" b="0" dirty="0"/>
              <a:t>Write for and while loops to repeat actions</a:t>
            </a:r>
          </a:p>
          <a:p>
            <a:pPr marL="285750" indent="-285750">
              <a:buFontTx/>
              <a:buChar char="-"/>
            </a:pPr>
            <a:r>
              <a:rPr lang="en-US" sz="1950" b="0" dirty="0"/>
              <a:t>Use for...of to loop through lists easily</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WHAT IS CONTROL FLOW?</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2000" b="0" dirty="0"/>
              <a:t>By default, JavaScript reads your code line by line from top to bottom. Control flow lets you change that. You can tell JavaScript to skip some code, repeat some code, or choose between options.</a:t>
            </a:r>
          </a:p>
          <a:p>
            <a:endParaRPr lang="en-US" dirty="0"/>
          </a:p>
          <a:p>
            <a:r>
              <a:rPr lang="en-US" b="1" dirty="0">
                <a:solidFill>
                  <a:srgbClr val="FF6B35"/>
                </a:solidFill>
                <a:latin typeface="Arial Black" panose="020B0A04020102020204" pitchFamily="34" charset="0"/>
              </a:rPr>
              <a:t>REAL LIFE ANALOGY:</a:t>
            </a:r>
          </a:p>
          <a:p>
            <a:endParaRPr lang="en-US" dirty="0"/>
          </a:p>
          <a:p>
            <a:r>
              <a:rPr lang="en-US" sz="1950" b="0" dirty="0"/>
              <a:t>Think of a security checkpoint at an event. The guard checks your ticket. If your ticket is valid, you enter. If not, you are turned away. This decision process is exactly what control flow does in code.</a:t>
            </a:r>
          </a:p>
          <a:p>
            <a:endParaRPr lang="en-US" dirty="0"/>
          </a:p>
          <a:p>
            <a:r>
              <a:rPr lang="en-US" b="1" dirty="0">
                <a:solidFill>
                  <a:srgbClr val="FF6B35"/>
                </a:solidFill>
                <a:latin typeface="Arial Black" panose="020B0A04020102020204" pitchFamily="34" charset="0"/>
              </a:rPr>
              <a:t>THREE TYPES OF CONTROL FLOW:</a:t>
            </a:r>
          </a:p>
          <a:p>
            <a:endParaRPr lang="en-US" dirty="0"/>
          </a:p>
          <a:p>
            <a:pPr marL="285750" indent="-285750">
              <a:buFontTx/>
              <a:buChar char="-"/>
            </a:pPr>
            <a:r>
              <a:rPr lang="en-US" sz="1950" b="1" dirty="0"/>
              <a:t>Conditionals:</a:t>
            </a:r>
            <a:r>
              <a:rPr lang="en-US" sz="1950" dirty="0"/>
              <a:t> Run certain code only when a condition is true (if/else, switch).</a:t>
            </a:r>
          </a:p>
          <a:p>
            <a:pPr marL="285750" indent="-285750">
              <a:buFontTx/>
              <a:buChar char="-"/>
            </a:pPr>
            <a:r>
              <a:rPr lang="en-US" sz="1950" b="1" dirty="0"/>
              <a:t>Loops:</a:t>
            </a:r>
            <a:r>
              <a:rPr lang="en-US" sz="1950" dirty="0"/>
              <a:t> Run the same code multiple times (for, while, for...of).</a:t>
            </a:r>
          </a:p>
          <a:p>
            <a:pPr marL="285750" indent="-285750">
              <a:buFontTx/>
              <a:buChar char="-"/>
            </a:pPr>
            <a:r>
              <a:rPr lang="en-US" sz="1950" b="1" dirty="0"/>
              <a:t>Functions:</a:t>
            </a:r>
            <a:r>
              <a:rPr lang="en-US" sz="1950" dirty="0"/>
              <a:t> Group code so you can run it on demand (we cover this in Class 3).</a:t>
            </a:r>
          </a:p>
          <a:p>
            <a:endParaRPr lang="en-US" dirty="0"/>
          </a:p>
          <a:p>
            <a:r>
              <a:rPr lang="en-US" sz="1950" b="0" dirty="0"/>
              <a:t>Without control flow, every programme would just run the same lines in the same order every time. That would make it very boring and not very useful!</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IF / ELSE: MAKING DECISIONS IN CODE</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The if statement runs a block of code only when a condition is true. The else block runs when the condition is false.</a:t>
            </a:r>
          </a:p>
          <a:p>
            <a:endParaRPr lang="en-US" dirty="0"/>
          </a:p>
          <a:p>
            <a:r>
              <a:rPr lang="en-US" b="1" dirty="0">
                <a:solidFill>
                  <a:srgbClr val="FF6B35"/>
                </a:solidFill>
                <a:latin typeface="Arial Black" panose="020B0A04020102020204" pitchFamily="34" charset="0"/>
              </a:rPr>
              <a:t>BASIC STRUCTURE:</a:t>
            </a:r>
          </a:p>
          <a:p>
            <a:endParaRPr lang="en-US" dirty="0"/>
          </a:p>
          <a:p>
            <a:r>
              <a:rPr lang="en-US" sz="1950" b="1" dirty="0"/>
              <a:t>if (condition) {</a:t>
            </a:r>
          </a:p>
          <a:p>
            <a:r>
              <a:rPr lang="en-US" sz="1950" b="1" dirty="0"/>
              <a:t>    // code to run if condition is true</a:t>
            </a:r>
          </a:p>
          <a:p>
            <a:r>
              <a:rPr lang="en-US" sz="1950" b="1" dirty="0"/>
              <a:t>} else {</a:t>
            </a:r>
          </a:p>
          <a:p>
            <a:r>
              <a:rPr lang="en-US" sz="1950" b="1" dirty="0"/>
              <a:t>    // code to run if condition is false</a:t>
            </a:r>
          </a:p>
          <a:p>
            <a:r>
              <a:rPr lang="en-US" sz="1950" b="1" dirty="0"/>
              <a:t>}</a:t>
            </a:r>
          </a:p>
          <a:p>
            <a:endParaRPr lang="en-US" dirty="0"/>
          </a:p>
          <a:p>
            <a:r>
              <a:rPr lang="en-US" b="1" dirty="0">
                <a:solidFill>
                  <a:srgbClr val="FF6B35"/>
                </a:solidFill>
                <a:latin typeface="Arial Black" panose="020B0A04020102020204" pitchFamily="34" charset="0"/>
              </a:rPr>
              <a:t>EXAMPLE:</a:t>
            </a:r>
          </a:p>
          <a:p>
            <a:endParaRPr lang="en-US" dirty="0"/>
          </a:p>
          <a:p>
            <a:r>
              <a:rPr lang="en-US" sz="1950" b="1" dirty="0"/>
              <a:t>let age = 20;</a:t>
            </a:r>
          </a:p>
          <a:p>
            <a:r>
              <a:rPr lang="en-US" sz="1950" b="1" dirty="0"/>
              <a:t>if (age &gt;= 18) {</a:t>
            </a:r>
          </a:p>
          <a:p>
            <a:r>
              <a:rPr lang="en-US" sz="1950" b="1" dirty="0"/>
              <a:t>    console.log("You can vote!");</a:t>
            </a:r>
          </a:p>
          <a:p>
            <a:r>
              <a:rPr lang="en-US" sz="1950" b="1" dirty="0"/>
              <a:t>} else {</a:t>
            </a:r>
          </a:p>
          <a:p>
            <a:r>
              <a:rPr lang="en-US" sz="1950" b="1" dirty="0"/>
              <a:t>    console.log("You are too young to vote.");</a:t>
            </a:r>
          </a:p>
          <a:p>
            <a:r>
              <a:rPr lang="en-US" sz="1950" b="1" dirty="0"/>
              <a:t>}</a:t>
            </a:r>
          </a:p>
          <a:p>
            <a:endParaRPr lang="en-US" dirty="0"/>
          </a:p>
          <a:p>
            <a:r>
              <a:rPr lang="en-US" sz="1950" b="0" dirty="0"/>
              <a:t>Because age (20) is greater than or equal to 18, the first message prints: You can vote!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ELSE IF: CHECKING MULTIPLE CONDITIONS</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When you need to check more than two options, you add else if between if and else.</a:t>
            </a:r>
          </a:p>
          <a:p>
            <a:endParaRPr lang="en-US" dirty="0"/>
          </a:p>
          <a:p>
            <a:r>
              <a:rPr lang="en-US" b="1" dirty="0">
                <a:solidFill>
                  <a:srgbClr val="FF6B35"/>
                </a:solidFill>
                <a:latin typeface="Arial Black" panose="020B0A04020102020204" pitchFamily="34" charset="0"/>
              </a:rPr>
              <a:t>GRADE CALCULATOR EXAMPLE:</a:t>
            </a:r>
          </a:p>
          <a:p>
            <a:endParaRPr lang="en-US" dirty="0"/>
          </a:p>
          <a:p>
            <a:r>
              <a:rPr lang="en-US" sz="1950" b="1" dirty="0"/>
              <a:t>let score = 75;</a:t>
            </a:r>
          </a:p>
          <a:p>
            <a:r>
              <a:rPr lang="en-US" sz="1950" b="1" dirty="0"/>
              <a:t>if (score &gt;= 90) {</a:t>
            </a:r>
          </a:p>
          <a:p>
            <a:r>
              <a:rPr lang="en-US" sz="1950" b="1" dirty="0"/>
              <a:t>    console.log("Grade: A");</a:t>
            </a:r>
          </a:p>
          <a:p>
            <a:r>
              <a:rPr lang="en-US" sz="1950" b="1" dirty="0"/>
              <a:t>} else if (score &gt;= 70) {</a:t>
            </a:r>
          </a:p>
          <a:p>
            <a:r>
              <a:rPr lang="en-US" sz="1950" b="1" dirty="0"/>
              <a:t>    console.log("Grade: B");</a:t>
            </a:r>
          </a:p>
          <a:p>
            <a:r>
              <a:rPr lang="en-US" sz="1950" b="1" dirty="0"/>
              <a:t>} else if (score &gt;= 50) {</a:t>
            </a:r>
          </a:p>
          <a:p>
            <a:r>
              <a:rPr lang="en-US" sz="1950" b="1" dirty="0"/>
              <a:t>    console.log("Grade: C");</a:t>
            </a:r>
          </a:p>
          <a:p>
            <a:r>
              <a:rPr lang="en-US" sz="1950" b="1" dirty="0"/>
              <a:t>} else {</a:t>
            </a:r>
          </a:p>
          <a:p>
            <a:r>
              <a:rPr lang="en-US" sz="1950" b="1" dirty="0"/>
              <a:t>    console.log("Grade: F - Please revise!");</a:t>
            </a:r>
          </a:p>
          <a:p>
            <a:r>
              <a:rPr lang="en-US" sz="1950" b="1" dirty="0"/>
              <a:t>}</a:t>
            </a:r>
          </a:p>
          <a:p>
            <a:endParaRPr lang="en-US" dirty="0"/>
          </a:p>
          <a:p>
            <a:r>
              <a:rPr lang="en-US" b="1" dirty="0">
                <a:solidFill>
                  <a:srgbClr val="FF6B35"/>
                </a:solidFill>
                <a:latin typeface="Arial Black" panose="020B0A04020102020204" pitchFamily="34" charset="0"/>
              </a:rPr>
              <a:t>HOW IT WORKS:</a:t>
            </a:r>
          </a:p>
          <a:p>
            <a:endParaRPr lang="en-US" dirty="0"/>
          </a:p>
          <a:p>
            <a:r>
              <a:rPr lang="en-US" sz="1950" b="0" dirty="0"/>
              <a:t>JavaScript checks each condition from top to bottom. As soon as one is true, it runs that block and ignores all the rest. Because score is 75 (which is &gt;= 70), the output is Grade: B.</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SWITCH: WHEN YOU HAVE MANY OPTIONS</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When you are checking one variable against many possible values, switch is cleaner and easier to read than a long chain of else if statements.</a:t>
            </a:r>
          </a:p>
          <a:p>
            <a:endParaRPr lang="en-US" dirty="0"/>
          </a:p>
          <a:p>
            <a:r>
              <a:rPr lang="en-US" b="1" dirty="0">
                <a:solidFill>
                  <a:srgbClr val="FF6B35"/>
                </a:solidFill>
                <a:latin typeface="Arial Black" panose="020B0A04020102020204" pitchFamily="34" charset="0"/>
              </a:rPr>
              <a:t>EXAMPLE: Day of the Week Message</a:t>
            </a:r>
          </a:p>
          <a:p>
            <a:endParaRPr lang="en-US" dirty="0"/>
          </a:p>
          <a:p>
            <a:r>
              <a:rPr lang="en-US" sz="1950" b="1" dirty="0"/>
              <a:t>let day = &amp;quot;Monday&amp;quot;;</a:t>
            </a:r>
          </a:p>
          <a:p>
            <a:r>
              <a:rPr lang="en-US" sz="1950" b="1" dirty="0"/>
              <a:t>switch (day) {</a:t>
            </a:r>
          </a:p>
          <a:p>
            <a:r>
              <a:rPr lang="en-US" sz="1700" b="1" dirty="0"/>
              <a:t>    case "Monday":   console.log("New week, fresh start!");   break;</a:t>
            </a:r>
          </a:p>
          <a:p>
            <a:r>
              <a:rPr lang="en-US" sz="1700" b="1" dirty="0"/>
              <a:t>    case "Friday":   console.log("Almost the weekend!");   break;</a:t>
            </a:r>
          </a:p>
          <a:p>
            <a:r>
              <a:rPr lang="en-US" sz="1950" b="1" dirty="0"/>
              <a:t>    case "Saturday":</a:t>
            </a:r>
          </a:p>
          <a:p>
            <a:r>
              <a:rPr lang="en-US" sz="1700" b="1" dirty="0"/>
              <a:t>    case "Sunday":   console.log("It is the weekend! Rest up.");   break;</a:t>
            </a:r>
          </a:p>
          <a:p>
            <a:r>
              <a:rPr lang="en-US" sz="1700" b="1" dirty="0"/>
              <a:t>    default:   console.log("Keep going, midweek grind!");</a:t>
            </a:r>
          </a:p>
          <a:p>
            <a:r>
              <a:rPr lang="en-US" sz="1950" b="1" dirty="0"/>
              <a:t>}</a:t>
            </a:r>
          </a:p>
          <a:p>
            <a:endParaRPr lang="en-US" dirty="0"/>
          </a:p>
          <a:p>
            <a:r>
              <a:rPr lang="en-US" b="1" dirty="0">
                <a:solidFill>
                  <a:srgbClr val="FF6B35"/>
                </a:solidFill>
                <a:latin typeface="Arial Black" panose="020B0A04020102020204" pitchFamily="34" charset="0"/>
              </a:rPr>
              <a:t>KEY WORDS TO KNOW:</a:t>
            </a:r>
          </a:p>
          <a:p>
            <a:endParaRPr lang="en-US" dirty="0"/>
          </a:p>
          <a:p>
            <a:pPr marL="285750" indent="-285750">
              <a:buFontTx/>
              <a:buChar char="-"/>
            </a:pPr>
            <a:r>
              <a:rPr lang="en-US" sz="1950" b="1" dirty="0"/>
              <a:t>case:</a:t>
            </a:r>
            <a:r>
              <a:rPr lang="en-US" sz="1950" dirty="0"/>
              <a:t> Each possible value of the variable you are checking.</a:t>
            </a:r>
          </a:p>
          <a:p>
            <a:pPr marL="285750" indent="-285750">
              <a:buFontTx/>
              <a:buChar char="-"/>
            </a:pPr>
            <a:r>
              <a:rPr lang="en-US" sz="1950" b="1" dirty="0"/>
              <a:t>break:</a:t>
            </a:r>
            <a:r>
              <a:rPr lang="en-US" sz="1950" dirty="0"/>
              <a:t> Stops JavaScript from falling into the next case. Always include this!</a:t>
            </a:r>
          </a:p>
          <a:p>
            <a:pPr marL="285750" indent="-285750">
              <a:buFontTx/>
              <a:buChar char="-"/>
            </a:pPr>
            <a:r>
              <a:rPr lang="en-US" sz="1950" b="1" dirty="0"/>
              <a:t>default:</a:t>
            </a:r>
            <a:r>
              <a:rPr lang="en-US" sz="1950" dirty="0"/>
              <a:t> Runs when no case matches (like else in an if statement).</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THE FOR LOOP: REPEAT THINGS A SET NUMBER OF TIMES</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 for loop repeats a block of code a specific number of times. Instead of copy pasting the same line 100 times, you write it once inside a loop.</a:t>
            </a:r>
          </a:p>
          <a:p>
            <a:endParaRPr lang="en-US" dirty="0"/>
          </a:p>
          <a:p>
            <a:r>
              <a:rPr lang="en-US" b="1" dirty="0">
                <a:solidFill>
                  <a:srgbClr val="FF6B35"/>
                </a:solidFill>
                <a:latin typeface="Arial Black" panose="020B0A04020102020204" pitchFamily="34" charset="0"/>
              </a:rPr>
              <a:t>BASIC STRUCTURE:</a:t>
            </a:r>
          </a:p>
          <a:p>
            <a:endParaRPr lang="en-US" dirty="0"/>
          </a:p>
          <a:p>
            <a:r>
              <a:rPr lang="en-US" sz="1950" b="1" dirty="0"/>
              <a:t>for (start; condition; update) {</a:t>
            </a:r>
          </a:p>
          <a:p>
            <a:r>
              <a:rPr lang="en-US" sz="1950" b="1" dirty="0"/>
              <a:t>    // code to repeat</a:t>
            </a:r>
          </a:p>
          <a:p>
            <a:r>
              <a:rPr lang="en-US" sz="1950" b="1" dirty="0"/>
              <a:t>}</a:t>
            </a:r>
          </a:p>
          <a:p>
            <a:endParaRPr lang="en-US" dirty="0"/>
          </a:p>
          <a:p>
            <a:r>
              <a:rPr lang="en-US" b="1" dirty="0">
                <a:solidFill>
                  <a:srgbClr val="FF6B35"/>
                </a:solidFill>
                <a:latin typeface="Arial Black" panose="020B0A04020102020204" pitchFamily="34" charset="0"/>
              </a:rPr>
              <a:t>EXAMPLE: Count from 1 to 5</a:t>
            </a:r>
          </a:p>
          <a:p>
            <a:endParaRPr lang="en-US" dirty="0"/>
          </a:p>
          <a:p>
            <a:r>
              <a:rPr lang="en-US" sz="1950" b="1" dirty="0"/>
              <a:t>for (let i = 1; i &lt;= 5; i++) {</a:t>
            </a:r>
          </a:p>
          <a:p>
            <a:r>
              <a:rPr lang="en-US" sz="1950" b="1" dirty="0"/>
              <a:t>    console.log("Count: " + i);</a:t>
            </a:r>
          </a:p>
          <a:p>
            <a:r>
              <a:rPr lang="en-US" sz="1950" b="1" dirty="0"/>
              <a:t>}   // Output: Count: 1, Count: 2, Count: 3, Count: 4, Count: 5</a:t>
            </a:r>
          </a:p>
          <a:p>
            <a:endParaRPr lang="en-US" dirty="0"/>
          </a:p>
          <a:p>
            <a:r>
              <a:rPr lang="en-US" b="1" dirty="0">
                <a:solidFill>
                  <a:srgbClr val="FF6B35"/>
                </a:solidFill>
                <a:latin typeface="Arial Black" panose="020B0A04020102020204" pitchFamily="34" charset="0"/>
              </a:rPr>
              <a:t>HOW IT WORKS (step by step):</a:t>
            </a:r>
          </a:p>
          <a:p>
            <a:endParaRPr lang="en-US" dirty="0"/>
          </a:p>
          <a:p>
            <a:pPr marL="285750" indent="-285750">
              <a:buFontTx/>
              <a:buChar char="-"/>
            </a:pPr>
            <a:r>
              <a:rPr lang="en-US" sz="1950" b="1" dirty="0"/>
              <a:t>let i = 1:</a:t>
            </a:r>
            <a:r>
              <a:rPr lang="en-US" sz="1950" dirty="0"/>
              <a:t> This sets the starting value. i is the counter, starting at 1.</a:t>
            </a:r>
          </a:p>
          <a:p>
            <a:pPr marL="285750" indent="-285750">
              <a:buFontTx/>
              <a:buChar char="-"/>
            </a:pPr>
            <a:r>
              <a:rPr lang="en-US" sz="1950" b="1" dirty="0"/>
              <a:t>i &lt;= 5:</a:t>
            </a:r>
            <a:r>
              <a:rPr lang="en-US" sz="1950" dirty="0"/>
              <a:t> This is the condition. Keep looping as long as i is 5 or less.</a:t>
            </a:r>
          </a:p>
          <a:p>
            <a:pPr marL="285750" indent="-285750">
              <a:buFontTx/>
              <a:buChar char="-"/>
            </a:pPr>
            <a:r>
              <a:rPr lang="en-US" sz="1950" b="1" dirty="0"/>
              <a:t>i++:</a:t>
            </a:r>
            <a:r>
              <a:rPr lang="en-US" sz="1950" dirty="0"/>
              <a:t> After each loop, add 1 to i. So i goes 1, 2, 3, 4, 5, then stops.</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THE WHILE LOOP: REPEAT UNTIL A CONDITION CHANGES</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 while loop keeps running as long as its condition is true. Use it when you do not know in advance how many times you need to repeat.</a:t>
            </a:r>
          </a:p>
          <a:p>
            <a:endParaRPr lang="en-US" dirty="0"/>
          </a:p>
          <a:p>
            <a:r>
              <a:rPr lang="en-US" b="1" dirty="0">
                <a:solidFill>
                  <a:srgbClr val="FF6B35"/>
                </a:solidFill>
                <a:latin typeface="Arial Black" panose="020B0A04020102020204" pitchFamily="34" charset="0"/>
              </a:rPr>
              <a:t>STRUCTURE:</a:t>
            </a:r>
          </a:p>
          <a:p>
            <a:endParaRPr lang="en-US" dirty="0"/>
          </a:p>
          <a:p>
            <a:r>
              <a:rPr lang="en-US" sz="1950" b="1" dirty="0"/>
              <a:t>while (condition) {</a:t>
            </a:r>
          </a:p>
          <a:p>
            <a:r>
              <a:rPr lang="en-US" sz="1950" b="1" dirty="0"/>
              <a:t>    // code to repeat</a:t>
            </a:r>
          </a:p>
          <a:p>
            <a:r>
              <a:rPr lang="en-US" sz="1950" b="1" dirty="0"/>
              <a:t>}</a:t>
            </a:r>
          </a:p>
          <a:p>
            <a:endParaRPr lang="en-US" dirty="0"/>
          </a:p>
          <a:p>
            <a:r>
              <a:rPr lang="en-US" b="1" dirty="0">
                <a:solidFill>
                  <a:srgbClr val="FF6B35"/>
                </a:solidFill>
                <a:latin typeface="Arial Black" panose="020B0A04020102020204" pitchFamily="34" charset="0"/>
              </a:rPr>
              <a:t>EXAMPLE: Login Attempts</a:t>
            </a:r>
          </a:p>
          <a:p>
            <a:endParaRPr lang="en-US" dirty="0"/>
          </a:p>
          <a:p>
            <a:r>
              <a:rPr lang="en-US" sz="1950" b="1" dirty="0"/>
              <a:t>let attempts = 0;</a:t>
            </a:r>
          </a:p>
          <a:p>
            <a:r>
              <a:rPr lang="en-US" sz="1950" b="1" dirty="0"/>
              <a:t>while (attempts &lt; 3) {</a:t>
            </a:r>
          </a:p>
          <a:p>
            <a:r>
              <a:rPr lang="en-US" sz="1950" b="1" dirty="0"/>
              <a:t>    console.log("Attempt number: " + (attempts + 1));</a:t>
            </a:r>
          </a:p>
          <a:p>
            <a:r>
              <a:rPr lang="en-US" sz="1950" b="1" dirty="0"/>
              <a:t>    attempts++;</a:t>
            </a:r>
          </a:p>
          <a:p>
            <a:r>
              <a:rPr lang="en-US" sz="1950" b="1" dirty="0"/>
              <a:t>}   // Runs 3 times, then stops because attempts is no longer less than 3</a:t>
            </a:r>
          </a:p>
          <a:p>
            <a:endParaRPr lang="en-US" dirty="0"/>
          </a:p>
          <a:p>
            <a:r>
              <a:rPr lang="en-US" b="1" dirty="0">
                <a:solidFill>
                  <a:srgbClr val="FF6B35"/>
                </a:solidFill>
                <a:latin typeface="Arial Black" panose="020B0A04020102020204" pitchFamily="34" charset="0"/>
              </a:rPr>
              <a:t>IMPORTANT WARNING:</a:t>
            </a:r>
          </a:p>
          <a:p>
            <a:endParaRPr lang="en-US" dirty="0"/>
          </a:p>
          <a:p>
            <a:r>
              <a:rPr lang="en-US" sz="1950" b="0" dirty="0"/>
              <a:t>Always make sure the condition will eventually become false. If it never does, you create an infinite loop and your browser will freeze. In the example above, attempts++ ensures the loop ends.</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THE FOR...OF LOOP: LOOP THROUGH A LIST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The for...of loop is the easiest way to go through every item in an array (list). You do not need a counter or index. JavaScript just gives you each item one by one.</a:t>
            </a:r>
          </a:p>
          <a:p>
            <a:endParaRPr lang="en-US" dirty="0"/>
          </a:p>
          <a:p>
            <a:r>
              <a:rPr lang="en-US" b="1" dirty="0">
                <a:solidFill>
                  <a:srgbClr val="FF6B35"/>
                </a:solidFill>
                <a:latin typeface="Arial Black" panose="020B0A04020102020204" pitchFamily="34" charset="0"/>
              </a:rPr>
              <a:t>STRUCTURE:</a:t>
            </a:r>
          </a:p>
          <a:p>
            <a:endParaRPr lang="en-US" dirty="0"/>
          </a:p>
          <a:p>
            <a:r>
              <a:rPr lang="en-US" sz="1950" b="1" dirty="0"/>
              <a:t>for (let item of myList) {</a:t>
            </a:r>
          </a:p>
          <a:p>
            <a:r>
              <a:rPr lang="en-US" sz="1950" b="1" dirty="0"/>
              <a:t>    // use item here</a:t>
            </a:r>
          </a:p>
          <a:p>
            <a:r>
              <a:rPr lang="en-US" sz="1950" b="1" dirty="0"/>
              <a:t>}</a:t>
            </a:r>
          </a:p>
          <a:p>
            <a:endParaRPr lang="en-US" dirty="0"/>
          </a:p>
          <a:p>
            <a:r>
              <a:rPr lang="en-US" b="1" dirty="0">
                <a:solidFill>
                  <a:srgbClr val="FF6B35"/>
                </a:solidFill>
                <a:latin typeface="Arial Black" panose="020B0A04020102020204" pitchFamily="34" charset="0"/>
              </a:rPr>
              <a:t>EXAMPLE: Greet Each Student</a:t>
            </a:r>
          </a:p>
          <a:p>
            <a:endParaRPr lang="en-US" dirty="0"/>
          </a:p>
          <a:p>
            <a:r>
              <a:rPr lang="en-US" sz="1950" b="1" dirty="0"/>
              <a:t>let students = [&amp;quot;Amara&amp;quot;, &amp;quot;Bola&amp;quot;, &amp;quot;Chidi&amp;quot;, &amp;quot;Dara&amp;quot;];</a:t>
            </a:r>
          </a:p>
          <a:p>
            <a:r>
              <a:rPr lang="en-US" sz="1950" b="1" dirty="0"/>
              <a:t>for (let student of students) {</a:t>
            </a:r>
          </a:p>
          <a:p>
            <a:r>
              <a:rPr lang="en-US" sz="1950" b="1" dirty="0"/>
              <a:t>    console.log("Welcome, " + student + "!");</a:t>
            </a:r>
          </a:p>
          <a:p>
            <a:r>
              <a:rPr lang="en-US" sz="1700" b="1" dirty="0"/>
              <a:t>}   // Output: Welcome, Amara!   Welcome, Bola!   Welcome, Chidi!   Welcome, Dara!</a:t>
            </a:r>
          </a:p>
          <a:p>
            <a:endParaRPr lang="en-US" dirty="0"/>
          </a:p>
          <a:p>
            <a:r>
              <a:rPr lang="en-US" b="1" dirty="0">
                <a:solidFill>
                  <a:srgbClr val="FF6B35"/>
                </a:solidFill>
                <a:latin typeface="Arial Black" panose="020B0A04020102020204" pitchFamily="34" charset="0"/>
              </a:rPr>
              <a:t>WHEN TO USE EACH LOOP:</a:t>
            </a:r>
          </a:p>
          <a:p>
            <a:endParaRPr lang="en-US" dirty="0"/>
          </a:p>
          <a:p>
            <a:pPr marL="285750" indent="-285750">
              <a:buFontTx/>
              <a:buChar char="-"/>
            </a:pPr>
            <a:r>
              <a:rPr lang="en-US" sz="1950" b="0" dirty="0"/>
              <a:t>Use for when you need a counter and know how many times to repeat.</a:t>
            </a:r>
          </a:p>
          <a:p>
            <a:pPr marL="285750" indent="-285750">
              <a:buFontTx/>
              <a:buChar char="-"/>
            </a:pPr>
            <a:r>
              <a:rPr lang="en-US" sz="1950" b="0" dirty="0"/>
              <a:t>Use while when you do not know how many times, but have a condition.</a:t>
            </a:r>
          </a:p>
          <a:p>
            <a:pPr marL="285750" indent="-285750">
              <a:buFontTx/>
              <a:buChar char="-"/>
            </a:pPr>
            <a:r>
              <a:rPr lang="en-US" sz="1950" b="0" dirty="0"/>
              <a:t>Use for...of when you want to go through every item in a list.</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CASE STUDY: AUTOMATED SCHOOL MARK SHEET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 school wants a JavaScript programme that takes a list of student scores and automatically prints each student's grade. Control flow and loops make this possible in just a few lines.</a:t>
            </a:r>
          </a:p>
          <a:p>
            <a:endParaRPr lang="en-US" dirty="0"/>
          </a:p>
          <a:p>
            <a:r>
              <a:rPr lang="en-US" b="1" dirty="0">
                <a:solidFill>
                  <a:srgbClr val="FF6B35"/>
                </a:solidFill>
                <a:latin typeface="Arial Black" panose="020B0A04020102020204" pitchFamily="34" charset="0"/>
              </a:rPr>
              <a:t>CODE EXAMPLE:</a:t>
            </a:r>
          </a:p>
          <a:p>
            <a:endParaRPr lang="en-US" dirty="0"/>
          </a:p>
          <a:p>
            <a:r>
              <a:rPr lang="en-US" sz="1950" b="1" dirty="0"/>
              <a:t>let scores = [92, 75, 58, 88, 43];</a:t>
            </a:r>
          </a:p>
          <a:p>
            <a:r>
              <a:rPr lang="en-US" sz="1950" b="1" dirty="0"/>
              <a:t>for (let score of scores) {</a:t>
            </a:r>
          </a:p>
          <a:p>
            <a:r>
              <a:rPr lang="en-US" sz="1950" b="1" dirty="0"/>
              <a:t>    if (score &gt;= 90) {</a:t>
            </a:r>
          </a:p>
          <a:p>
            <a:r>
              <a:rPr lang="en-US" sz="1950" b="1" dirty="0"/>
              <a:t>        console.log(score + " -&gt; Grade A");</a:t>
            </a:r>
          </a:p>
          <a:p>
            <a:r>
              <a:rPr lang="en-US" sz="1950" b="1" dirty="0"/>
              <a:t>    } else if (score &gt;= 70) {</a:t>
            </a:r>
          </a:p>
          <a:p>
            <a:r>
              <a:rPr lang="en-US" sz="1950" b="1" dirty="0"/>
              <a:t>        console.log(score + " -&gt; Grade B");</a:t>
            </a:r>
          </a:p>
          <a:p>
            <a:r>
              <a:rPr lang="en-US" sz="1950" b="1" dirty="0"/>
              <a:t>    } else if (score &gt;= 50) {</a:t>
            </a:r>
          </a:p>
          <a:p>
            <a:r>
              <a:rPr lang="en-US" sz="1950" b="1" dirty="0"/>
              <a:t>        console.log(score + " -&gt; Grade C");</a:t>
            </a:r>
          </a:p>
          <a:p>
            <a:r>
              <a:rPr lang="en-US" sz="1950" b="1" dirty="0"/>
              <a:t>    } else {</a:t>
            </a:r>
          </a:p>
          <a:p>
            <a:r>
              <a:rPr lang="en-US" sz="1950" b="1" dirty="0"/>
              <a:t>        console.log(score + " -&gt; FAIL");</a:t>
            </a:r>
          </a:p>
          <a:p>
            <a:r>
              <a:rPr lang="en-US" sz="1950" b="1" dirty="0"/>
              <a:t>    }</a:t>
            </a:r>
          </a:p>
          <a:p>
            <a:r>
              <a:rPr lang="en-US" sz="1950" b="1" dirty="0"/>
              <a:t>}</a:t>
            </a:r>
          </a:p>
          <a:p>
            <a:r>
              <a:rPr lang="en-US" sz="1700" b="0" dirty="0"/>
              <a:t>Output:  92 -&gt; Grade A   75 -&gt; Grade B   58 -&gt; Grade C   88 -&gt; Grade B   43 -&gt; FAIL</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2 SUMMARY: WHAT DID WE LEARN?</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Let us recap everything from Class 2:</a:t>
            </a:r>
          </a:p>
          <a:p>
            <a:endParaRPr lang="en-US" dirty="0"/>
          </a:p>
          <a:p>
            <a:pPr marL="285750" indent="-285750">
              <a:buFontTx/>
              <a:buChar char="-"/>
            </a:pPr>
            <a:r>
              <a:rPr lang="en-US" sz="1950" b="0" dirty="0"/>
              <a:t>Control flow controls which lines of code run and in what order. Without it, code is just a list of instructions that always runs the same way.</a:t>
            </a:r>
          </a:p>
          <a:p>
            <a:pPr marL="285750" indent="-285750">
              <a:buFontTx/>
              <a:buChar char="-"/>
            </a:pPr>
            <a:r>
              <a:rPr lang="en-US" sz="1950" b="0" dirty="0"/>
              <a:t>if / else runs different code depending on whether a condition is true or false.</a:t>
            </a:r>
          </a:p>
          <a:p>
            <a:pPr marL="285750" indent="-285750">
              <a:buFontTx/>
              <a:buChar char="-"/>
            </a:pPr>
            <a:r>
              <a:rPr lang="en-US" sz="1950" b="0" dirty="0"/>
              <a:t>else if lets you check multiple conditions in sequence, one after the other.</a:t>
            </a:r>
          </a:p>
          <a:p>
            <a:pPr marL="285750" indent="-285750">
              <a:buFontTx/>
              <a:buChar char="-"/>
            </a:pPr>
            <a:r>
              <a:rPr lang="en-US" sz="1950" b="0" dirty="0"/>
              <a:t>switch is a cleaner way to check one variable against many possible values.</a:t>
            </a:r>
          </a:p>
          <a:p>
            <a:pPr marL="285750" indent="-285750">
              <a:buFontTx/>
              <a:buChar char="-"/>
            </a:pPr>
            <a:r>
              <a:rPr lang="en-US" sz="1950" b="0" dirty="0"/>
              <a:t>for loops repeat code a specific number of times using a counter variable.</a:t>
            </a:r>
          </a:p>
          <a:p>
            <a:pPr marL="285750" indent="-285750">
              <a:buFontTx/>
              <a:buChar char="-"/>
            </a:pPr>
            <a:r>
              <a:rPr lang="en-US" sz="1950" b="0" dirty="0"/>
              <a:t>while loops repeat code as long as a condition stays true.</a:t>
            </a:r>
          </a:p>
          <a:p>
            <a:pPr marL="285750" indent="-285750">
              <a:buFontTx/>
              <a:buChar char="-"/>
            </a:pPr>
            <a:r>
              <a:rPr lang="en-US" sz="1950" b="0" dirty="0"/>
              <a:t>for...of loops go through every item in an array automatically.</a:t>
            </a:r>
          </a:p>
          <a:p>
            <a:endParaRPr lang="en-US" dirty="0"/>
          </a:p>
          <a:p>
            <a:r>
              <a:rPr lang="en-US" b="1" dirty="0">
                <a:solidFill>
                  <a:srgbClr val="FF6B35"/>
                </a:solidFill>
                <a:latin typeface="Arial Black" panose="020B0A04020102020204" pitchFamily="34" charset="0"/>
              </a:rPr>
              <a:t>WHAT IS COMING NEXT:</a:t>
            </a:r>
          </a:p>
          <a:p>
            <a:endParaRPr lang="en-US" dirty="0"/>
          </a:p>
          <a:p>
            <a:r>
              <a:rPr lang="en-US" sz="1950" b="0" dirty="0"/>
              <a:t>In Class 3 we will learn about functions, the most powerful idea in JavaScript. Functions let you write a block of code once and reuse it anywhere in your programme.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2 QUIZ: TEST YOUR UNDERSTANDING</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Answer these questions to check what you have learned:</a:t>
            </a:r>
          </a:p>
          <a:p>
            <a:endParaRPr lang="en-US" dirty="0"/>
          </a:p>
          <a:p>
            <a:r>
              <a:rPr lang="en-US" b="1" dirty="0">
                <a:solidFill>
                  <a:srgbClr val="FF6B35"/>
                </a:solidFill>
                <a:latin typeface="Arial Black" panose="020B0A04020102020204" pitchFamily="34" charset="0"/>
              </a:rPr>
              <a:t>QUESTION 1:</a:t>
            </a:r>
          </a:p>
          <a:p>
            <a:endParaRPr lang="en-US" dirty="0"/>
          </a:p>
          <a:p>
            <a:r>
              <a:rPr lang="en-US" sz="1950" b="0" dirty="0"/>
              <a:t>What is the difference between a for loop and a while loop? Give an example of when you would use each.</a:t>
            </a:r>
          </a:p>
          <a:p>
            <a:endParaRPr lang="en-US" dirty="0"/>
          </a:p>
          <a:p>
            <a:r>
              <a:rPr lang="en-US" b="1" dirty="0">
                <a:solidFill>
                  <a:srgbClr val="FF6B35"/>
                </a:solidFill>
                <a:latin typeface="Arial Black" panose="020B0A04020102020204" pitchFamily="34" charset="0"/>
              </a:rPr>
              <a:t>QUESTION 2:</a:t>
            </a:r>
          </a:p>
          <a:p>
            <a:endParaRPr lang="en-US" dirty="0"/>
          </a:p>
          <a:p>
            <a:r>
              <a:rPr lang="en-US" sz="1950" b="0" dirty="0"/>
              <a:t>What happens if you forget to include break inside a switch statement?</a:t>
            </a:r>
          </a:p>
          <a:p>
            <a:endParaRPr lang="en-US" dirty="0"/>
          </a:p>
          <a:p>
            <a:r>
              <a:rPr lang="en-US" b="1" dirty="0">
                <a:solidFill>
                  <a:srgbClr val="FF6B35"/>
                </a:solidFill>
                <a:latin typeface="Arial Black" panose="020B0A04020102020204" pitchFamily="34" charset="0"/>
              </a:rPr>
              <a:t>QUESTION 3:</a:t>
            </a:r>
          </a:p>
          <a:p>
            <a:endParaRPr lang="en-US" dirty="0"/>
          </a:p>
          <a:p>
            <a:r>
              <a:rPr lang="en-US" sz="1950" b="0" dirty="0"/>
              <a:t>Write a for loop that counts from 1 to 10 and prints each number to the console.</a:t>
            </a:r>
          </a:p>
          <a:p>
            <a:endParaRPr lang="en-US" dirty="0"/>
          </a:p>
          <a:p>
            <a:r>
              <a:rPr lang="en-US" b="1" dirty="0">
                <a:solidFill>
                  <a:srgbClr val="FF6B35"/>
                </a:solidFill>
                <a:latin typeface="Arial Black" panose="020B0A04020102020204" pitchFamily="34" charset="0"/>
              </a:rPr>
              <a:t>QUESTION 4:</a:t>
            </a:r>
          </a:p>
          <a:p>
            <a:endParaRPr lang="en-US" dirty="0"/>
          </a:p>
          <a:p>
            <a:r>
              <a:rPr lang="en-US" sz="1950" b="0" dirty="0"/>
              <a:t>You have a list of 5 city names. Write a for...of loop that prints each city on a new line.</a:t>
            </a:r>
          </a:p>
          <a:p>
            <a:endParaRPr lang="en-US" dirty="0"/>
          </a:p>
          <a:p>
            <a:r>
              <a:rPr lang="en-US" b="1" dirty="0">
                <a:solidFill>
                  <a:srgbClr val="FF6B35"/>
                </a:solidFill>
                <a:latin typeface="Arial Black" panose="020B0A04020102020204" pitchFamily="34" charset="0"/>
              </a:rPr>
              <a:t>QUESTION 5:</a:t>
            </a:r>
          </a:p>
          <a:p>
            <a:endParaRPr lang="en-US" dirty="0"/>
          </a:p>
          <a:p>
            <a:r>
              <a:rPr lang="en-US" sz="1950" b="0" dirty="0"/>
              <a:t>A student scores 64. Using an if/else if/else statement, what grade should they receive? (A = 90+, B = 70+, C = 50+, F = below 50)</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3: FUNCTIONS</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2400" b="0" dirty="0"/>
              <a:t>Function Declarations | Expressions | Arrow Functions | Scope</a:t>
            </a:r>
          </a:p>
          <a:p>
            <a:endParaRPr lang="en-US" dirty="0"/>
          </a:p>
          <a:p>
            <a:r>
              <a:rPr lang="en-US" sz="2000" b="0" dirty="0"/>
              <a:t>By the end of this class, you will be able to:</a:t>
            </a:r>
          </a:p>
          <a:p>
            <a:pPr marL="285750" indent="-285750">
              <a:buFontTx/>
              <a:buChar char="-"/>
            </a:pPr>
            <a:r>
              <a:rPr lang="en-US" sz="1950" b="0" dirty="0"/>
              <a:t>Create and call a function declaration</a:t>
            </a:r>
          </a:p>
          <a:p>
            <a:pPr marL="285750" indent="-285750">
              <a:buFontTx/>
              <a:buChar char="-"/>
            </a:pPr>
            <a:r>
              <a:rPr lang="en-US" sz="1950" b="0" dirty="0"/>
              <a:t>Understand the difference between declarations and expressions</a:t>
            </a:r>
          </a:p>
          <a:p>
            <a:pPr marL="285750" indent="-285750">
              <a:buFontTx/>
              <a:buChar char="-"/>
            </a:pPr>
            <a:r>
              <a:rPr lang="en-US" sz="1950" b="0" dirty="0"/>
              <a:t>Write clean, modern arrow functions</a:t>
            </a:r>
          </a:p>
          <a:p>
            <a:pPr marL="285750" indent="-285750">
              <a:buFontTx/>
              <a:buChar char="-"/>
            </a:pPr>
            <a:r>
              <a:rPr lang="en-US" sz="1950" b="0" dirty="0"/>
              <a:t>Explain the difference between local and global scope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WHAT IS A FUNCTION?</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2000" b="0" dirty="0"/>
              <a:t>A function is a block of code that you write once and can run as many times as you want. Instead of writing the same instructions repeatedly, you wrap them in a function and just call it when needed.</a:t>
            </a:r>
          </a:p>
          <a:p>
            <a:endParaRPr lang="en-US" dirty="0"/>
          </a:p>
          <a:p>
            <a:r>
              <a:rPr lang="en-US" b="1" dirty="0">
                <a:solidFill>
                  <a:srgbClr val="FF6B35"/>
                </a:solidFill>
                <a:latin typeface="Arial Black" panose="020B0A04020102020204" pitchFamily="34" charset="0"/>
              </a:rPr>
              <a:t>REAL LIFE ANALOGY:</a:t>
            </a:r>
          </a:p>
          <a:p>
            <a:endParaRPr lang="en-US" dirty="0"/>
          </a:p>
          <a:p>
            <a:r>
              <a:rPr lang="en-US" sz="1950" b="0" dirty="0"/>
              <a:t>Think of a blender. You put in your ingredients (the input), press the button (call the function), and get your smoothie (the output). You do not rewire the blender every time. You just press the button and it does its job.</a:t>
            </a:r>
          </a:p>
          <a:p>
            <a:endParaRPr lang="en-US" dirty="0"/>
          </a:p>
          <a:p>
            <a:r>
              <a:rPr lang="en-US" b="1" dirty="0">
                <a:solidFill>
                  <a:srgbClr val="FF6B35"/>
                </a:solidFill>
                <a:latin typeface="Arial Black" panose="020B0A04020102020204" pitchFamily="34" charset="0"/>
              </a:rPr>
              <a:t>WHY USE FUNCTIONS?</a:t>
            </a:r>
          </a:p>
          <a:p>
            <a:endParaRPr lang="en-US" dirty="0"/>
          </a:p>
          <a:p>
            <a:pPr marL="285750" indent="-285750">
              <a:buFontTx/>
              <a:buChar char="-"/>
            </a:pPr>
            <a:r>
              <a:rPr lang="en-US" sz="1950" b="1" dirty="0"/>
              <a:t>Reusability:</a:t>
            </a:r>
            <a:r>
              <a:rPr lang="en-US" sz="1950" dirty="0"/>
              <a:t> Write the code once. Use it everywhere.</a:t>
            </a:r>
          </a:p>
          <a:p>
            <a:pPr marL="285750" indent="-285750">
              <a:buFontTx/>
              <a:buChar char="-"/>
            </a:pPr>
            <a:r>
              <a:rPr lang="en-US" sz="1950" b="1" dirty="0"/>
              <a:t>Organisation:</a:t>
            </a:r>
            <a:r>
              <a:rPr lang="en-US" sz="1950" dirty="0"/>
              <a:t> Break a big problem into smaller, manageable pieces.</a:t>
            </a:r>
          </a:p>
          <a:p>
            <a:pPr marL="285750" indent="-285750">
              <a:buFontTx/>
              <a:buChar char="-"/>
            </a:pPr>
            <a:r>
              <a:rPr lang="en-US" sz="1950" b="1" dirty="0"/>
              <a:t>Easier to fix:</a:t>
            </a:r>
            <a:r>
              <a:rPr lang="en-US" sz="1950" dirty="0"/>
              <a:t> Fix a bug in one place and it is fixed everywhere.</a:t>
            </a:r>
          </a:p>
          <a:p>
            <a:pPr marL="285750" indent="-285750">
              <a:buFontTx/>
              <a:buChar char="-"/>
            </a:pPr>
            <a:r>
              <a:rPr lang="en-US" sz="1950" b="1" dirty="0"/>
              <a:t>Readability:</a:t>
            </a:r>
            <a:r>
              <a:rPr lang="en-US" sz="1950" dirty="0"/>
              <a:t> Code with well named functions is much easier to read and understand.</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FUNCTION DECLARATIONS: THE CLASSIC WAY</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 function declaration creates a named function using the function keyword.</a:t>
            </a:r>
          </a:p>
          <a:p>
            <a:endParaRPr lang="en-US" dirty="0"/>
          </a:p>
          <a:p>
            <a:r>
              <a:rPr lang="en-US" b="1" dirty="0">
                <a:solidFill>
                  <a:srgbClr val="FF6B35"/>
                </a:solidFill>
                <a:latin typeface="Arial Black" panose="020B0A04020102020204" pitchFamily="34" charset="0"/>
              </a:rPr>
              <a:t>BASIC STRUCTURE:</a:t>
            </a:r>
          </a:p>
          <a:p>
            <a:endParaRPr lang="en-US" dirty="0"/>
          </a:p>
          <a:p>
            <a:r>
              <a:rPr lang="en-US" sz="1950" b="1" dirty="0"/>
              <a:t>function functionName(parameters) {</a:t>
            </a:r>
          </a:p>
          <a:p>
            <a:r>
              <a:rPr lang="en-US" sz="1950" b="1" dirty="0"/>
              <a:t>    // code that runs when you call the function</a:t>
            </a:r>
          </a:p>
          <a:p>
            <a:r>
              <a:rPr lang="en-US" sz="1950" b="1" dirty="0"/>
              <a:t>}</a:t>
            </a:r>
          </a:p>
          <a:p>
            <a:endParaRPr lang="en-US" dirty="0"/>
          </a:p>
          <a:p>
            <a:r>
              <a:rPr lang="en-US" b="1" dirty="0">
                <a:solidFill>
                  <a:srgbClr val="FF6B35"/>
                </a:solidFill>
                <a:latin typeface="Arial Black" panose="020B0A04020102020204" pitchFamily="34" charset="0"/>
              </a:rPr>
              <a:t>EXAMPLE 1: No inputs</a:t>
            </a:r>
          </a:p>
          <a:p>
            <a:endParaRPr lang="en-US" dirty="0"/>
          </a:p>
          <a:p>
            <a:r>
              <a:rPr lang="en-US" sz="1950" b="1" dirty="0"/>
              <a:t>function sayHello() {</a:t>
            </a:r>
          </a:p>
          <a:p>
            <a:r>
              <a:rPr lang="en-US" sz="1950" b="1" dirty="0"/>
              <a:t>    console.log("Hello, everyone!");</a:t>
            </a:r>
          </a:p>
          <a:p>
            <a:r>
              <a:rPr lang="en-US" sz="1950" b="1" dirty="0"/>
              <a:t>}</a:t>
            </a:r>
          </a:p>
          <a:p>
            <a:r>
              <a:rPr lang="en-US" sz="1950" b="1" dirty="0"/>
              <a:t>sayHello();   // Output: Hello, everyone!</a:t>
            </a:r>
          </a:p>
          <a:p>
            <a:endParaRPr lang="en-US" dirty="0"/>
          </a:p>
          <a:p>
            <a:r>
              <a:rPr lang="en-US" b="1" dirty="0">
                <a:solidFill>
                  <a:srgbClr val="FF6B35"/>
                </a:solidFill>
                <a:latin typeface="Arial Black" panose="020B0A04020102020204" pitchFamily="34" charset="0"/>
              </a:rPr>
              <a:t>EXAMPLE 2: With a parameter (input)</a:t>
            </a:r>
          </a:p>
          <a:p>
            <a:endParaRPr lang="en-US" dirty="0"/>
          </a:p>
          <a:p>
            <a:r>
              <a:rPr lang="en-US" sz="1950" b="1" dirty="0"/>
              <a:t>function greet(name) {</a:t>
            </a:r>
          </a:p>
          <a:p>
            <a:r>
              <a:rPr lang="en-US" sz="1950" b="1" dirty="0"/>
              <a:t>    console.log("Welcome, " + name + "!");</a:t>
            </a:r>
          </a:p>
          <a:p>
            <a:r>
              <a:rPr lang="en-US" sz="1950" b="1" dirty="0"/>
              <a:t>}</a:t>
            </a:r>
          </a:p>
          <a:p>
            <a:r>
              <a:rPr lang="en-US" sz="1950" b="1" dirty="0"/>
              <a:t>greet(&amp;quot;Amara&amp;quot;);   // Welcome, Amara!</a:t>
            </a:r>
          </a:p>
          <a:p>
            <a:r>
              <a:rPr lang="en-US" sz="1950" b="1" dirty="0"/>
              <a:t>greet(&amp;quot;Bola&amp;quot;);    // Welcome, Bola!</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THE RETURN KEYWORD: GETTING AN ANSWER BACK</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 function can send a result back to whoever called it using the return keyword. This makes functions much more powerful because you can use the result in other parts of your code.</a:t>
            </a:r>
          </a:p>
          <a:p>
            <a:endParaRPr lang="en-US" dirty="0"/>
          </a:p>
          <a:p>
            <a:r>
              <a:rPr lang="en-US" b="1" dirty="0">
                <a:solidFill>
                  <a:srgbClr val="FF6B35"/>
                </a:solidFill>
                <a:latin typeface="Arial Black" panose="020B0A04020102020204" pitchFamily="34" charset="0"/>
              </a:rPr>
              <a:t>EXAMPLE: Adding Two Numbers</a:t>
            </a:r>
          </a:p>
          <a:p>
            <a:endParaRPr lang="en-US" dirty="0"/>
          </a:p>
          <a:p>
            <a:r>
              <a:rPr lang="en-US" sz="1950" b="1" dirty="0"/>
              <a:t>function addNumbers(a, b) {</a:t>
            </a:r>
          </a:p>
          <a:p>
            <a:r>
              <a:rPr lang="en-US" sz="1950" b="1" dirty="0"/>
              <a:t>    return a + b;</a:t>
            </a:r>
          </a:p>
          <a:p>
            <a:r>
              <a:rPr lang="en-US" sz="1950" b="1" dirty="0"/>
              <a:t>}</a:t>
            </a:r>
          </a:p>
          <a:p>
            <a:r>
              <a:rPr lang="en-US" sz="1950" b="1" dirty="0"/>
              <a:t>let result = addNumbers(10, 5);</a:t>
            </a:r>
          </a:p>
          <a:p>
            <a:r>
              <a:rPr lang="en-US" sz="1950" b="1" dirty="0"/>
              <a:t>console.log(result);   // Output: 15</a:t>
            </a:r>
          </a:p>
          <a:p>
            <a:endParaRPr lang="en-US" dirty="0"/>
          </a:p>
          <a:p>
            <a:r>
              <a:rPr lang="en-US" b="1" dirty="0">
                <a:solidFill>
                  <a:srgbClr val="FF6B35"/>
                </a:solidFill>
                <a:latin typeface="Arial Black" panose="020B0A04020102020204" pitchFamily="34" charset="0"/>
              </a:rPr>
              <a:t>EXAMPLE: Checking If Someone Is an Adult</a:t>
            </a:r>
          </a:p>
          <a:p>
            <a:endParaRPr lang="en-US" dirty="0"/>
          </a:p>
          <a:p>
            <a:r>
              <a:rPr lang="en-US" sz="1950" b="1" dirty="0"/>
              <a:t>function isAdult(age) {</a:t>
            </a:r>
          </a:p>
          <a:p>
            <a:r>
              <a:rPr lang="en-US" sz="1950" b="1" dirty="0"/>
              <a:t>    return age &gt;= 18;   // returns true or false</a:t>
            </a:r>
          </a:p>
          <a:p>
            <a:r>
              <a:rPr lang="en-US" sz="1950" b="1" dirty="0"/>
              <a:t>}</a:t>
            </a:r>
          </a:p>
          <a:p>
            <a:r>
              <a:rPr lang="en-US" sz="1950" b="1" dirty="0"/>
              <a:t>console.log(isAdult(20));   // true</a:t>
            </a:r>
          </a:p>
          <a:p>
            <a:r>
              <a:rPr lang="en-US" sz="1950" b="1" dirty="0"/>
              <a:t>console.log(isAdult(15));   // false</a:t>
            </a:r>
          </a:p>
          <a:p>
            <a:endParaRPr lang="en-US" dirty="0"/>
          </a:p>
          <a:p>
            <a:r>
              <a:rPr lang="en-US" b="1" dirty="0">
                <a:solidFill>
                  <a:srgbClr val="FF6B35"/>
                </a:solidFill>
                <a:latin typeface="Arial Black" panose="020B0A04020102020204" pitchFamily="34" charset="0"/>
              </a:rPr>
              <a:t>REMEMBER:</a:t>
            </a:r>
          </a:p>
          <a:p>
            <a:endParaRPr lang="en-US" dirty="0"/>
          </a:p>
          <a:p>
            <a:r>
              <a:rPr lang="en-US" sz="1950" b="0" dirty="0"/>
              <a:t>return stops the function immediately. Any code written after return will not run. You can return any data type: a number, string, boolean, or even another variable.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FUNCTION EXPRESSIONS: FUNCTIONS IN VARIABLES</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 function expression stores a function inside a variable. It works exactly the same as a declaration, just written differently.</a:t>
            </a:r>
          </a:p>
          <a:p>
            <a:endParaRPr lang="en-US" dirty="0"/>
          </a:p>
          <a:p>
            <a:r>
              <a:rPr lang="en-US" b="1" dirty="0">
                <a:solidFill>
                  <a:srgbClr val="FF6B35"/>
                </a:solidFill>
                <a:latin typeface="Arial Black" panose="020B0A04020102020204" pitchFamily="34" charset="0"/>
              </a:rPr>
              <a:t>DECLARATION (what we just learned):</a:t>
            </a:r>
          </a:p>
          <a:p>
            <a:endParaRPr lang="en-US" dirty="0"/>
          </a:p>
          <a:p>
            <a:r>
              <a:rPr lang="en-US" sz="1950" b="1" dirty="0"/>
              <a:t>function greet(name) {</a:t>
            </a:r>
          </a:p>
          <a:p>
            <a:r>
              <a:rPr lang="en-US" sz="1950" b="1" dirty="0"/>
              <a:t>    return "Hi " + name;</a:t>
            </a:r>
          </a:p>
          <a:p>
            <a:r>
              <a:rPr lang="en-US" sz="1950" b="1" dirty="0"/>
              <a:t>}</a:t>
            </a:r>
          </a:p>
          <a:p>
            <a:endParaRPr lang="en-US" dirty="0"/>
          </a:p>
          <a:p>
            <a:r>
              <a:rPr lang="en-US" b="1" dirty="0">
                <a:solidFill>
                  <a:srgbClr val="FF6B35"/>
                </a:solidFill>
                <a:latin typeface="Arial Black" panose="020B0A04020102020204" pitchFamily="34" charset="0"/>
              </a:rPr>
              <a:t>EXPRESSION (the same thing, stored in a variable):</a:t>
            </a:r>
          </a:p>
          <a:p>
            <a:endParaRPr lang="en-US" dirty="0"/>
          </a:p>
          <a:p>
            <a:r>
              <a:rPr lang="en-US" sz="1950" b="1" dirty="0"/>
              <a:t>const greet = function(name) {</a:t>
            </a:r>
          </a:p>
          <a:p>
            <a:r>
              <a:rPr lang="en-US" sz="1950" b="1" dirty="0"/>
              <a:t>    return "Hi " + name;</a:t>
            </a:r>
          </a:p>
          <a:p>
            <a:r>
              <a:rPr lang="en-US" sz="1950" b="1" dirty="0"/>
              <a:t>};</a:t>
            </a:r>
          </a:p>
          <a:p>
            <a:r>
              <a:rPr lang="en-US" sz="1950" b="1" dirty="0"/>
              <a:t>console.log(greet(&amp;quot;Esther&amp;quot;));   // Hi Esther</a:t>
            </a:r>
          </a:p>
          <a:p>
            <a:endParaRPr lang="en-US" dirty="0"/>
          </a:p>
          <a:p>
            <a:r>
              <a:rPr lang="en-US" b="1" dirty="0">
                <a:solidFill>
                  <a:srgbClr val="FF6B35"/>
                </a:solidFill>
                <a:latin typeface="Arial Black" panose="020B0A04020102020204" pitchFamily="34" charset="0"/>
              </a:rPr>
              <a:t>KEY DIFFERENCE TO KNOW:</a:t>
            </a:r>
          </a:p>
          <a:p>
            <a:endParaRPr lang="en-US" dirty="0"/>
          </a:p>
          <a:p>
            <a:r>
              <a:rPr lang="en-US" sz="1950" b="0" dirty="0"/>
              <a:t>Function declarations can be called before they appear in the code (JavaScript moves them to the top for you). Function expressions cannot. You must define the expression before you call it.</a:t>
            </a:r>
          </a:p>
          <a:p>
            <a:endParaRPr lang="en-US" dirty="0"/>
          </a:p>
          <a:p>
            <a:r>
              <a:rPr lang="en-US" sz="1950" b="0" dirty="0"/>
              <a:t>For beginners, both styles work fine. Use whichever feels clearer to you. Most modern code uses expressions and arrow functions.</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ARROW FUNCTIONS: THE MODERN SHORTCUT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Arrow functions are a shorter, cleaner way to write functions introduced in modern JavaScript (ES6). They use the =&gt; symbol which looks like an arrow.</a:t>
            </a:r>
          </a:p>
          <a:p>
            <a:endParaRPr lang="en-US" dirty="0"/>
          </a:p>
          <a:p>
            <a:r>
              <a:rPr lang="en-US" b="1" dirty="0">
                <a:solidFill>
                  <a:srgbClr val="FF6B35"/>
                </a:solidFill>
                <a:latin typeface="Arial Black" panose="020B0A04020102020204" pitchFamily="34" charset="0"/>
              </a:rPr>
              <a:t>FROM DECLARATION TO ARROW (same function, getting shorter):</a:t>
            </a:r>
          </a:p>
          <a:p>
            <a:endParaRPr lang="en-US" dirty="0"/>
          </a:p>
          <a:p>
            <a:r>
              <a:rPr lang="en-US" sz="1950" b="1" dirty="0"/>
              <a:t>Regular:   function multiply(a, b) { return a * b; }</a:t>
            </a:r>
          </a:p>
          <a:p>
            <a:r>
              <a:rPr lang="en-US" sz="1950" b="1" dirty="0"/>
              <a:t>Expression: const multiply = function(a, b) { return a * b; };</a:t>
            </a:r>
          </a:p>
          <a:p>
            <a:r>
              <a:rPr lang="en-US" sz="1950" b="1" dirty="0"/>
              <a:t>Arrow:      const multiply = (a, b) =&gt; a * b;</a:t>
            </a:r>
          </a:p>
          <a:p>
            <a:endParaRPr lang="en-US" dirty="0"/>
          </a:p>
          <a:p>
            <a:r>
              <a:rPr lang="en-US" b="1" dirty="0">
                <a:solidFill>
                  <a:srgbClr val="FF6B35"/>
                </a:solidFill>
                <a:latin typeface="Arial Black" panose="020B0A04020102020204" pitchFamily="34" charset="0"/>
              </a:rPr>
              <a:t>RULES FOR ARROW FUNCTIONS:</a:t>
            </a:r>
          </a:p>
          <a:p>
            <a:endParaRPr lang="en-US" dirty="0"/>
          </a:p>
          <a:p>
            <a:pPr marL="285750" indent="-285750">
              <a:buFontTx/>
              <a:buChar char="-"/>
            </a:pPr>
            <a:r>
              <a:rPr lang="en-US" sz="1950" b="0" dirty="0"/>
              <a:t>If the function body is one line, you can remove the curly braces and return keyword.</a:t>
            </a:r>
          </a:p>
          <a:p>
            <a:pPr marL="285750" indent="-285750">
              <a:buFontTx/>
              <a:buChar char="-"/>
            </a:pPr>
            <a:r>
              <a:rPr lang="en-US" sz="1950" b="0" dirty="0"/>
              <a:t>If there is only one parameter, you can remove the brackets around it.</a:t>
            </a:r>
          </a:p>
          <a:p>
            <a:r>
              <a:rPr lang="en-US" sz="1950" b="1" dirty="0"/>
              <a:t>const double = num =&gt; num * 2;   // one parameter, no brackets needed</a:t>
            </a:r>
          </a:p>
          <a:p>
            <a:endParaRPr lang="en-US" dirty="0"/>
          </a:p>
          <a:p>
            <a:r>
              <a:rPr lang="en-US" b="1" dirty="0">
                <a:solidFill>
                  <a:srgbClr val="FF6B35"/>
                </a:solidFill>
                <a:latin typeface="Arial Black" panose="020B0A04020102020204" pitchFamily="34" charset="0"/>
              </a:rPr>
              <a:t>EXAMPLE WITH MULTIPLE LINES:</a:t>
            </a:r>
          </a:p>
          <a:p>
            <a:endParaRPr lang="en-US" dirty="0"/>
          </a:p>
          <a:p>
            <a:r>
              <a:rPr lang="en-US" sz="1950" b="1" dirty="0"/>
              <a:t>const checkAge = (age) =&gt; {</a:t>
            </a:r>
          </a:p>
          <a:p>
            <a:r>
              <a:rPr lang="en-US" sz="1950" b="1" dirty="0"/>
              <a:t>    if (age &gt;= 18) return "Adult";</a:t>
            </a:r>
          </a:p>
          <a:p>
            <a:r>
              <a:rPr lang="en-US" sz="1950" b="1" dirty="0"/>
              <a:t>    return "Minor";</a:t>
            </a:r>
          </a:p>
          <a:p>
            <a:r>
              <a:rPr lang="en-US" sz="1950" b="1" dirty="0"/>
              <a:t>};</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SCOPE: WHERE CAN YOUR VARIABLES LIVE?</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Scope determines where in your code a variable can be seen and used. Not all variables are available everywhere.</a:t>
            </a:r>
          </a:p>
          <a:p>
            <a:endParaRPr lang="en-US" dirty="0"/>
          </a:p>
          <a:p>
            <a:r>
              <a:rPr lang="en-US" b="1" dirty="0">
                <a:solidFill>
                  <a:srgbClr val="FF6B35"/>
                </a:solidFill>
                <a:latin typeface="Arial Black" panose="020B0A04020102020204" pitchFamily="34" charset="0"/>
              </a:rPr>
              <a:t>GLOBAL SCOPE:</a:t>
            </a:r>
          </a:p>
          <a:p>
            <a:endParaRPr lang="en-US" dirty="0"/>
          </a:p>
          <a:p>
            <a:r>
              <a:rPr lang="en-US" sz="1950" b="0" dirty="0"/>
              <a:t>A variable declared outside any function is global. It can be used anywhere in your file.</a:t>
            </a:r>
          </a:p>
          <a:p>
            <a:r>
              <a:rPr lang="en-US" sz="1950" b="1" dirty="0"/>
              <a:t>const appName = &amp;quot;CodeLearn&amp;quot;;   // global</a:t>
            </a:r>
          </a:p>
          <a:p>
            <a:r>
              <a:rPr lang="en-US" sz="1950" b="1" dirty="0"/>
              <a:t>function showApp() { console.log(appName); }   // works! appName is available</a:t>
            </a:r>
          </a:p>
          <a:p>
            <a:endParaRPr lang="en-US" dirty="0"/>
          </a:p>
          <a:p>
            <a:r>
              <a:rPr lang="en-US" b="1" dirty="0">
                <a:solidFill>
                  <a:srgbClr val="FF6B35"/>
                </a:solidFill>
                <a:latin typeface="Arial Black" panose="020B0A04020102020204" pitchFamily="34" charset="0"/>
              </a:rPr>
              <a:t>LOCAL SCOPE:</a:t>
            </a:r>
          </a:p>
          <a:p>
            <a:endParaRPr lang="en-US" dirty="0"/>
          </a:p>
          <a:p>
            <a:r>
              <a:rPr lang="en-US" sz="1950" b="0" dirty="0"/>
              <a:t>A variable declared inside a function is local. It only exists inside that function. It disappears when the function ends.</a:t>
            </a:r>
          </a:p>
          <a:p>
            <a:r>
              <a:rPr lang="en-US" sz="1950" b="1" dirty="0"/>
              <a:t>function calculateFee() {</a:t>
            </a:r>
          </a:p>
          <a:p>
            <a:r>
              <a:rPr lang="en-US" sz="1950" b="1" dirty="0"/>
              <a:t>    const fee = 50000;   // local to this function</a:t>
            </a:r>
          </a:p>
          <a:p>
            <a:r>
              <a:rPr lang="en-US" sz="1950" b="1" dirty="0"/>
              <a:t>    return fee;</a:t>
            </a:r>
          </a:p>
          <a:p>
            <a:r>
              <a:rPr lang="en-US" sz="1950" b="1" dirty="0"/>
              <a:t>}</a:t>
            </a:r>
          </a:p>
          <a:p>
            <a:r>
              <a:rPr lang="en-US" sz="1950" b="1" dirty="0"/>
              <a:t>console.log(fee);   // ERROR! fee does not exist outside the function</a:t>
            </a:r>
          </a:p>
          <a:p>
            <a:endParaRPr lang="en-US" dirty="0"/>
          </a:p>
          <a:p>
            <a:r>
              <a:rPr lang="en-US" b="1" dirty="0">
                <a:solidFill>
                  <a:srgbClr val="FF6B35"/>
                </a:solidFill>
                <a:latin typeface="Arial Black" panose="020B0A04020102020204" pitchFamily="34" charset="0"/>
              </a:rPr>
              <a:t>SIMPLE RULE TO REMEMBER:</a:t>
            </a:r>
          </a:p>
          <a:p>
            <a:endParaRPr lang="en-US" dirty="0"/>
          </a:p>
          <a:p>
            <a:r>
              <a:rPr lang="en-US" sz="1950" b="0" dirty="0"/>
              <a:t>Think of scope like a building. A global variable is in the lobby, visible to everyone. A local variable is in a private room. Only people inside that room can see it.</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CASE STUDY: GRADE CALCULATOR APP USING FUNCTIONS</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Let us combine everything from Class 3 to build a mini grade calculator using arrow functions.</a:t>
            </a:r>
          </a:p>
          <a:p>
            <a:endParaRPr lang="en-US" dirty="0"/>
          </a:p>
          <a:p>
            <a:r>
              <a:rPr lang="en-US" b="1" dirty="0">
                <a:solidFill>
                  <a:srgbClr val="FF6B35"/>
                </a:solidFill>
                <a:latin typeface="Arial Black" panose="020B0A04020102020204" pitchFamily="34" charset="0"/>
              </a:rPr>
              <a:t>CODE EXAMPLE:</a:t>
            </a:r>
          </a:p>
          <a:p>
            <a:endParaRPr lang="en-US" dirty="0"/>
          </a:p>
          <a:p>
            <a:r>
              <a:rPr lang="en-US" sz="1950" b="1" dirty="0"/>
              <a:t>const getGrade = (score) =&gt; {</a:t>
            </a:r>
          </a:p>
          <a:p>
            <a:r>
              <a:rPr lang="en-US" sz="1950" b="1" dirty="0"/>
              <a:t>    if (score &gt;= 90) return "A";</a:t>
            </a:r>
          </a:p>
          <a:p>
            <a:r>
              <a:rPr lang="en-US" sz="1950" b="1" dirty="0"/>
              <a:t>    else if (score &gt;= 75) return "B";</a:t>
            </a:r>
          </a:p>
          <a:p>
            <a:r>
              <a:rPr lang="en-US" sz="1950" b="1" dirty="0"/>
              <a:t>    else if (score &gt;= 60) return "C";</a:t>
            </a:r>
          </a:p>
          <a:p>
            <a:r>
              <a:rPr lang="en-US" sz="1950" b="1" dirty="0"/>
              <a:t>    else return "F";</a:t>
            </a:r>
          </a:p>
          <a:p>
            <a:r>
              <a:rPr lang="en-US" sz="1950" b="1" dirty="0"/>
              <a:t>};</a:t>
            </a:r>
          </a:p>
          <a:p>
            <a:r>
              <a:rPr lang="en-US" sz="1950" b="1" dirty="0"/>
              <a:t>const printResult = (name, score) =&gt; {</a:t>
            </a:r>
          </a:p>
          <a:p>
            <a:r>
              <a:rPr lang="en-US" sz="1950" b="1" dirty="0"/>
              <a:t>    const grade = getGrade(score);</a:t>
            </a:r>
          </a:p>
          <a:p>
            <a:r>
              <a:rPr lang="en-US" sz="1950" b="1" dirty="0"/>
              <a:t>    console.log(name + " scored " + score + ", Grade: " + grade);</a:t>
            </a:r>
          </a:p>
          <a:p>
            <a:r>
              <a:rPr lang="en-US" sz="1950" b="1" dirty="0"/>
              <a:t>};</a:t>
            </a:r>
          </a:p>
          <a:p>
            <a:r>
              <a:rPr lang="en-US" sz="1950" b="1" dirty="0"/>
              <a:t>printResult(&amp;quot;Amara&amp;quot;, 92);   // Amara scored 92, Grade: A</a:t>
            </a:r>
          </a:p>
          <a:p>
            <a:r>
              <a:rPr lang="en-US" sz="1950" b="1" dirty="0"/>
              <a:t>printResult(&amp;quot;Bola&amp;quot;, 71);    // Bola scored 71, Grade: B</a:t>
            </a:r>
          </a:p>
          <a:p>
            <a:endParaRPr lang="en-US" dirty="0"/>
          </a:p>
          <a:p>
            <a:r>
              <a:rPr lang="en-US" sz="1950" b="0" dirty="0"/>
              <a:t>Notice: printResult calls getGrade inside it. Functions can call other functions. This is called function composition and it is very powerful.</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3 SUMMARY: WHAT DID WE LEARN?</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Let us recap everything from Class 3:</a:t>
            </a:r>
          </a:p>
          <a:p>
            <a:endParaRPr lang="en-US" dirty="0"/>
          </a:p>
          <a:p>
            <a:pPr marL="285750" indent="-285750">
              <a:buFontTx/>
              <a:buChar char="-"/>
            </a:pPr>
            <a:r>
              <a:rPr lang="en-US" sz="1950" b="0" dirty="0"/>
              <a:t>A function is a reusable block of code. You define it once and call it whenever you need it.</a:t>
            </a:r>
          </a:p>
          <a:p>
            <a:pPr marL="285750" indent="-285750">
              <a:buFontTx/>
              <a:buChar char="-"/>
            </a:pPr>
            <a:r>
              <a:rPr lang="en-US" sz="1950" b="0" dirty="0"/>
              <a:t>Function declarations use the function keyword. They can be called before they are defined.</a:t>
            </a:r>
          </a:p>
          <a:p>
            <a:pPr marL="285750" indent="-285750">
              <a:buFontTx/>
              <a:buChar char="-"/>
            </a:pPr>
            <a:r>
              <a:rPr lang="en-US" sz="1950" b="0" dirty="0"/>
              <a:t>Function expressions store a function inside a variable. They must be defined before they are called.</a:t>
            </a:r>
          </a:p>
          <a:p>
            <a:pPr marL="285750" indent="-285750">
              <a:buFontTx/>
              <a:buChar char="-"/>
            </a:pPr>
            <a:r>
              <a:rPr lang="en-US" sz="1950" b="0" dirty="0"/>
              <a:t>Arrow functions use the =&gt; symbol. They are shorter and cleaner. They are the modern standard.</a:t>
            </a:r>
          </a:p>
          <a:p>
            <a:pPr marL="285750" indent="-285750">
              <a:buFontTx/>
              <a:buChar char="-"/>
            </a:pPr>
            <a:r>
              <a:rPr lang="en-US" sz="1950" b="0" dirty="0"/>
              <a:t>Parameters are inputs you pass into a function. Return sends a result back out.</a:t>
            </a:r>
          </a:p>
          <a:p>
            <a:pPr marL="285750" indent="-285750">
              <a:buFontTx/>
              <a:buChar char="-"/>
            </a:pPr>
            <a:r>
              <a:rPr lang="en-US" sz="1950" b="0" dirty="0"/>
              <a:t>Global scope means a variable is available everywhere. Local scope means it only lives inside a function.</a:t>
            </a:r>
          </a:p>
          <a:p>
            <a:endParaRPr lang="en-US" dirty="0"/>
          </a:p>
          <a:p>
            <a:r>
              <a:rPr lang="en-US" b="1" dirty="0">
                <a:solidFill>
                  <a:srgbClr val="FF6B35"/>
                </a:solidFill>
                <a:latin typeface="Arial Black" panose="020B0A04020102020204" pitchFamily="34" charset="0"/>
              </a:rPr>
              <a:t>WHAT IS COMING IN WEEK 2:</a:t>
            </a:r>
          </a:p>
          <a:p>
            <a:endParaRPr lang="en-US" dirty="0"/>
          </a:p>
          <a:p>
            <a:pPr marL="285750" indent="-285750">
              <a:buFontTx/>
              <a:buChar char="-"/>
            </a:pPr>
            <a:r>
              <a:rPr lang="en-US" sz="1950" b="0" dirty="0"/>
              <a:t>Arrays and array methods (.map, .filter, .reduce)</a:t>
            </a:r>
          </a:p>
          <a:p>
            <a:pPr marL="285750" indent="-285750">
              <a:buFontTx/>
              <a:buChar char="-"/>
            </a:pPr>
            <a:r>
              <a:rPr lang="en-US" sz="1950" b="0" dirty="0"/>
              <a:t>Objects and JSON for real world data structures</a:t>
            </a:r>
          </a:p>
          <a:p>
            <a:pPr marL="285750" indent="-285750">
              <a:buFontTx/>
              <a:buChar char="-"/>
            </a:pPr>
            <a:r>
              <a:rPr lang="en-US" sz="1950" b="1" dirty="0"/>
              <a:t>DOM Manipulation:</a:t>
            </a:r>
            <a:r>
              <a:rPr lang="en-US" sz="1950" dirty="0"/>
              <a:t> changing what users see on the page with JavaScript</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CLASS 3 QUIZ: TEST YOUR UNDERSTANDING</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Answer these questions to check what you have learned:</a:t>
            </a:r>
          </a:p>
          <a:p>
            <a:endParaRPr lang="en-US" dirty="0"/>
          </a:p>
          <a:p>
            <a:r>
              <a:rPr lang="en-US" b="1" dirty="0">
                <a:solidFill>
                  <a:srgbClr val="FF6B35"/>
                </a:solidFill>
                <a:latin typeface="Arial Black" panose="020B0A04020102020204" pitchFamily="34" charset="0"/>
              </a:rPr>
              <a:t>QUESTION 1:</a:t>
            </a:r>
          </a:p>
          <a:p>
            <a:endParaRPr lang="en-US" dirty="0"/>
          </a:p>
          <a:p>
            <a:r>
              <a:rPr lang="en-US" sz="1950" b="0" dirty="0"/>
              <a:t>What is the difference between a function declaration and a function expression?</a:t>
            </a:r>
          </a:p>
          <a:p>
            <a:endParaRPr lang="en-US" dirty="0"/>
          </a:p>
          <a:p>
            <a:r>
              <a:rPr lang="en-US" b="1" dirty="0">
                <a:solidFill>
                  <a:srgbClr val="FF6B35"/>
                </a:solidFill>
                <a:latin typeface="Arial Black" panose="020B0A04020102020204" pitchFamily="34" charset="0"/>
              </a:rPr>
              <a:t>QUESTION 2:</a:t>
            </a:r>
          </a:p>
          <a:p>
            <a:endParaRPr lang="en-US" dirty="0"/>
          </a:p>
          <a:p>
            <a:r>
              <a:rPr lang="en-US" sz="1950" b="0" dirty="0"/>
              <a:t>Rewrite this arrow function in its shortest form:   const square = (n) =&gt; { return n * n; };</a:t>
            </a:r>
          </a:p>
          <a:p>
            <a:endParaRPr lang="en-US" dirty="0"/>
          </a:p>
          <a:p>
            <a:r>
              <a:rPr lang="en-US" b="1" dirty="0">
                <a:solidFill>
                  <a:srgbClr val="FF6B35"/>
                </a:solidFill>
                <a:latin typeface="Arial Black" panose="020B0A04020102020204" pitchFamily="34" charset="0"/>
              </a:rPr>
              <a:t>QUESTION 3:</a:t>
            </a:r>
          </a:p>
          <a:p>
            <a:endParaRPr lang="en-US" dirty="0"/>
          </a:p>
          <a:p>
            <a:r>
              <a:rPr lang="en-US" sz="1950" b="0" dirty="0"/>
              <a:t>What will happen when this code runs? function test() { let msg = 'Hello'; }   console.log(msg);</a:t>
            </a:r>
          </a:p>
          <a:p>
            <a:endParaRPr lang="en-US" dirty="0"/>
          </a:p>
          <a:p>
            <a:r>
              <a:rPr lang="en-US" b="1" dirty="0">
                <a:solidFill>
                  <a:srgbClr val="FF6B35"/>
                </a:solidFill>
                <a:latin typeface="Arial Black" panose="020B0A04020102020204" pitchFamily="34" charset="0"/>
              </a:rPr>
              <a:t>QUESTION 4:</a:t>
            </a:r>
          </a:p>
          <a:p>
            <a:endParaRPr lang="en-US" dirty="0"/>
          </a:p>
          <a:p>
            <a:r>
              <a:rPr lang="en-US" sz="1950" b="0" dirty="0"/>
              <a:t>Write a function called calculateArea that takes width and height as inputs and returns the area (width * height).</a:t>
            </a:r>
          </a:p>
          <a:p>
            <a:endParaRPr lang="en-US" dirty="0"/>
          </a:p>
          <a:p>
            <a:r>
              <a:rPr lang="en-US" b="1" dirty="0">
                <a:solidFill>
                  <a:srgbClr val="FF6B35"/>
                </a:solidFill>
                <a:latin typeface="Arial Black" panose="020B0A04020102020204" pitchFamily="34" charset="0"/>
              </a:rPr>
              <a:t>QUESTION 5:</a:t>
            </a:r>
          </a:p>
          <a:p>
            <a:endParaRPr lang="en-US" dirty="0"/>
          </a:p>
          <a:p>
            <a:r>
              <a:rPr lang="en-US" sz="1950" b="0" dirty="0"/>
              <a:t>Write an arrow function called isEven that takes a number and returns true if it is even and false if it is odd. Hint: use the % operator.</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WEEK 1 FULL RECAP: WHAT YOU HAVE LEARNED</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b="1" dirty="0">
                <a:solidFill>
                  <a:srgbClr val="FF6B35"/>
                </a:solidFill>
                <a:latin typeface="Arial Black" panose="020B0A04020102020204" pitchFamily="34" charset="0"/>
              </a:rPr>
              <a:t>CLASS 1: INTRO TO JAVASCRIPT</a:t>
            </a:r>
          </a:p>
          <a:p>
            <a:endParaRPr lang="en-US" dirty="0"/>
          </a:p>
          <a:p>
            <a:r>
              <a:rPr lang="en-US" sz="1950" b="0" dirty="0"/>
              <a:t>JavaScript is the language of the web. Variables (let and const) store data. Data types include string, number, boolean, null, undefined and array. Operators do maths, compare values and combine conditions.</a:t>
            </a:r>
          </a:p>
          <a:p>
            <a:endParaRPr lang="en-US" dirty="0"/>
          </a:p>
          <a:p>
            <a:r>
              <a:rPr lang="en-US" b="1" dirty="0">
                <a:solidFill>
                  <a:srgbClr val="FF6B35"/>
                </a:solidFill>
                <a:latin typeface="Arial Black" panose="020B0A04020102020204" pitchFamily="34" charset="0"/>
              </a:rPr>
              <a:t>CLASS 2: CONTROL FLOW</a:t>
            </a:r>
          </a:p>
          <a:p>
            <a:endParaRPr lang="en-US" dirty="0"/>
          </a:p>
          <a:p>
            <a:r>
              <a:rPr lang="en-US" sz="1950" b="0" dirty="0"/>
              <a:t>if/else and switch make decisions based on conditions. for loops repeat code a set number of times. while loops repeat as long as a condition is true. for...of loops go through every item in a list.</a:t>
            </a:r>
          </a:p>
          <a:p>
            <a:endParaRPr lang="en-US" dirty="0"/>
          </a:p>
          <a:p>
            <a:r>
              <a:rPr lang="en-US" b="1" dirty="0">
                <a:solidFill>
                  <a:srgbClr val="FF6B35"/>
                </a:solidFill>
                <a:latin typeface="Arial Black" panose="020B0A04020102020204" pitchFamily="34" charset="0"/>
              </a:rPr>
              <a:t>CLASS 3: FUNCTIONS</a:t>
            </a:r>
          </a:p>
          <a:p>
            <a:endParaRPr lang="en-US" dirty="0"/>
          </a:p>
          <a:p>
            <a:r>
              <a:rPr lang="en-US" sz="1950" b="0" dirty="0"/>
              <a:t>Functions are reusable blocks of code. Declarations, expressions and arrow functions are three ways to write them. Parameters are inputs. Return sends back a result. Scope controls where variables live.</a:t>
            </a:r>
          </a:p>
          <a:p>
            <a:endParaRPr lang="en-US" dirty="0"/>
          </a:p>
          <a:p>
            <a:r>
              <a:rPr lang="en-US" b="1" dirty="0">
                <a:solidFill>
                  <a:srgbClr val="FF6B35"/>
                </a:solidFill>
                <a:latin typeface="Arial Black" panose="020B0A04020102020204" pitchFamily="34" charset="0"/>
              </a:rPr>
              <a:t>YOUR CHALLENGE THIS WEEK:</a:t>
            </a:r>
          </a:p>
          <a:p>
            <a:endParaRPr lang="en-US" dirty="0"/>
          </a:p>
          <a:p>
            <a:r>
              <a:rPr lang="en-US" sz="1950" b="0" dirty="0"/>
              <a:t>Build a student report card: create an array of student objects (name and score), loop through it, call a getGrade function for each student, and print the result. Try it in your browser console!</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TIPS FOR SUCCESS AS A BEGINNER</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pPr marL="285750" indent="-285750">
              <a:buFontTx/>
              <a:buChar char="-"/>
            </a:pPr>
            <a:r>
              <a:rPr lang="en-US" sz="1950" b="1" dirty="0"/>
              <a:t>Type the code yourself:</a:t>
            </a:r>
            <a:r>
              <a:rPr lang="en-US" sz="1950" dirty="0"/>
              <a:t> Do not copy and paste. Typing builds muscle memory and helps you understand what you are writing.</a:t>
            </a:r>
          </a:p>
          <a:p>
            <a:pPr marL="285750" indent="-285750">
              <a:buFontTx/>
              <a:buChar char="-"/>
            </a:pPr>
            <a:r>
              <a:rPr lang="en-US" sz="1950" b="1" dirty="0"/>
              <a:t>Read error messages:</a:t>
            </a:r>
            <a:r>
              <a:rPr lang="en-US" sz="1950" dirty="0"/>
              <a:t> Errors are your best teachers. They usually tell you exactly what went wrong and on which line.</a:t>
            </a:r>
          </a:p>
          <a:p>
            <a:pPr marL="285750" indent="-285750">
              <a:buFontTx/>
              <a:buChar char="-"/>
            </a:pPr>
            <a:r>
              <a:rPr lang="en-US" sz="1950" b="1" dirty="0"/>
              <a:t>Practice daily for 20 minutes:</a:t>
            </a:r>
            <a:r>
              <a:rPr lang="en-US" sz="1950" dirty="0"/>
              <a:t> Consistency beats long study sessions. Small practice every day builds strong skills.</a:t>
            </a:r>
          </a:p>
          <a:p>
            <a:pPr marL="285750" indent="-285750">
              <a:buFontTx/>
              <a:buChar char="-"/>
            </a:pPr>
            <a:r>
              <a:rPr lang="en-US" sz="1950" b="1" dirty="0"/>
              <a:t>Ask questions:</a:t>
            </a:r>
            <a:r>
              <a:rPr lang="en-US" sz="1950" dirty="0"/>
              <a:t> There are no silly questions in this class. If something is not clear, ask immediately. We move at your pace.</a:t>
            </a:r>
          </a:p>
          <a:p>
            <a:pPr marL="285750" indent="-285750">
              <a:buFontTx/>
              <a:buChar char="-"/>
            </a:pPr>
            <a:r>
              <a:rPr lang="en-US" sz="1950" b="1" dirty="0"/>
              <a:t>Use the browser console:</a:t>
            </a:r>
            <a:r>
              <a:rPr lang="en-US" sz="1950" dirty="0"/>
              <a:t> Press F12 in any browser and click Console. You can run JavaScript code instantly without setting anything up.</a:t>
            </a:r>
          </a:p>
          <a:p>
            <a:pPr marL="285750" indent="-285750">
              <a:buFontTx/>
              <a:buChar char="-"/>
            </a:pPr>
            <a:r>
              <a:rPr lang="en-US" sz="1950" b="1" dirty="0"/>
              <a:t>Build something small every week:</a:t>
            </a:r>
            <a:r>
              <a:rPr lang="en-US" sz="1950" dirty="0"/>
              <a:t> Even a tiny calculator or quiz shows you how much you have grown.</a:t>
            </a:r>
          </a:p>
          <a:p>
            <a:pPr marL="285750" indent="-285750">
              <a:buFontTx/>
              <a:buChar char="-"/>
            </a:pPr>
            <a:r>
              <a:rPr lang="en-US" sz="1950" b="1" dirty="0"/>
              <a:t>Celebrate small wins:</a:t>
            </a:r>
            <a:r>
              <a:rPr lang="en-US" sz="1950" dirty="0"/>
              <a:t> Writing your first function, fixing a bug, getting a loop to work. These are real achievements.</a:t>
            </a:r>
          </a:p>
          <a:p>
            <a:endParaRPr lang="en-US" dirty="0"/>
          </a:p>
          <a:p>
            <a:r>
              <a:rPr lang="en-US" b="1" dirty="0">
                <a:solidFill>
                  <a:srgbClr val="FF6B35"/>
                </a:solidFill>
                <a:latin typeface="Arial Black" panose="020B0A04020102020204" pitchFamily="34" charset="0"/>
              </a:rPr>
              <a:t>RECOMMENDED FREE RESOURCES:</a:t>
            </a:r>
          </a:p>
          <a:p>
            <a:endParaRPr lang="en-US" dirty="0"/>
          </a:p>
          <a:p>
            <a:pPr marL="285750" indent="-285750">
              <a:buFontTx/>
              <a:buChar char="-"/>
            </a:pPr>
            <a:r>
              <a:rPr lang="en-US" sz="1950" b="0" dirty="0"/>
              <a:t>javascript.info for beginner friendly tutorials with exercises</a:t>
            </a:r>
          </a:p>
          <a:p>
            <a:pPr marL="285750" indent="-285750">
              <a:buFontTx/>
              <a:buChar char="-"/>
            </a:pPr>
            <a:r>
              <a:rPr lang="en-US" sz="1950" b="0" dirty="0"/>
              <a:t>developer.mozilla.org (MDN) for official JavaScript documentation</a:t>
            </a:r>
          </a:p>
          <a:p>
            <a:pPr marL="285750" indent="-285750">
              <a:buFontTx/>
              <a:buChar char="-"/>
            </a:pPr>
            <a:r>
              <a:rPr lang="en-US" sz="1950" b="0" dirty="0"/>
              <a:t>freecodecamp.org for free structured JavaScript courses with certificates</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dBar1"/>
          <p:cNvSpPr/>
          <p:nvPr/>
        </p:nvSpPr>
        <p:spPr>
          <a:xfrm>
            <a:off x="0" y="152400"/>
            <a:ext cx="3030071" cy="197231"/>
          </a:xfrm>
          <a:prstGeom prst="rect">
            <a:avLst/>
          </a:prstGeom>
          <a:solidFill>
            <a:srgbClr val="FE4A55"/>
          </a:solidFill>
          <a:ln>
            <a:noFill/>
          </a:ln>
        </p:spPr>
        <p:txBody>
          <a:bodyPr rtlCol="0" anchor="ctr"/>
          <a:lstStyle/>
          <a:p>
            <a:pPr algn="ctr"/>
            <a:endParaRPr lang="en-US"/>
          </a:p>
        </p:txBody>
      </p:sp>
      <p:pic>
        <p:nvPicPr>
          <p:cNvPr id="10"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6443" y="0"/>
            <a:ext cx="1886945" cy="502031"/>
          </a:xfrm>
          <a:prstGeom prst="rect">
            <a:avLst/>
          </a:prstGeom>
        </p:spPr>
      </p:pic>
      <p:sp>
        <p:nvSpPr>
          <p:cNvPr id="31" name="BlackBar1"/>
          <p:cNvSpPr/>
          <p:nvPr/>
        </p:nvSpPr>
        <p:spPr>
          <a:xfrm>
            <a:off x="3397623" y="152400"/>
            <a:ext cx="3478306" cy="197231"/>
          </a:xfrm>
          <a:prstGeom prst="rect">
            <a:avLst/>
          </a:prstGeom>
          <a:solidFill>
            <a:schemeClr val="tx1"/>
          </a:solidFill>
          <a:ln>
            <a:noFill/>
          </a:ln>
        </p:spPr>
        <p:txBody>
          <a:bodyPr rtlCol="0" anchor="ctr"/>
          <a:lstStyle/>
          <a:p>
            <a:pPr algn="ctr"/>
            <a:endParaRPr lang="en-US"/>
          </a:p>
        </p:txBody>
      </p:sp>
      <p:sp>
        <p:nvSpPr>
          <p:cNvPr id="33" name="RedBar2"/>
          <p:cNvSpPr/>
          <p:nvPr/>
        </p:nvSpPr>
        <p:spPr>
          <a:xfrm>
            <a:off x="7243482" y="152400"/>
            <a:ext cx="2962961" cy="197231"/>
          </a:xfrm>
          <a:prstGeom prst="rect">
            <a:avLst/>
          </a:prstGeom>
          <a:solidFill>
            <a:srgbClr val="FE4A55"/>
          </a:solidFill>
          <a:ln>
            <a:noFill/>
          </a:ln>
        </p:spPr>
        <p:txBody>
          <a:bodyPr rtlCol="0" anchor="ctr"/>
          <a:lstStyle/>
          <a:p>
            <a:pPr algn="ctr"/>
            <a:endParaRPr lang="en-US"/>
          </a:p>
        </p:txBody>
      </p:sp>
      <p:sp>
        <p:nvSpPr>
          <p:cNvPr id="2" name="HeaderBg"/>
          <p:cNvSpPr/>
          <p:nvPr/>
        </p:nvSpPr>
        <p:spPr>
          <a:xfrm>
            <a:off x="0" y="412376"/>
            <a:ext cx="10206443" cy="618565"/>
          </a:xfrm>
          <a:prstGeom prst="rect">
            <a:avLst/>
          </a:prstGeom>
          <a:solidFill>
            <a:schemeClr val="tx1"/>
          </a:solidFill>
          <a:ln>
            <a:noFill/>
          </a:ln>
        </p:spPr>
        <p:txBody>
          <a:bodyPr rtlCol="0" anchor="ctr"/>
          <a:lstStyle/>
          <a:p>
            <a:pPr algn="ctr"/>
            <a:endParaRPr lang="en-US"/>
          </a:p>
        </p:txBody>
      </p:sp>
      <p:sp>
        <p:nvSpPr>
          <p:cNvPr id="3" name="SlideTitle"/>
          <p:cNvSpPr txBox="1"/>
          <p:nvPr/>
        </p:nvSpPr>
        <p:spPr>
          <a:xfrm>
            <a:off x="0" y="536992"/>
            <a:ext cx="10206443" cy="369332"/>
          </a:xfrm>
          <a:prstGeom prst="rect">
            <a:avLst/>
          </a:prstGeom>
          <a:noFill/>
        </p:spPr>
        <p:txBody>
          <a:bodyPr wrap="square" rtlCol="0">
            <a:spAutoFit/>
          </a:bodyPr>
          <a:lstStyle/>
          <a:p>
            <a:r>
              <a:rPr lang="en-US" dirty="0">
                <a:solidFill>
                  <a:schemeClr val="bg1"/>
                </a:solidFill>
                <a:latin typeface="Arial Black" panose="020B0A04020102020204" pitchFamily="34" charset="0"/>
              </a:rPr>
              <a:t>WEEK 1 ASSIGNMENT</a:t>
            </a:r>
          </a:p>
        </p:txBody>
      </p:sp>
      <p:sp>
        <p:nvSpPr>
          <p:cNvPr id="9" name="RedAccent"/>
          <p:cNvSpPr/>
          <p:nvPr/>
        </p:nvSpPr>
        <p:spPr>
          <a:xfrm>
            <a:off x="11681012" y="5253318"/>
            <a:ext cx="0" cy="0"/>
          </a:xfrm>
          <a:prstGeom prst="rect">
            <a:avLst/>
          </a:prstGeom>
          <a:solidFill>
            <a:srgbClr val="FE4A55"/>
          </a:solidFill>
          <a:ln>
            <a:noFill/>
          </a:ln>
        </p:spPr>
        <p:txBody>
          <a:bodyPr rtlCol="0" anchor="ctr"/>
          <a:lstStyle/>
          <a:p>
            <a:pPr algn="ctr"/>
            <a:endParaRPr lang="en-US"/>
          </a:p>
        </p:txBody>
      </p:sp>
      <p:sp>
        <p:nvSpPr>
          <p:cNvPr id="11" name="BodyText"/>
          <p:cNvSpPr txBox="1"/>
          <p:nvPr/>
        </p:nvSpPr>
        <p:spPr>
          <a:xfrm>
            <a:off x="304800" y="1200000"/>
            <a:ext cx="11583588" cy="7600000"/>
          </a:xfrm>
          <a:prstGeom prst="rect">
            <a:avLst/>
          </a:prstGeom>
          <a:noFill/>
        </p:spPr>
        <p:txBody>
          <a:bodyPr wrap="square" rtlCol="0">
            <a:spAutoFit/>
          </a:bodyPr>
          <a:lstStyle/>
          <a:p>
            <a:r>
              <a:rPr lang="en-US" sz="1950" b="0" dirty="0"/>
              <a:t>Complete this assignment before Week 2 begins. Submit your code or a screenshot of your console output.</a:t>
            </a:r>
          </a:p>
          <a:p>
            <a:endParaRPr lang="en-US" dirty="0"/>
          </a:p>
          <a:p>
            <a:r>
              <a:rPr lang="en-US" b="1" dirty="0">
                <a:solidFill>
                  <a:srgbClr val="FF6B35"/>
                </a:solidFill>
                <a:latin typeface="Arial Black" panose="020B0A04020102020204" pitchFamily="34" charset="0"/>
              </a:rPr>
              <a:t>TASK 1 (Basic):</a:t>
            </a:r>
          </a:p>
          <a:p>
            <a:endParaRPr lang="en-US" dirty="0"/>
          </a:p>
          <a:p>
            <a:r>
              <a:rPr lang="en-US" sz="1950" b="0" dirty="0"/>
              <a:t>Create variables for your name, age, city and whether you are currently a student. Use the correct variable type (let or const) and data type for each. Print all four to the console.</a:t>
            </a:r>
          </a:p>
          <a:p>
            <a:endParaRPr lang="en-US" dirty="0"/>
          </a:p>
          <a:p>
            <a:r>
              <a:rPr lang="en-US" b="1" dirty="0">
                <a:solidFill>
                  <a:srgbClr val="FF6B35"/>
                </a:solidFill>
                <a:latin typeface="Arial Black" panose="020B0A04020102020204" pitchFamily="34" charset="0"/>
              </a:rPr>
              <a:t>TASK 2 (Intermediate):</a:t>
            </a:r>
          </a:p>
          <a:p>
            <a:endParaRPr lang="en-US" dirty="0"/>
          </a:p>
          <a:p>
            <a:r>
              <a:rPr lang="en-US" sz="1950" b="0" dirty="0"/>
              <a:t>Write a programme that loops through a list of 5 city names and prints each one. Add an if statement that prints a special message when the city is Lagos.</a:t>
            </a:r>
          </a:p>
          <a:p>
            <a:endParaRPr lang="en-US" dirty="0"/>
          </a:p>
          <a:p>
            <a:r>
              <a:rPr lang="en-US" b="1" dirty="0">
                <a:solidFill>
                  <a:srgbClr val="FF6B35"/>
                </a:solidFill>
                <a:latin typeface="Arial Black" panose="020B0A04020102020204" pitchFamily="34" charset="0"/>
              </a:rPr>
              <a:t>TASK 3 (Advanced):</a:t>
            </a:r>
          </a:p>
          <a:p>
            <a:endParaRPr lang="en-US" dirty="0"/>
          </a:p>
          <a:p>
            <a:r>
              <a:rPr lang="en-US" sz="1950" b="0" dirty="0"/>
              <a:t>Write an arrow function called calculateBMI that takes weight (in kg) and height (in metres) as inputs. It should calculate BMI using the formula: weight divided by (height * height). It should return whether the result is Underweight (below 18.5), Normal (18.5 to 24.9) or Overweight (25 and above).</a:t>
            </a:r>
          </a:p>
          <a:p>
            <a:endParaRPr lang="en-US" dirty="0"/>
          </a:p>
          <a:p>
            <a:r>
              <a:rPr lang="en-US" b="1" dirty="0">
                <a:solidFill>
                  <a:srgbClr val="FF6B35"/>
                </a:solidFill>
                <a:latin typeface="Arial Black" panose="020B0A04020102020204" pitchFamily="34" charset="0"/>
              </a:rPr>
              <a:t>BONUS:</a:t>
            </a:r>
          </a:p>
          <a:p>
            <a:endParaRPr lang="en-US" dirty="0"/>
          </a:p>
          <a:p>
            <a:r>
              <a:rPr lang="en-US" sz="1950" b="0" dirty="0"/>
              <a:t>Add comments to your code explaining what each section does. In JavaScript, a single line comment starts with //</a:t>
            </a:r>
          </a:p>
        </p:txBody>
      </p:sp>
      <p:sp>
        <p:nvSpPr>
          <p:cNvPr id="12" name="Disclaimer"/>
          <p:cNvSpPr txBox="1"/>
          <p:nvPr/>
        </p:nvSpPr>
        <p:spPr>
          <a:xfrm>
            <a:off x="1138518" y="8534000"/>
            <a:ext cx="7602070" cy="369332"/>
          </a:xfrm>
          <a:prstGeom prst="rect">
            <a:avLst/>
          </a:prstGeom>
          <a:noFill/>
        </p:spPr>
        <p:txBody>
          <a:bodyPr wrap="square" rtlCol="0">
            <a:spAutoFit/>
          </a:bodyPr>
          <a:lstStyle/>
          <a:p>
            <a:r>
              <a:rPr lang="en-US" i="1" dirty="0"/>
              <a:t>Disclaimer: This training material belongs to techcrush and shouldn’t be shared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890</TotalTime>
  <Words>6150</Words>
  <Application>Microsoft Office PowerPoint</Application>
  <PresentationFormat>Custom</PresentationFormat>
  <Paragraphs>677</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Olaniyi Eluwole</dc:creator>
  <cp:lastModifiedBy>Esther Uzoma Ogbu</cp:lastModifiedBy>
  <cp:revision>7</cp:revision>
  <dcterms:created xsi:type="dcterms:W3CDTF">2024-10-09T19:59:03Z</dcterms:created>
  <dcterms:modified xsi:type="dcterms:W3CDTF">2026-03-16T21:38:47Z</dcterms:modified>
</cp:coreProperties>
</file>