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4A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1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21718-FBE3-4406-A2DF-2789830EFD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D9D49D-E377-47CB-BD20-AFCBDA7620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092588-DA5B-43A6-962B-279B4E1AB2EB}"/>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5" name="Footer Placeholder 4">
            <a:extLst>
              <a:ext uri="{FF2B5EF4-FFF2-40B4-BE49-F238E27FC236}">
                <a16:creationId xmlns:a16="http://schemas.microsoft.com/office/drawing/2014/main" id="{A9F140FB-43A6-4FD1-94C3-924F0167D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BE1BEE-8B1B-4012-BF20-CE86FBED8E1B}"/>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302360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B4EB2-E8CB-4B36-B9A3-0D744EB194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3A640E-3426-4D68-8758-266058AFEC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82BA8-052C-472F-A453-C17E9DF12547}"/>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5" name="Footer Placeholder 4">
            <a:extLst>
              <a:ext uri="{FF2B5EF4-FFF2-40B4-BE49-F238E27FC236}">
                <a16:creationId xmlns:a16="http://schemas.microsoft.com/office/drawing/2014/main" id="{7FF9BEE3-199B-4F03-9704-D635F3CD7F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E9890-7D67-4AB4-BCB4-BA6C2CE1A5B1}"/>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2237071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3E58F-B87E-4D51-AEC4-3C7CFC874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CA005D-E2B9-4269-BBDF-95AC6C9986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3F9A64-17C1-454E-BC10-BB7069020ADD}"/>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5" name="Footer Placeholder 4">
            <a:extLst>
              <a:ext uri="{FF2B5EF4-FFF2-40B4-BE49-F238E27FC236}">
                <a16:creationId xmlns:a16="http://schemas.microsoft.com/office/drawing/2014/main" id="{D8606CA6-DA6C-4AE0-86A8-CA6928153F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2BC59-7508-4292-ABBF-442F62416F6B}"/>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1860936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BEF6-DF97-410B-B303-9C72F77486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155A58-EE46-43F9-8837-25A06B333E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F73056-92EC-4976-BC79-1FEF1B285B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218DC3-58A2-4EDE-A0C9-678A1E281B03}"/>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6" name="Footer Placeholder 5">
            <a:extLst>
              <a:ext uri="{FF2B5EF4-FFF2-40B4-BE49-F238E27FC236}">
                <a16:creationId xmlns:a16="http://schemas.microsoft.com/office/drawing/2014/main" id="{1FE4522F-4293-4266-980F-A30945ACB1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E3490F-8522-484A-B079-85B6EA6A3F80}"/>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1936446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62FD-9055-4B8C-97AB-2228559549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0D1E1B-6619-4B7F-A3BA-FFA223A8B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2DACB3-BE03-4FF9-B125-5650AC5083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6AD2E4-A53E-449B-9133-AA276630F9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3DF1B5-EA08-4316-B7EA-31D97887D7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D4B21C-EB1C-4120-91FD-F79489E43388}"/>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8" name="Footer Placeholder 7">
            <a:extLst>
              <a:ext uri="{FF2B5EF4-FFF2-40B4-BE49-F238E27FC236}">
                <a16:creationId xmlns:a16="http://schemas.microsoft.com/office/drawing/2014/main" id="{D41D7F33-163D-400C-9E8A-5A1EF6FD93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8231DD-3BC6-4ABD-A7E7-5C024E8408B8}"/>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4105758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4F96B-96F1-411E-9A48-A9B4E6391B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A5FE9E-CFDB-44C3-BB34-122405B6D3F6}"/>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4" name="Footer Placeholder 3">
            <a:extLst>
              <a:ext uri="{FF2B5EF4-FFF2-40B4-BE49-F238E27FC236}">
                <a16:creationId xmlns:a16="http://schemas.microsoft.com/office/drawing/2014/main" id="{5929CAE9-935B-4974-AE12-A597C6F38A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6B10DA-D8BF-4895-8F08-014D31819CDF}"/>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3171078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E6F310-9596-4995-9F10-876C56648A46}"/>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3" name="Footer Placeholder 2">
            <a:extLst>
              <a:ext uri="{FF2B5EF4-FFF2-40B4-BE49-F238E27FC236}">
                <a16:creationId xmlns:a16="http://schemas.microsoft.com/office/drawing/2014/main" id="{98178F19-38C6-41B6-81C9-D193DBC5CE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48DD17-A6D5-4FF9-8890-ACE53FF8E4C4}"/>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274087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9B2-2F89-4C05-809C-1B031BF00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457808-80A2-4665-A5FB-CE9F0549E0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9C91EF-0A94-45FA-B70E-896D022064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02E469-4ECD-4FA3-B5E5-C34645F73B05}"/>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6" name="Footer Placeholder 5">
            <a:extLst>
              <a:ext uri="{FF2B5EF4-FFF2-40B4-BE49-F238E27FC236}">
                <a16:creationId xmlns:a16="http://schemas.microsoft.com/office/drawing/2014/main" id="{6252835D-2536-4697-83C2-27D39B14D1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9D5942-A156-4A45-BFCD-B4C2128761B5}"/>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2685137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6B7C1-0EF3-4B1F-9E89-BD0299ED58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2B24EE-4641-403C-9108-4F64571085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F67565-9D6C-47DB-842F-2EA9F9784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B5C72E-6208-4FF2-AD84-3C0CE72C6B1C}"/>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6" name="Footer Placeholder 5">
            <a:extLst>
              <a:ext uri="{FF2B5EF4-FFF2-40B4-BE49-F238E27FC236}">
                <a16:creationId xmlns:a16="http://schemas.microsoft.com/office/drawing/2014/main" id="{F4EDF47F-C1C3-433E-9921-4C4C7EB140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9F4E21-7F33-4ECE-8E32-139F6A999F2C}"/>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4094375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54FFB-75AE-447D-8155-D57D68875B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7BCBFD-05E8-4239-BD5C-74A5A823D5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EAE097-5EB1-4CEA-814B-896AE8311B55}"/>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5" name="Footer Placeholder 4">
            <a:extLst>
              <a:ext uri="{FF2B5EF4-FFF2-40B4-BE49-F238E27FC236}">
                <a16:creationId xmlns:a16="http://schemas.microsoft.com/office/drawing/2014/main" id="{17FA97E6-BC1A-4ED6-93BE-EA01E757E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8DFAD-BD5F-408E-B7DF-64A3B3349C72}"/>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4079011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C4C2F4-ADD3-470F-8BE1-8AAEDD08ED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CDDE29-9139-4605-97C0-6D5BA7557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B14C21-8FBC-4104-BBE9-F5F142ED2D67}"/>
              </a:ext>
            </a:extLst>
          </p:cNvPr>
          <p:cNvSpPr>
            <a:spLocks noGrp="1"/>
          </p:cNvSpPr>
          <p:nvPr>
            <p:ph type="dt" sz="half" idx="10"/>
          </p:nvPr>
        </p:nvSpPr>
        <p:spPr/>
        <p:txBody>
          <a:bodyPr/>
          <a:lstStyle/>
          <a:p>
            <a:fld id="{3FE86E5E-1B19-4D42-961C-90D457E4DBF0}" type="datetimeFigureOut">
              <a:rPr lang="en-US" smtClean="0"/>
              <a:t>10/11/2024</a:t>
            </a:fld>
            <a:endParaRPr lang="en-US"/>
          </a:p>
        </p:txBody>
      </p:sp>
      <p:sp>
        <p:nvSpPr>
          <p:cNvPr id="5" name="Footer Placeholder 4">
            <a:extLst>
              <a:ext uri="{FF2B5EF4-FFF2-40B4-BE49-F238E27FC236}">
                <a16:creationId xmlns:a16="http://schemas.microsoft.com/office/drawing/2014/main" id="{6E2621FF-4373-493A-9BB2-E725C195A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9DDCAB-A509-4930-9D8C-784C185E239D}"/>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2591711757"/>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D06A9A-C59C-4AC0-8D3D-65255596C0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0B8DF6-15ED-4AE7-A58D-FEA2B0A0AD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12DEB-6431-4751-9672-C8A193AFD2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E86E5E-1B19-4D42-961C-90D457E4DBF0}" type="datetimeFigureOut">
              <a:rPr lang="en-US" smtClean="0"/>
              <a:t>10/11/2024</a:t>
            </a:fld>
            <a:endParaRPr lang="en-US"/>
          </a:p>
        </p:txBody>
      </p:sp>
      <p:sp>
        <p:nvSpPr>
          <p:cNvPr id="5" name="Footer Placeholder 4">
            <a:extLst>
              <a:ext uri="{FF2B5EF4-FFF2-40B4-BE49-F238E27FC236}">
                <a16:creationId xmlns:a16="http://schemas.microsoft.com/office/drawing/2014/main" id="{A8437354-D1BC-4BF4-B54D-8AD0A63876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11BE00-0378-48EC-8EDC-F188A87C57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872B0B-EE82-4F85-B145-30A55E1CB0A5}" type="slidenum">
              <a:rPr lang="en-US" smtClean="0"/>
              <a:t>‹#›</a:t>
            </a:fld>
            <a:endParaRPr lang="en-US"/>
          </a:p>
        </p:txBody>
      </p:sp>
    </p:spTree>
    <p:extLst>
      <p:ext uri="{BB962C8B-B14F-4D97-AF65-F5344CB8AC3E}">
        <p14:creationId xmlns:p14="http://schemas.microsoft.com/office/powerpoint/2010/main" val="1405693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B0F9EC-19D4-4401-8B62-37684DF88386}"/>
              </a:ext>
            </a:extLst>
          </p:cNvPr>
          <p:cNvSpPr/>
          <p:nvPr/>
        </p:nvSpPr>
        <p:spPr>
          <a:xfrm>
            <a:off x="0" y="5593976"/>
            <a:ext cx="12192000" cy="1272988"/>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627E0ED-D743-4CA5-91CA-B0EB91CE7AB2}"/>
              </a:ext>
            </a:extLst>
          </p:cNvPr>
          <p:cNvSpPr/>
          <p:nvPr/>
        </p:nvSpPr>
        <p:spPr>
          <a:xfrm>
            <a:off x="753035" y="582705"/>
            <a:ext cx="10685929" cy="5827059"/>
          </a:xfrm>
          <a:prstGeom prst="rect">
            <a:avLst/>
          </a:prstGeom>
          <a:solidFill>
            <a:schemeClr val="bg1"/>
          </a:solidFill>
          <a:ln>
            <a:noFill/>
          </a:ln>
          <a:effectLst>
            <a:outerShdw blurRad="254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699F5A1-8D65-47F3-ACAC-E62B81FB5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11" name="TextBox 10">
            <a:extLst>
              <a:ext uri="{FF2B5EF4-FFF2-40B4-BE49-F238E27FC236}">
                <a16:creationId xmlns:a16="http://schemas.microsoft.com/office/drawing/2014/main" id="{94379527-7B6F-47F2-9431-5AB05D30D6AD}"/>
              </a:ext>
            </a:extLst>
          </p:cNvPr>
          <p:cNvSpPr txBox="1"/>
          <p:nvPr/>
        </p:nvSpPr>
        <p:spPr>
          <a:xfrm>
            <a:off x="1591235" y="2619071"/>
            <a:ext cx="9193306" cy="1754326"/>
          </a:xfrm>
          <a:prstGeom prst="rect">
            <a:avLst/>
          </a:prstGeom>
          <a:noFill/>
        </p:spPr>
        <p:txBody>
          <a:bodyPr wrap="square" rtlCol="0">
            <a:spAutoFit/>
          </a:bodyPr>
          <a:lstStyle/>
          <a:p>
            <a:pPr algn="ctr"/>
            <a:r>
              <a:rPr lang="en-US" sz="5400" dirty="0">
                <a:latin typeface="Arial Black" panose="020B0A04020102020204" pitchFamily="34" charset="0"/>
              </a:rPr>
              <a:t>WEEK 5: BUILDING WEB SERVERS WITH EXPRESS.JS</a:t>
            </a:r>
          </a:p>
        </p:txBody>
      </p:sp>
      <p:sp>
        <p:nvSpPr>
          <p:cNvPr id="12" name="Rectangle 11">
            <a:extLst>
              <a:ext uri="{FF2B5EF4-FFF2-40B4-BE49-F238E27FC236}">
                <a16:creationId xmlns:a16="http://schemas.microsoft.com/office/drawing/2014/main" id="{64AEF8A4-C456-43E3-82EA-034BFF9B30EB}"/>
              </a:ext>
            </a:extLst>
          </p:cNvPr>
          <p:cNvSpPr/>
          <p:nvPr/>
        </p:nvSpPr>
        <p:spPr>
          <a:xfrm>
            <a:off x="753035" y="4697506"/>
            <a:ext cx="188259" cy="1712258"/>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F99FC73-FCA1-403A-8B30-90C381AA95F1}"/>
              </a:ext>
            </a:extLst>
          </p:cNvPr>
          <p:cNvSpPr txBox="1"/>
          <p:nvPr/>
        </p:nvSpPr>
        <p:spPr>
          <a:xfrm>
            <a:off x="7225553" y="4249266"/>
            <a:ext cx="2698377" cy="369332"/>
          </a:xfrm>
          <a:prstGeom prst="rect">
            <a:avLst/>
          </a:prstGeom>
          <a:noFill/>
        </p:spPr>
        <p:txBody>
          <a:bodyPr wrap="square" rtlCol="0">
            <a:spAutoFit/>
          </a:bodyPr>
          <a:lstStyle/>
          <a:p>
            <a:r>
              <a:rPr lang="en-US" dirty="0"/>
              <a:t>Session 9 &amp; 10 | Node.js Backend Development</a:t>
            </a:r>
          </a:p>
        </p:txBody>
      </p:sp>
      <p:sp>
        <p:nvSpPr>
          <p:cNvPr id="2" name="TextBox 1">
            <a:extLst>
              <a:ext uri="{FF2B5EF4-FFF2-40B4-BE49-F238E27FC236}">
                <a16:creationId xmlns:a16="http://schemas.microsoft.com/office/drawing/2014/main" id="{46AED077-3061-4B99-8549-E24DD50472EB}"/>
              </a:ext>
            </a:extLst>
          </p:cNvPr>
          <p:cNvSpPr txBox="1"/>
          <p:nvPr/>
        </p:nvSpPr>
        <p:spPr>
          <a:xfrm>
            <a:off x="1138518" y="6472519"/>
            <a:ext cx="7602070" cy="369332"/>
          </a:xfrm>
          <a:prstGeom prst="rect">
            <a:avLst/>
          </a:prstGeom>
          <a:noFill/>
        </p:spPr>
        <p:txBody>
          <a:bodyPr wrap="square" rtlCol="0">
            <a:spAutoFit/>
          </a:bodyPr>
          <a:lstStyle/>
          <a:p>
            <a:r>
              <a:rPr lang="en-US" i="1" dirty="0">
                <a:solidFill>
                  <a:schemeClr val="bg1"/>
                </a:solidFill>
              </a:rPr>
              <a:t xml:space="preserve">Disclaimer: This training material belongs to </a:t>
            </a:r>
            <a:r>
              <a:rPr lang="en-US" i="1" dirty="0" err="1">
                <a:solidFill>
                  <a:schemeClr val="bg1"/>
                </a:solidFill>
              </a:rPr>
              <a:t>techcrush</a:t>
            </a:r>
            <a:r>
              <a:rPr lang="en-US" i="1" dirty="0">
                <a:solidFill>
                  <a:schemeClr val="bg1"/>
                </a:solidFill>
              </a:rPr>
              <a:t xml:space="preserve"> and shouldn’t be shared</a:t>
            </a:r>
          </a:p>
        </p:txBody>
      </p:sp>
      <p:pic>
        <p:nvPicPr>
          <p:cNvPr id="9" name="Picture 8">
            <a:extLst>
              <a:ext uri="{FF2B5EF4-FFF2-40B4-BE49-F238E27FC236}">
                <a16:creationId xmlns:a16="http://schemas.microsoft.com/office/drawing/2014/main" id="{DA92B749-685E-4535-ABEB-4B855EAC4F78}"/>
              </a:ext>
            </a:extLst>
          </p:cNvPr>
          <p:cNvPicPr>
            <a:picLocks noChangeAspect="1"/>
          </p:cNvPicPr>
          <p:nvPr/>
        </p:nvPicPr>
        <p:blipFill>
          <a:blip r:embed="rId2">
            <a:alphaModFix amt="26000"/>
            <a:extLst>
              <a:ext uri="{28A0092B-C50C-407E-A947-70E740481C1C}">
                <a14:useLocalDpi xmlns:a14="http://schemas.microsoft.com/office/drawing/2010/main" val="0"/>
              </a:ext>
            </a:extLst>
          </a:blip>
          <a:stretch>
            <a:fillRect/>
          </a:stretch>
        </p:blipFill>
        <p:spPr>
          <a:xfrm>
            <a:off x="865293" y="1892758"/>
            <a:ext cx="10541991" cy="2804748"/>
          </a:xfrm>
          <a:prstGeom prst="rect">
            <a:avLst/>
          </a:prstGeom>
          <a:effectLst>
            <a:outerShdw dist="50800" sx="1000" sy="1000" algn="ctr" rotWithShape="0">
              <a:srgbClr val="000000"/>
            </a:outerShdw>
          </a:effectLst>
        </p:spPr>
      </p:pic>
    </p:spTree>
    <p:extLst>
      <p:ext uri="{BB962C8B-B14F-4D97-AF65-F5344CB8AC3E}">
        <p14:creationId xmlns:p14="http://schemas.microsoft.com/office/powerpoint/2010/main" val="1504640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B0F9EC-19D4-4401-8B62-37684DF88386}"/>
              </a:ext>
            </a:extLst>
          </p:cNvPr>
          <p:cNvSpPr/>
          <p:nvPr/>
        </p:nvSpPr>
        <p:spPr>
          <a:xfrm>
            <a:off x="0" y="4477"/>
            <a:ext cx="10067365" cy="488589"/>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699F5A1-8D65-47F3-ACAC-E62B81FB5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2" name="TextBox 1">
            <a:extLst>
              <a:ext uri="{FF2B5EF4-FFF2-40B4-BE49-F238E27FC236}">
                <a16:creationId xmlns:a16="http://schemas.microsoft.com/office/drawing/2014/main" id="{A65EFA57-E1E8-4980-B966-37C51ACCC417}"/>
              </a:ext>
            </a:extLst>
          </p:cNvPr>
          <p:cNvSpPr txBox="1"/>
          <p:nvPr/>
        </p:nvSpPr>
        <p:spPr>
          <a:xfrm>
            <a:off x="376513" y="48716"/>
            <a:ext cx="2752165" cy="400110"/>
          </a:xfrm>
          <a:prstGeom prst="rect">
            <a:avLst/>
          </a:prstGeom>
          <a:noFill/>
        </p:spPr>
        <p:txBody>
          <a:bodyPr wrap="square" rtlCol="0">
            <a:spAutoFit/>
          </a:bodyPr>
          <a:lstStyle/>
          <a:p>
            <a:r>
              <a:rPr lang="en-US" sz="2000" dirty="0">
                <a:solidFill>
                  <a:schemeClr val="bg1"/>
                </a:solidFill>
                <a:latin typeface="Arial Black" panose="020B0A04020102020204" pitchFamily="34" charset="0"/>
              </a:rPr>
              <a:t>GROUND RULES</a:t>
            </a:r>
          </a:p>
        </p:txBody>
      </p:sp>
      <p:sp>
        <p:nvSpPr>
          <p:cNvPr id="3" name="Rectangle 2">
            <a:extLst>
              <a:ext uri="{FF2B5EF4-FFF2-40B4-BE49-F238E27FC236}">
                <a16:creationId xmlns:a16="http://schemas.microsoft.com/office/drawing/2014/main" id="{CB5B5AAE-67F5-40C2-AA7D-701DAFBCBDEF}"/>
              </a:ext>
            </a:extLst>
          </p:cNvPr>
          <p:cNvSpPr/>
          <p:nvPr/>
        </p:nvSpPr>
        <p:spPr>
          <a:xfrm>
            <a:off x="-3" y="528340"/>
            <a:ext cx="10067365" cy="16194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D4A6CE0-AC5C-42C9-9312-0B831BD19462}"/>
              </a:ext>
            </a:extLst>
          </p:cNvPr>
          <p:cNvSpPr txBox="1"/>
          <p:nvPr/>
        </p:nvSpPr>
        <p:spPr>
          <a:xfrm>
            <a:off x="1138518" y="6472519"/>
            <a:ext cx="7602070" cy="369332"/>
          </a:xfrm>
          <a:prstGeom prst="rect">
            <a:avLst/>
          </a:prstGeom>
          <a:noFill/>
        </p:spPr>
        <p:txBody>
          <a:bodyPr wrap="square" rtlCol="0">
            <a:spAutoFit/>
          </a:bodyPr>
          <a:lstStyle/>
          <a:p>
            <a:r>
              <a:rPr lang="en-US" i="1" dirty="0"/>
              <a:t xml:space="preserve">Disclaimer: This training material belongs to </a:t>
            </a:r>
            <a:r>
              <a:rPr lang="en-US" i="1" dirty="0" err="1"/>
              <a:t>techcrush</a:t>
            </a:r>
            <a:r>
              <a:rPr lang="en-US" i="1" dirty="0"/>
              <a:t xml:space="preserve"> and shouldn’t be shared</a:t>
            </a:r>
          </a:p>
        </p:txBody>
      </p:sp>
      <p:pic>
        <p:nvPicPr>
          <p:cNvPr id="33" name="Picture 32">
            <a:extLst>
              <a:ext uri="{FF2B5EF4-FFF2-40B4-BE49-F238E27FC236}">
                <a16:creationId xmlns:a16="http://schemas.microsoft.com/office/drawing/2014/main" id="{0082E549-CB91-45DF-83B9-471344D6D503}"/>
              </a:ext>
            </a:extLst>
          </p:cNvPr>
          <p:cNvPicPr>
            <a:picLocks noChangeAspect="1"/>
          </p:cNvPicPr>
          <p:nvPr/>
        </p:nvPicPr>
        <p:blipFill>
          <a:blip r:embed="rId2">
            <a:alphaModFix amt="26000"/>
            <a:extLst>
              <a:ext uri="{28A0092B-C50C-407E-A947-70E740481C1C}">
                <a14:useLocalDpi xmlns:a14="http://schemas.microsoft.com/office/drawing/2010/main" val="0"/>
              </a:ext>
            </a:extLst>
          </a:blip>
          <a:stretch>
            <a:fillRect/>
          </a:stretch>
        </p:blipFill>
        <p:spPr>
          <a:xfrm>
            <a:off x="865293" y="1892758"/>
            <a:ext cx="10541991" cy="2804748"/>
          </a:xfrm>
          <a:prstGeom prst="rect">
            <a:avLst/>
          </a:prstGeom>
          <a:effectLst>
            <a:outerShdw dist="50800" sx="1000" sy="1000" algn="ctr" rotWithShape="0">
              <a:srgbClr val="000000"/>
            </a:outerShdw>
          </a:effectLst>
        </p:spPr>
      </p:pic>
      <p:sp>
        <p:nvSpPr>
          <p:cNvPr id="6" name="Oval 5">
            <a:extLst>
              <a:ext uri="{FF2B5EF4-FFF2-40B4-BE49-F238E27FC236}">
                <a16:creationId xmlns:a16="http://schemas.microsoft.com/office/drawing/2014/main" id="{CCB1CF20-1081-4645-B0A5-7E03E60A4251}"/>
              </a:ext>
            </a:extLst>
          </p:cNvPr>
          <p:cNvSpPr/>
          <p:nvPr/>
        </p:nvSpPr>
        <p:spPr>
          <a:xfrm>
            <a:off x="582701" y="1102655"/>
            <a:ext cx="762003" cy="7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8BC8704-D9C9-403B-9A5C-1C3B373EBB8A}"/>
              </a:ext>
            </a:extLst>
          </p:cNvPr>
          <p:cNvSpPr/>
          <p:nvPr/>
        </p:nvSpPr>
        <p:spPr>
          <a:xfrm>
            <a:off x="582701" y="3186950"/>
            <a:ext cx="762003" cy="7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CEFD7E9-E1FE-4B9B-AF2E-EA23D25991D4}"/>
              </a:ext>
            </a:extLst>
          </p:cNvPr>
          <p:cNvSpPr/>
          <p:nvPr/>
        </p:nvSpPr>
        <p:spPr>
          <a:xfrm>
            <a:off x="582701" y="5450076"/>
            <a:ext cx="762003" cy="7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13E5CC3-2EEC-46C2-BC70-3DC4FF8201E1}"/>
              </a:ext>
            </a:extLst>
          </p:cNvPr>
          <p:cNvSpPr txBox="1"/>
          <p:nvPr/>
        </p:nvSpPr>
        <p:spPr>
          <a:xfrm>
            <a:off x="1577913" y="1298990"/>
            <a:ext cx="2097615" cy="369332"/>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PUNCTUALITY</a:t>
            </a:r>
          </a:p>
        </p:txBody>
      </p:sp>
      <p:sp>
        <p:nvSpPr>
          <p:cNvPr id="22" name="TextBox 21">
            <a:extLst>
              <a:ext uri="{FF2B5EF4-FFF2-40B4-BE49-F238E27FC236}">
                <a16:creationId xmlns:a16="http://schemas.microsoft.com/office/drawing/2014/main" id="{F373DB4F-62DA-4032-91D6-B81695515EC4}"/>
              </a:ext>
            </a:extLst>
          </p:cNvPr>
          <p:cNvSpPr txBox="1"/>
          <p:nvPr/>
        </p:nvSpPr>
        <p:spPr>
          <a:xfrm>
            <a:off x="1577913" y="3369847"/>
            <a:ext cx="2182912" cy="369332"/>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PARTICIPATION</a:t>
            </a:r>
          </a:p>
        </p:txBody>
      </p:sp>
      <p:sp>
        <p:nvSpPr>
          <p:cNvPr id="23" name="TextBox 22">
            <a:extLst>
              <a:ext uri="{FF2B5EF4-FFF2-40B4-BE49-F238E27FC236}">
                <a16:creationId xmlns:a16="http://schemas.microsoft.com/office/drawing/2014/main" id="{30E3CB01-5A11-4A3E-A0EB-BBCE20B75DE7}"/>
              </a:ext>
            </a:extLst>
          </p:cNvPr>
          <p:cNvSpPr txBox="1"/>
          <p:nvPr/>
        </p:nvSpPr>
        <p:spPr>
          <a:xfrm>
            <a:off x="1577913" y="5355974"/>
            <a:ext cx="2575121" cy="923330"/>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YOUR MIC MUST BE MUTED ALWAYS</a:t>
            </a:r>
          </a:p>
        </p:txBody>
      </p:sp>
      <p:pic>
        <p:nvPicPr>
          <p:cNvPr id="9" name="Picture 8">
            <a:extLst>
              <a:ext uri="{FF2B5EF4-FFF2-40B4-BE49-F238E27FC236}">
                <a16:creationId xmlns:a16="http://schemas.microsoft.com/office/drawing/2014/main" id="{71640EB1-D49F-4FEB-8C1C-2FB9798AD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028" y="1276982"/>
            <a:ext cx="413349" cy="413349"/>
          </a:xfrm>
          <a:prstGeom prst="rect">
            <a:avLst/>
          </a:prstGeom>
        </p:spPr>
      </p:pic>
      <p:pic>
        <p:nvPicPr>
          <p:cNvPr id="30" name="Picture 29">
            <a:extLst>
              <a:ext uri="{FF2B5EF4-FFF2-40B4-BE49-F238E27FC236}">
                <a16:creationId xmlns:a16="http://schemas.microsoft.com/office/drawing/2014/main" id="{A1C1D6F6-DFAE-40E2-8643-491684C59D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260" y="3303509"/>
            <a:ext cx="528885" cy="528885"/>
          </a:xfrm>
          <a:prstGeom prst="rect">
            <a:avLst/>
          </a:prstGeom>
        </p:spPr>
      </p:pic>
      <p:pic>
        <p:nvPicPr>
          <p:cNvPr id="32" name="Picture 31">
            <a:extLst>
              <a:ext uri="{FF2B5EF4-FFF2-40B4-BE49-F238E27FC236}">
                <a16:creationId xmlns:a16="http://schemas.microsoft.com/office/drawing/2014/main" id="{530B4D1E-FDA2-48C7-A1EB-974765C999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051" y="5583426"/>
            <a:ext cx="495302" cy="495302"/>
          </a:xfrm>
          <a:prstGeom prst="rect">
            <a:avLst/>
          </a:prstGeom>
        </p:spPr>
      </p:pic>
      <p:sp>
        <p:nvSpPr>
          <p:cNvPr id="16" name="Oval 15">
            <a:extLst>
              <a:ext uri="{FF2B5EF4-FFF2-40B4-BE49-F238E27FC236}">
                <a16:creationId xmlns:a16="http://schemas.microsoft.com/office/drawing/2014/main" id="{9B6BFE9D-992B-4297-AC32-FD97974BDE51}"/>
              </a:ext>
            </a:extLst>
          </p:cNvPr>
          <p:cNvSpPr/>
          <p:nvPr/>
        </p:nvSpPr>
        <p:spPr>
          <a:xfrm>
            <a:off x="4549585" y="1139634"/>
            <a:ext cx="762003" cy="7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67563A7-70D5-403D-8969-E9D91069DD4E}"/>
              </a:ext>
            </a:extLst>
          </p:cNvPr>
          <p:cNvSpPr/>
          <p:nvPr/>
        </p:nvSpPr>
        <p:spPr>
          <a:xfrm>
            <a:off x="4549584" y="3173512"/>
            <a:ext cx="762003" cy="7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5ACE21E-8CA4-4871-8A64-0825DE69976C}"/>
              </a:ext>
            </a:extLst>
          </p:cNvPr>
          <p:cNvSpPr/>
          <p:nvPr/>
        </p:nvSpPr>
        <p:spPr>
          <a:xfrm>
            <a:off x="4549583" y="5499144"/>
            <a:ext cx="762003" cy="7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725ABBB-4AEA-46E0-A243-DEC94C02C7D4}"/>
              </a:ext>
            </a:extLst>
          </p:cNvPr>
          <p:cNvSpPr txBox="1"/>
          <p:nvPr/>
        </p:nvSpPr>
        <p:spPr>
          <a:xfrm>
            <a:off x="5844989" y="1197470"/>
            <a:ext cx="1712258" cy="646331"/>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HAVE AN OPEN MIND</a:t>
            </a:r>
          </a:p>
        </p:txBody>
      </p:sp>
      <p:sp>
        <p:nvSpPr>
          <p:cNvPr id="26" name="TextBox 25">
            <a:extLst>
              <a:ext uri="{FF2B5EF4-FFF2-40B4-BE49-F238E27FC236}">
                <a16:creationId xmlns:a16="http://schemas.microsoft.com/office/drawing/2014/main" id="{32D38EF7-BA07-4FF7-AAFF-495DC6408D31}"/>
              </a:ext>
            </a:extLst>
          </p:cNvPr>
          <p:cNvSpPr txBox="1"/>
          <p:nvPr/>
        </p:nvSpPr>
        <p:spPr>
          <a:xfrm>
            <a:off x="5844989" y="3369847"/>
            <a:ext cx="1792940" cy="369332"/>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ONE CLASS</a:t>
            </a:r>
          </a:p>
        </p:txBody>
      </p:sp>
      <p:sp>
        <p:nvSpPr>
          <p:cNvPr id="28" name="TextBox 27">
            <a:extLst>
              <a:ext uri="{FF2B5EF4-FFF2-40B4-BE49-F238E27FC236}">
                <a16:creationId xmlns:a16="http://schemas.microsoft.com/office/drawing/2014/main" id="{79B70A4F-9BF1-4C7C-A7C5-35AE79C0EF3B}"/>
              </a:ext>
            </a:extLst>
          </p:cNvPr>
          <p:cNvSpPr txBox="1"/>
          <p:nvPr/>
        </p:nvSpPr>
        <p:spPr>
          <a:xfrm>
            <a:off x="5844989" y="5413770"/>
            <a:ext cx="2303929" cy="923330"/>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RAISE YOUR HAND BEFORE YOU SPEAK</a:t>
            </a:r>
          </a:p>
        </p:txBody>
      </p:sp>
      <p:pic>
        <p:nvPicPr>
          <p:cNvPr id="34" name="Picture 33">
            <a:extLst>
              <a:ext uri="{FF2B5EF4-FFF2-40B4-BE49-F238E27FC236}">
                <a16:creationId xmlns:a16="http://schemas.microsoft.com/office/drawing/2014/main" id="{46D3E550-978D-4B75-A069-796D866253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25743" y="3249671"/>
            <a:ext cx="609685" cy="609685"/>
          </a:xfrm>
          <a:prstGeom prst="rect">
            <a:avLst/>
          </a:prstGeom>
        </p:spPr>
      </p:pic>
      <p:pic>
        <p:nvPicPr>
          <p:cNvPr id="36" name="Picture 35">
            <a:extLst>
              <a:ext uri="{FF2B5EF4-FFF2-40B4-BE49-F238E27FC236}">
                <a16:creationId xmlns:a16="http://schemas.microsoft.com/office/drawing/2014/main" id="{42BF1E61-D184-4873-9E82-2C37A49AD7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51466" y="1241515"/>
            <a:ext cx="558241" cy="558241"/>
          </a:xfrm>
          <a:prstGeom prst="rect">
            <a:avLst/>
          </a:prstGeom>
        </p:spPr>
      </p:pic>
      <p:pic>
        <p:nvPicPr>
          <p:cNvPr id="38" name="Picture 37">
            <a:extLst>
              <a:ext uri="{FF2B5EF4-FFF2-40B4-BE49-F238E27FC236}">
                <a16:creationId xmlns:a16="http://schemas.microsoft.com/office/drawing/2014/main" id="{CE18C819-4140-4532-BA8A-573700D1424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6759" y="5566320"/>
            <a:ext cx="627650" cy="627650"/>
          </a:xfrm>
          <a:prstGeom prst="rect">
            <a:avLst/>
          </a:prstGeom>
        </p:spPr>
      </p:pic>
      <p:sp>
        <p:nvSpPr>
          <p:cNvPr id="19" name="Oval 18">
            <a:extLst>
              <a:ext uri="{FF2B5EF4-FFF2-40B4-BE49-F238E27FC236}">
                <a16:creationId xmlns:a16="http://schemas.microsoft.com/office/drawing/2014/main" id="{03B41218-D5DF-4FE9-8CA5-F60F359EA480}"/>
              </a:ext>
            </a:extLst>
          </p:cNvPr>
          <p:cNvSpPr/>
          <p:nvPr/>
        </p:nvSpPr>
        <p:spPr>
          <a:xfrm>
            <a:off x="8516466" y="1102655"/>
            <a:ext cx="762003" cy="7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DEC3B53-5870-4C61-B4F4-B86D50828B81}"/>
              </a:ext>
            </a:extLst>
          </p:cNvPr>
          <p:cNvSpPr/>
          <p:nvPr/>
        </p:nvSpPr>
        <p:spPr>
          <a:xfrm>
            <a:off x="8516466" y="3186950"/>
            <a:ext cx="762003" cy="7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279FEB0-A87C-4EE3-A376-215C4D6560A8}"/>
              </a:ext>
            </a:extLst>
          </p:cNvPr>
          <p:cNvSpPr txBox="1"/>
          <p:nvPr/>
        </p:nvSpPr>
        <p:spPr>
          <a:xfrm>
            <a:off x="9511677" y="1160491"/>
            <a:ext cx="1703169" cy="646331"/>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ASK QUESTIONS</a:t>
            </a:r>
          </a:p>
        </p:txBody>
      </p:sp>
      <p:sp>
        <p:nvSpPr>
          <p:cNvPr id="39" name="TextBox 38">
            <a:extLst>
              <a:ext uri="{FF2B5EF4-FFF2-40B4-BE49-F238E27FC236}">
                <a16:creationId xmlns:a16="http://schemas.microsoft.com/office/drawing/2014/main" id="{E3298686-A49E-44F1-83D2-A5B00713AB83}"/>
              </a:ext>
            </a:extLst>
          </p:cNvPr>
          <p:cNvSpPr txBox="1"/>
          <p:nvPr/>
        </p:nvSpPr>
        <p:spPr>
          <a:xfrm>
            <a:off x="9637183" y="3383285"/>
            <a:ext cx="1461123" cy="369332"/>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RESPECT</a:t>
            </a:r>
          </a:p>
        </p:txBody>
      </p:sp>
      <p:pic>
        <p:nvPicPr>
          <p:cNvPr id="41" name="Picture 40">
            <a:extLst>
              <a:ext uri="{FF2B5EF4-FFF2-40B4-BE49-F238E27FC236}">
                <a16:creationId xmlns:a16="http://schemas.microsoft.com/office/drawing/2014/main" id="{1110C837-40FC-4692-96AD-8E8141C0D01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46453" y="1232642"/>
            <a:ext cx="502028" cy="502028"/>
          </a:xfrm>
          <a:prstGeom prst="rect">
            <a:avLst/>
          </a:prstGeom>
        </p:spPr>
      </p:pic>
      <p:pic>
        <p:nvPicPr>
          <p:cNvPr id="43" name="Picture 42">
            <a:extLst>
              <a:ext uri="{FF2B5EF4-FFF2-40B4-BE49-F238E27FC236}">
                <a16:creationId xmlns:a16="http://schemas.microsoft.com/office/drawing/2014/main" id="{3F4A5A76-28C7-4100-8BBD-1C7B74E9962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21811" y="3292295"/>
            <a:ext cx="551312" cy="551312"/>
          </a:xfrm>
          <a:prstGeom prst="rect">
            <a:avLst/>
          </a:prstGeom>
        </p:spPr>
      </p:pic>
    </p:spTree>
    <p:extLst>
      <p:ext uri="{BB962C8B-B14F-4D97-AF65-F5344CB8AC3E}">
        <p14:creationId xmlns:p14="http://schemas.microsoft.com/office/powerpoint/2010/main" val="4031296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B0F9EC-19D4-4401-8B62-37684DF88386}"/>
              </a:ext>
            </a:extLst>
          </p:cNvPr>
          <p:cNvSpPr/>
          <p:nvPr/>
        </p:nvSpPr>
        <p:spPr>
          <a:xfrm>
            <a:off x="0" y="152400"/>
            <a:ext cx="3030071" cy="197231"/>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699F5A1-8D65-47F3-ACAC-E62B81FB5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Rectangle 30">
            <a:extLst>
              <a:ext uri="{FF2B5EF4-FFF2-40B4-BE49-F238E27FC236}">
                <a16:creationId xmlns:a16="http://schemas.microsoft.com/office/drawing/2014/main" id="{2BFB07C8-BDFE-4D59-A4CA-8AEECC3B8FE4}"/>
              </a:ext>
            </a:extLst>
          </p:cNvPr>
          <p:cNvSpPr/>
          <p:nvPr/>
        </p:nvSpPr>
        <p:spPr>
          <a:xfrm>
            <a:off x="3397623" y="152400"/>
            <a:ext cx="3478306" cy="1972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CD11DA0-DCC6-46E0-90D7-FE77E727ABD9}"/>
              </a:ext>
            </a:extLst>
          </p:cNvPr>
          <p:cNvSpPr/>
          <p:nvPr/>
        </p:nvSpPr>
        <p:spPr>
          <a:xfrm>
            <a:off x="7243482" y="152400"/>
            <a:ext cx="2962961" cy="197231"/>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9C474C9-6E5B-497F-9E21-110719280CD6}"/>
              </a:ext>
            </a:extLst>
          </p:cNvPr>
          <p:cNvSpPr txBox="1"/>
          <p:nvPr/>
        </p:nvSpPr>
        <p:spPr>
          <a:xfrm>
            <a:off x="806824" y="3648635"/>
            <a:ext cx="3155576" cy="800219"/>
          </a:xfrm>
          <a:prstGeom prst="rect">
            <a:avLst/>
          </a:prstGeom>
          <a:noFill/>
        </p:spPr>
        <p:txBody>
          <a:bodyPr wrap="square" rtlCol="0">
            <a:spAutoFit/>
          </a:bodyPr>
          <a:lstStyle/>
          <a:p>
            <a:r>
              <a:rPr lang="en-US" sz="2800" dirty="0">
                <a:latin typeface="Arial Black" panose="020B0A04020102020204" pitchFamily="34" charset="0"/>
              </a:rPr>
              <a:t>AGENDA</a:t>
            </a:r>
          </a:p>
          <a:p>
            <a:r>
              <a:rPr lang="en-US" dirty="0">
                <a:latin typeface="Arial" panose="020B0604020202020204" pitchFamily="34" charset="0"/>
                <a:cs typeface="Arial" panose="020B0604020202020204" pitchFamily="34" charset="0"/>
              </a:rPr>
              <a:t>Introduction to Express.js</a:t>
            </a:r>
          </a:p>
        </p:txBody>
      </p:sp>
      <p:sp>
        <p:nvSpPr>
          <p:cNvPr id="15" name="TextBox 14">
            <a:extLst>
              <a:ext uri="{FF2B5EF4-FFF2-40B4-BE49-F238E27FC236}">
                <a16:creationId xmlns:a16="http://schemas.microsoft.com/office/drawing/2014/main" id="{AF0C44D3-B6AE-4C46-82C7-8853C5C66F6C}"/>
              </a:ext>
            </a:extLst>
          </p:cNvPr>
          <p:cNvSpPr txBox="1"/>
          <p:nvPr/>
        </p:nvSpPr>
        <p:spPr>
          <a:xfrm>
            <a:off x="1138518" y="6472519"/>
            <a:ext cx="7602070" cy="369332"/>
          </a:xfrm>
          <a:prstGeom prst="rect">
            <a:avLst/>
          </a:prstGeom>
          <a:noFill/>
        </p:spPr>
        <p:txBody>
          <a:bodyPr wrap="square" rtlCol="0">
            <a:spAutoFit/>
          </a:bodyPr>
          <a:lstStyle/>
          <a:p>
            <a:r>
              <a:rPr lang="en-US" i="1" dirty="0"/>
              <a:t xml:space="preserve">Disclaimer: This training material belongs to </a:t>
            </a:r>
            <a:r>
              <a:rPr lang="en-US" i="1" dirty="0" err="1"/>
              <a:t>techcrush</a:t>
            </a:r>
            <a:r>
              <a:rPr lang="en-US" i="1" dirty="0"/>
              <a:t xml:space="preserve"> and shouldn’t be shared</a:t>
            </a:r>
          </a:p>
        </p:txBody>
      </p:sp>
      <p:pic>
        <p:nvPicPr>
          <p:cNvPr id="16" name="Picture 15">
            <a:extLst>
              <a:ext uri="{FF2B5EF4-FFF2-40B4-BE49-F238E27FC236}">
                <a16:creationId xmlns:a16="http://schemas.microsoft.com/office/drawing/2014/main" id="{BA624314-6F11-46B3-A646-059DA7BAE3AC}"/>
              </a:ext>
            </a:extLst>
          </p:cNvPr>
          <p:cNvPicPr>
            <a:picLocks noChangeAspect="1"/>
          </p:cNvPicPr>
          <p:nvPr/>
        </p:nvPicPr>
        <p:blipFill>
          <a:blip r:embed="rId2">
            <a:alphaModFix amt="26000"/>
            <a:extLst>
              <a:ext uri="{28A0092B-C50C-407E-A947-70E740481C1C}">
                <a14:useLocalDpi xmlns:a14="http://schemas.microsoft.com/office/drawing/2010/main" val="0"/>
              </a:ext>
            </a:extLst>
          </a:blip>
          <a:stretch>
            <a:fillRect/>
          </a:stretch>
        </p:blipFill>
        <p:spPr>
          <a:xfrm>
            <a:off x="865293" y="1892758"/>
            <a:ext cx="10541991" cy="2804748"/>
          </a:xfrm>
          <a:prstGeom prst="rect">
            <a:avLst/>
          </a:prstGeom>
          <a:effectLst>
            <a:outerShdw dist="50800" sx="1000" sy="1000" algn="ctr" rotWithShape="0">
              <a:srgbClr val="000000"/>
            </a:outerShdw>
          </a:effectLst>
        </p:spPr>
      </p:pic>
      <p:sp>
        <p:nvSpPr>
          <p:cNvPr id="12" name="Octagon 11">
            <a:extLst>
              <a:ext uri="{FF2B5EF4-FFF2-40B4-BE49-F238E27FC236}">
                <a16:creationId xmlns:a16="http://schemas.microsoft.com/office/drawing/2014/main" id="{6FE9DD58-5A4D-4694-A39D-D6BE060C18FB}"/>
              </a:ext>
            </a:extLst>
          </p:cNvPr>
          <p:cNvSpPr/>
          <p:nvPr/>
        </p:nvSpPr>
        <p:spPr>
          <a:xfrm>
            <a:off x="8166847" y="869576"/>
            <a:ext cx="1828800" cy="1828800"/>
          </a:xfrm>
          <a:prstGeom prst="octagon">
            <a:avLst>
              <a:gd name="adj" fmla="val 25367"/>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ctagon 36">
            <a:extLst>
              <a:ext uri="{FF2B5EF4-FFF2-40B4-BE49-F238E27FC236}">
                <a16:creationId xmlns:a16="http://schemas.microsoft.com/office/drawing/2014/main" id="{EE883912-DFDF-4711-BDE8-22E6FA9F6D6E}"/>
              </a:ext>
            </a:extLst>
          </p:cNvPr>
          <p:cNvSpPr/>
          <p:nvPr/>
        </p:nvSpPr>
        <p:spPr>
          <a:xfrm>
            <a:off x="9672917" y="2303921"/>
            <a:ext cx="1828800" cy="1828800"/>
          </a:xfrm>
          <a:prstGeom prst="octagon">
            <a:avLst>
              <a:gd name="adj" fmla="val 253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ctagon 39">
            <a:extLst>
              <a:ext uri="{FF2B5EF4-FFF2-40B4-BE49-F238E27FC236}">
                <a16:creationId xmlns:a16="http://schemas.microsoft.com/office/drawing/2014/main" id="{2744A906-8490-4F0B-A351-B0F353C43E6D}"/>
              </a:ext>
            </a:extLst>
          </p:cNvPr>
          <p:cNvSpPr/>
          <p:nvPr/>
        </p:nvSpPr>
        <p:spPr>
          <a:xfrm>
            <a:off x="6660777" y="2303921"/>
            <a:ext cx="1828800" cy="1828800"/>
          </a:xfrm>
          <a:prstGeom prst="octagon">
            <a:avLst>
              <a:gd name="adj" fmla="val 253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ctagon 41">
            <a:extLst>
              <a:ext uri="{FF2B5EF4-FFF2-40B4-BE49-F238E27FC236}">
                <a16:creationId xmlns:a16="http://schemas.microsoft.com/office/drawing/2014/main" id="{4C48CF9A-F85B-4685-B696-9356507D5CD3}"/>
              </a:ext>
            </a:extLst>
          </p:cNvPr>
          <p:cNvSpPr/>
          <p:nvPr/>
        </p:nvSpPr>
        <p:spPr>
          <a:xfrm>
            <a:off x="8166847" y="3706889"/>
            <a:ext cx="1828800" cy="1828800"/>
          </a:xfrm>
          <a:prstGeom prst="octagon">
            <a:avLst>
              <a:gd name="adj" fmla="val 25367"/>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265A451-1C74-4E84-B39C-8B1390223E27}"/>
              </a:ext>
            </a:extLst>
          </p:cNvPr>
          <p:cNvSpPr txBox="1"/>
          <p:nvPr/>
        </p:nvSpPr>
        <p:spPr>
          <a:xfrm>
            <a:off x="6772836" y="2756656"/>
            <a:ext cx="1604682" cy="923330"/>
          </a:xfrm>
          <a:prstGeom prst="rect">
            <a:avLst/>
          </a:prstGeom>
          <a:noFill/>
        </p:spPr>
        <p:txBody>
          <a:bodyPr wrap="square" rtlCol="0">
            <a:spAutoFit/>
          </a:bodyPr>
          <a:lstStyle/>
          <a:p>
            <a:r>
              <a:rPr lang="en-US" dirty="0">
                <a:solidFill>
                  <a:schemeClr val="bg1"/>
                </a:solidFill>
              </a:rPr>
              <a:t>Setting Up an Express Server</a:t>
            </a:r>
          </a:p>
        </p:txBody>
      </p:sp>
      <p:sp>
        <p:nvSpPr>
          <p:cNvPr id="44" name="TextBox 43">
            <a:extLst>
              <a:ext uri="{FF2B5EF4-FFF2-40B4-BE49-F238E27FC236}">
                <a16:creationId xmlns:a16="http://schemas.microsoft.com/office/drawing/2014/main" id="{0C0CBF58-FC45-46BE-9FBD-9A0A8BC04515}"/>
              </a:ext>
            </a:extLst>
          </p:cNvPr>
          <p:cNvSpPr txBox="1"/>
          <p:nvPr/>
        </p:nvSpPr>
        <p:spPr>
          <a:xfrm>
            <a:off x="8173571" y="1322311"/>
            <a:ext cx="1828800" cy="923330"/>
          </a:xfrm>
          <a:prstGeom prst="rect">
            <a:avLst/>
          </a:prstGeom>
          <a:noFill/>
        </p:spPr>
        <p:txBody>
          <a:bodyPr wrap="square" rtlCol="0">
            <a:spAutoFit/>
          </a:bodyPr>
          <a:lstStyle/>
          <a:p>
            <a:r>
              <a:rPr lang="en-US" dirty="0">
                <a:solidFill>
                  <a:schemeClr val="bg1"/>
                </a:solidFill>
              </a:rPr>
              <a:t>Middleware and Routing</a:t>
            </a:r>
          </a:p>
        </p:txBody>
      </p:sp>
      <p:sp>
        <p:nvSpPr>
          <p:cNvPr id="45" name="TextBox 44">
            <a:extLst>
              <a:ext uri="{FF2B5EF4-FFF2-40B4-BE49-F238E27FC236}">
                <a16:creationId xmlns:a16="http://schemas.microsoft.com/office/drawing/2014/main" id="{F6DA2571-A02F-4311-A473-C54AB3AD3579}"/>
              </a:ext>
            </a:extLst>
          </p:cNvPr>
          <p:cNvSpPr txBox="1"/>
          <p:nvPr/>
        </p:nvSpPr>
        <p:spPr>
          <a:xfrm>
            <a:off x="9728947" y="2895156"/>
            <a:ext cx="1716741" cy="646331"/>
          </a:xfrm>
          <a:prstGeom prst="rect">
            <a:avLst/>
          </a:prstGeom>
          <a:noFill/>
        </p:spPr>
        <p:txBody>
          <a:bodyPr wrap="square" rtlCol="0">
            <a:spAutoFit/>
          </a:bodyPr>
          <a:lstStyle/>
          <a:p>
            <a:r>
              <a:rPr lang="en-US" dirty="0">
                <a:solidFill>
                  <a:schemeClr val="bg1"/>
                </a:solidFill>
              </a:rPr>
              <a:t>HTTP Methods and Status Codes</a:t>
            </a:r>
          </a:p>
        </p:txBody>
      </p:sp>
      <p:sp>
        <p:nvSpPr>
          <p:cNvPr id="46" name="TextBox 45">
            <a:extLst>
              <a:ext uri="{FF2B5EF4-FFF2-40B4-BE49-F238E27FC236}">
                <a16:creationId xmlns:a16="http://schemas.microsoft.com/office/drawing/2014/main" id="{E8589E20-C4D4-4F0F-9992-D3D6BAFE3611}"/>
              </a:ext>
            </a:extLst>
          </p:cNvPr>
          <p:cNvSpPr txBox="1"/>
          <p:nvPr/>
        </p:nvSpPr>
        <p:spPr>
          <a:xfrm>
            <a:off x="8222877" y="4298124"/>
            <a:ext cx="1716741" cy="646331"/>
          </a:xfrm>
          <a:prstGeom prst="rect">
            <a:avLst/>
          </a:prstGeom>
          <a:noFill/>
        </p:spPr>
        <p:txBody>
          <a:bodyPr wrap="square" rtlCol="0">
            <a:spAutoFit/>
          </a:bodyPr>
          <a:lstStyle/>
          <a:p>
            <a:r>
              <a:rPr lang="en-US" dirty="0">
                <a:solidFill>
                  <a:schemeClr val="bg1"/>
                </a:solidFill>
              </a:rPr>
              <a:t>REST API Design and Practical Exercises</a:t>
            </a:r>
          </a:p>
        </p:txBody>
      </p:sp>
    </p:spTree>
    <p:extLst>
      <p:ext uri="{BB962C8B-B14F-4D97-AF65-F5344CB8AC3E}">
        <p14:creationId xmlns:p14="http://schemas.microsoft.com/office/powerpoint/2010/main" val="1180142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WHAT IS EXPRESS.JS?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Definition</a:t>
            </a:r>
          </a:p>
          <a:p>
            <a:endParaRPr lang="en-US" dirty="0"/>
          </a:p>
          <a:p>
            <a:r>
              <a:rPr lang="en-US" sz="1500" dirty="0"/>
              <a:t>Express.js is a fast, minimal, and flexible web application framework for Node.js. It provides a robust set of features for building web and mobile applications, and APIs. Express is often described as an "unopinionated" framework, meaning it gives you the freedom to structure your application however you like.</a:t>
            </a:r>
          </a:p>
          <a:p>
            <a:endParaRPr lang="en-US" dirty="0"/>
          </a:p>
          <a:p>
            <a:r>
              <a:rPr lang="en-US" b="1" dirty="0">
                <a:latin typeface="Arial Black" panose="020B0A04020102020204" pitchFamily="34" charset="0"/>
              </a:rPr>
              <a:t>Key Characteristics</a:t>
            </a:r>
          </a:p>
          <a:p>
            <a:endParaRPr lang="en-US" dirty="0"/>
          </a:p>
          <a:p>
            <a:pPr marL="285750" indent="-285750">
              <a:buFontTx/>
              <a:buChar char="-"/>
            </a:pPr>
            <a:r>
              <a:rPr lang="en-US" sz="1400" b="1" dirty="0"/>
              <a:t>Minimal Core:</a:t>
            </a:r>
            <a:r>
              <a:rPr lang="en-US" sz="1400" dirty="0"/>
              <a:t xml:space="preserve"> Express keeps things simple — it does not force you to use specific tools or patterns. You pick what you need.</a:t>
            </a:r>
          </a:p>
          <a:p>
            <a:pPr marL="285750" indent="-285750">
              <a:buFontTx/>
              <a:buChar char="-"/>
            </a:pPr>
            <a:r>
              <a:rPr lang="en-US" sz="1400" b="1" dirty="0"/>
              <a:t>Middleware-Based:</a:t>
            </a:r>
            <a:r>
              <a:rPr lang="en-US" sz="1400" dirty="0"/>
              <a:t xml:space="preserve"> The entire request/response lifecycle is handled through a chain of middleware functions, giving you fine-grained control.</a:t>
            </a:r>
          </a:p>
          <a:p>
            <a:pPr marL="285750" indent="-285750">
              <a:buFontTx/>
              <a:buChar char="-"/>
            </a:pPr>
            <a:r>
              <a:rPr lang="en-US" sz="1400" b="1" dirty="0"/>
              <a:t>Routing Support:</a:t>
            </a:r>
            <a:r>
              <a:rPr lang="en-US" sz="1400" dirty="0"/>
              <a:t xml:space="preserve"> Express provides a powerful routing API to map URLs to specific handler functions.</a:t>
            </a:r>
          </a:p>
          <a:p>
            <a:pPr marL="285750" indent="-285750">
              <a:buFontTx/>
              <a:buChar char="-"/>
            </a:pPr>
            <a:r>
              <a:rPr lang="en-US" sz="1400" b="1" dirty="0"/>
              <a:t>Node.js Integration:</a:t>
            </a:r>
            <a:r>
              <a:rPr lang="en-US" sz="1400" dirty="0"/>
              <a:t xml:space="preserve"> Express is built on top of Node.js’s built-in HTTP module and inherits its non-blocking, event-driven architecture.</a:t>
            </a:r>
          </a:p>
          <a:p>
            <a:pPr marL="285750" indent="-285750">
              <a:buFontTx/>
              <a:buChar char="-"/>
            </a:pPr>
            <a:r>
              <a:rPr lang="en-US" sz="1400" b="1" dirty="0"/>
              <a:t>Large Ecosystem:</a:t>
            </a:r>
            <a:r>
              <a:rPr lang="en-US" sz="1400" dirty="0"/>
              <a:t xml:space="preserve"> Thousands of compatible npm packages extend Express for database access, authentication, validation, and more.</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WHY USE EXPRESS.JS?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Advantages of Express.js</a:t>
            </a:r>
          </a:p>
          <a:p>
            <a:endParaRPr lang="en-US" dirty="0"/>
          </a:p>
          <a:p>
            <a:pPr marL="285750" indent="-285750">
              <a:buFontTx/>
              <a:buChar char="-"/>
            </a:pPr>
            <a:r>
              <a:rPr lang="en-US" sz="1400" b="1" dirty="0"/>
              <a:t>Speed:</a:t>
            </a:r>
            <a:r>
              <a:rPr lang="en-US" sz="1400" dirty="0"/>
              <a:t xml:space="preserve"> Express is lightweight and extremely fast at handling HTTP requests compared to many full-stack frameworks.</a:t>
            </a:r>
          </a:p>
          <a:p>
            <a:pPr marL="285750" indent="-285750">
              <a:buFontTx/>
              <a:buChar char="-"/>
            </a:pPr>
            <a:r>
              <a:rPr lang="en-US" sz="1400" b="1" dirty="0"/>
              <a:t>Simplicity:</a:t>
            </a:r>
            <a:r>
              <a:rPr lang="en-US" sz="1400" dirty="0"/>
              <a:t xml:space="preserve"> With just a few lines of code you can spin up a working web server — perfect for learning and rapid prototyping.</a:t>
            </a:r>
          </a:p>
          <a:p>
            <a:pPr marL="285750" indent="-285750">
              <a:buFontTx/>
              <a:buChar char="-"/>
            </a:pPr>
            <a:r>
              <a:rPr lang="en-US" sz="1400" b="1" dirty="0"/>
              <a:t>Flexibility:</a:t>
            </a:r>
            <a:r>
              <a:rPr lang="en-US" sz="1400" dirty="0"/>
              <a:t xml:space="preserve"> No strict project structure is enforced. Build REST APIs, serve HTML pages, or create full applications.</a:t>
            </a:r>
          </a:p>
          <a:p>
            <a:pPr marL="285750" indent="-285750">
              <a:buFontTx/>
              <a:buChar char="-"/>
            </a:pPr>
            <a:r>
              <a:rPr lang="en-US" sz="1400" b="1" dirty="0"/>
              <a:t>Community:</a:t>
            </a:r>
            <a:r>
              <a:rPr lang="en-US" sz="1400" dirty="0"/>
              <a:t xml:space="preserve"> Express has one of the largest communities in the Node.js ecosystem — finding tutorials, packages, and answers is easy.</a:t>
            </a:r>
          </a:p>
          <a:p>
            <a:pPr marL="285750" indent="-285750">
              <a:buFontTx/>
              <a:buChar char="-"/>
            </a:pPr>
            <a:r>
              <a:rPr lang="en-US" sz="1400" b="1" dirty="0"/>
              <a:t>Industry Standard:</a:t>
            </a:r>
            <a:r>
              <a:rPr lang="en-US" sz="1400" dirty="0"/>
              <a:t xml:space="preserve"> Express powers applications at companies like IBM, Uber, and Accenture, making it a valuable skill for the job market.</a:t>
            </a:r>
          </a:p>
          <a:p>
            <a:r>
              <a:rPr lang="en-US" b="1" dirty="0">
                <a:latin typeface="Arial Black" panose="020B0A04020102020204" pitchFamily="34" charset="0"/>
              </a:rPr>
              <a:t>Common Use Cases</a:t>
            </a:r>
          </a:p>
          <a:p>
            <a:endParaRPr lang="en-US" dirty="0"/>
          </a:p>
          <a:p>
            <a:pPr marL="285750" indent="-285750">
              <a:buFontTx/>
              <a:buChar char="-"/>
            </a:pPr>
            <a:r>
              <a:rPr lang="en-US" sz="1400" dirty="0"/>
              <a:t>RESTful APIs that serve data to front-end apps or mobile clients</a:t>
            </a:r>
          </a:p>
          <a:p>
            <a:pPr marL="285750" indent="-285750">
              <a:buFontTx/>
              <a:buChar char="-"/>
            </a:pPr>
            <a:r>
              <a:rPr lang="en-US" sz="1400" dirty="0"/>
              <a:t>Server-side rendered web applications</a:t>
            </a:r>
          </a:p>
          <a:p>
            <a:pPr marL="285750" indent="-285750">
              <a:buFontTx/>
              <a:buChar char="-"/>
            </a:pPr>
            <a:r>
              <a:rPr lang="en-US" sz="1400" dirty="0"/>
              <a:t>Backend microservices in larger distributed systems</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SETTING UP NODE.JS AND NPM</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Prerequisites</a:t>
            </a:r>
          </a:p>
          <a:p>
            <a:endParaRPr lang="en-US" dirty="0"/>
          </a:p>
          <a:p>
            <a:r>
              <a:rPr lang="en-US" sz="1500" dirty="0"/>
              <a:t>Before installing Express, you need Node.js and npm (Node Package Manager) installed on your machine. npm comes bundled with Node.js automatically.</a:t>
            </a:r>
          </a:p>
          <a:p>
            <a:endParaRPr lang="en-US" dirty="0"/>
          </a:p>
          <a:p>
            <a:r>
              <a:rPr lang="en-US" b="1" dirty="0">
                <a:latin typeface="Arial Black" panose="020B0A04020102020204" pitchFamily="34" charset="0"/>
              </a:rPr>
              <a:t>Installation Steps</a:t>
            </a:r>
          </a:p>
          <a:p>
            <a:endParaRPr lang="en-US" dirty="0"/>
          </a:p>
          <a:p>
            <a:pPr marL="285750" indent="-285750">
              <a:buFontTx/>
              <a:buChar char="-"/>
            </a:pPr>
            <a:r>
              <a:rPr lang="en-US" sz="1400" b="1" dirty="0"/>
              <a:t>Step 1:</a:t>
            </a:r>
            <a:r>
              <a:rPr lang="en-US" sz="1400" dirty="0"/>
              <a:t xml:space="preserve"> Go to https://nodejs.org and download the LTS (Long Term Support) version for your operating system.</a:t>
            </a:r>
          </a:p>
          <a:p>
            <a:pPr marL="285750" indent="-285750">
              <a:buFontTx/>
              <a:buChar char="-"/>
            </a:pPr>
            <a:r>
              <a:rPr lang="en-US" sz="1400" b="1" dirty="0"/>
              <a:t>Step 2:</a:t>
            </a:r>
            <a:r>
              <a:rPr lang="en-US" sz="1400" dirty="0"/>
              <a:t xml:space="preserve"> Run the installer and follow the on-screen instructions. Accept default settings.</a:t>
            </a:r>
          </a:p>
          <a:p>
            <a:pPr marL="285750" indent="-285750">
              <a:buFontTx/>
              <a:buChar char="-"/>
            </a:pPr>
            <a:r>
              <a:rPr lang="en-US" sz="1400" b="1" dirty="0"/>
              <a:t>Step 3:</a:t>
            </a:r>
            <a:r>
              <a:rPr lang="en-US" sz="1400" dirty="0"/>
              <a:t xml:space="preserve"> Open your terminal (Command Prompt, PowerShell, or Mac Terminal) and verify installation.</a:t>
            </a:r>
          </a:p>
          <a:p>
            <a:r>
              <a:rPr lang="en-US" b="1" dirty="0">
                <a:latin typeface="Arial Black" panose="020B0A04020102020204" pitchFamily="34" charset="0"/>
              </a:rPr>
              <a:t>Verify Installation</a:t>
            </a:r>
          </a:p>
          <a:p>
            <a:endParaRPr lang="en-US" dirty="0"/>
          </a:p>
          <a:p>
            <a:r>
              <a:rPr lang="en-US" sz="1500" dirty="0"/>
              <a:t>Type the following commands in your terminal to confirm successful installation:</a:t>
            </a:r>
          </a:p>
          <a:p>
            <a:endParaRPr lang="en-US" dirty="0"/>
          </a:p>
          <a:p>
            <a:pPr marL="285750" indent="-285750">
              <a:buFontTx/>
              <a:buChar char="-"/>
            </a:pPr>
            <a:r>
              <a:rPr lang="en-US" sz="1400" b="1" dirty="0"/>
              <a:t>node --version</a:t>
            </a:r>
            <a:r>
              <a:rPr lang="en-US" sz="1400" dirty="0"/>
              <a:t xml:space="preserve"> Should print something like v20.11.0</a:t>
            </a:r>
          </a:p>
          <a:p>
            <a:pPr marL="285750" indent="-285750">
              <a:buFontTx/>
              <a:buChar char="-"/>
            </a:pPr>
            <a:r>
              <a:rPr lang="en-US" sz="1400" b="1" dirty="0"/>
              <a:t>npm --version</a:t>
            </a:r>
            <a:r>
              <a:rPr lang="en-US" sz="1400" dirty="0"/>
              <a:t xml:space="preserve"> Should print something like 10.2.3</a:t>
            </a:r>
          </a:p>
          <a:p>
            <a:r>
              <a:rPr lang="en-US" b="1" dirty="0">
                <a:latin typeface="Arial Black" panose="020B0A04020102020204" pitchFamily="34" charset="0"/>
              </a:rPr>
              <a:t>What is npm?</a:t>
            </a:r>
          </a:p>
          <a:p>
            <a:endParaRPr lang="en-US" dirty="0"/>
          </a:p>
          <a:p>
            <a:r>
              <a:rPr lang="en-US" sz="1500" dirty="0"/>
              <a:t>npm is the package manager for Node.js. It allows you to install, update, and manage libraries (packages) that your project depends on. Every package you install is recorded in a file called package.json.</a:t>
            </a:r>
          </a:p>
          <a:p>
            <a:endParaRPr lang="en-US" dirty="0"/>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INSTALLING EXPRESS.JS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Creating a New Project</a:t>
            </a:r>
          </a:p>
          <a:p>
            <a:endParaRPr lang="en-US" dirty="0"/>
          </a:p>
          <a:p>
            <a:pPr marL="285750" indent="-285750">
              <a:buFontTx/>
              <a:buChar char="-"/>
            </a:pPr>
            <a:r>
              <a:rPr lang="en-US" sz="1400" b="1" dirty="0"/>
              <a:t>Step 1:</a:t>
            </a:r>
            <a:r>
              <a:rPr lang="en-US" sz="1400" dirty="0"/>
              <a:t xml:space="preserve"> Create a new folder for your project and open it in the terminal.</a:t>
            </a:r>
          </a:p>
          <a:p>
            <a:pPr marL="285750" indent="-285750">
              <a:buFontTx/>
              <a:buChar char="-"/>
            </a:pPr>
            <a:r>
              <a:rPr lang="en-US" sz="1400" b="1" dirty="0"/>
              <a:t>Step 2:</a:t>
            </a:r>
            <a:r>
              <a:rPr lang="en-US" sz="1400" dirty="0"/>
              <a:t xml:space="preserve"> Run npm init -y to create a package.json file. The -y flag accepts all default settings automatically.</a:t>
            </a:r>
          </a:p>
          <a:p>
            <a:pPr marL="285750" indent="-285750">
              <a:buFontTx/>
              <a:buChar char="-"/>
            </a:pPr>
            <a:r>
              <a:rPr lang="en-US" sz="1400" b="1" dirty="0"/>
              <a:t>Step 3:</a:t>
            </a:r>
            <a:r>
              <a:rPr lang="en-US" sz="1400" dirty="0"/>
              <a:t xml:space="preserve"> Install Express by running: npm install express</a:t>
            </a:r>
          </a:p>
          <a:p>
            <a:r>
              <a:rPr lang="en-US" b="1" dirty="0">
                <a:latin typeface="Arial Black" panose="020B0A04020102020204" pitchFamily="34" charset="0"/>
              </a:rPr>
              <a:t>What Happens After Installation?</a:t>
            </a:r>
          </a:p>
          <a:p>
            <a:endParaRPr lang="en-US" dirty="0"/>
          </a:p>
          <a:p>
            <a:pPr marL="285750" indent="-285750">
              <a:buFontTx/>
              <a:buChar char="-"/>
            </a:pPr>
            <a:r>
              <a:rPr lang="en-US" sz="1400" b="1" dirty="0"/>
              <a:t>node_modules/:</a:t>
            </a:r>
            <a:r>
              <a:rPr lang="en-US" sz="1400" dirty="0"/>
              <a:t xml:space="preserve"> A folder created by npm containing Express and all its dependencies. Never edit this folder directly.</a:t>
            </a:r>
          </a:p>
          <a:p>
            <a:pPr marL="285750" indent="-285750">
              <a:buFontTx/>
              <a:buChar char="-"/>
            </a:pPr>
            <a:r>
              <a:rPr lang="en-US" sz="1400" b="1" dirty="0"/>
              <a:t>package.json:</a:t>
            </a:r>
            <a:r>
              <a:rPr lang="en-US" sz="1400" dirty="0"/>
              <a:t xml:space="preserve"> Updated to include Express under “dependencies”: { “express”: “^4.x.x” }</a:t>
            </a:r>
          </a:p>
          <a:p>
            <a:pPr marL="285750" indent="-285750">
              <a:buFontTx/>
              <a:buChar char="-"/>
            </a:pPr>
            <a:r>
              <a:rPr lang="en-US" sz="1400" b="1" dirty="0"/>
              <a:t>package-lock.json:</a:t>
            </a:r>
            <a:r>
              <a:rPr lang="en-US" sz="1400" dirty="0"/>
              <a:t xml:space="preserve"> A lock file that records the exact version of every installed package for reproducibility.</a:t>
            </a:r>
          </a:p>
          <a:p>
            <a:r>
              <a:rPr lang="en-US" b="1" dirty="0">
                <a:latin typeface="Arial Black" panose="020B0A04020102020204" pitchFamily="34" charset="0"/>
              </a:rPr>
              <a:t>Pro Tip</a:t>
            </a:r>
          </a:p>
          <a:p>
            <a:endParaRPr lang="en-US" dirty="0"/>
          </a:p>
          <a:p>
            <a:r>
              <a:rPr lang="en-US" sz="1500" dirty="0"/>
              <a:t>Add a .gitignore file to your project with node_modules/ inside it. This prevents accidentally uploading thousands of package files to GitHub.</a:t>
            </a:r>
          </a:p>
          <a:p>
            <a:endParaRPr lang="en-US" dirty="0"/>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YOUR FIRST EXPRESS SERVER</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Creating server.js</a:t>
            </a:r>
          </a:p>
          <a:p>
            <a:endParaRPr lang="en-US" dirty="0"/>
          </a:p>
          <a:p>
            <a:r>
              <a:rPr lang="en-US" sz="1500" dirty="0"/>
              <a:t>Create a new file called server.js in your project folder. This file will be the entry point of your application. Every Express app follows the same basic pattern:</a:t>
            </a:r>
          </a:p>
          <a:p>
            <a:endParaRPr lang="en-US" dirty="0"/>
          </a:p>
          <a:p>
            <a:pPr marL="285750" indent="-285750">
              <a:buFontTx/>
              <a:buChar char="-"/>
            </a:pPr>
            <a:r>
              <a:rPr lang="en-US" sz="1400" b="1" dirty="0"/>
              <a:t>1. Import Express:</a:t>
            </a:r>
            <a:r>
              <a:rPr lang="en-US" sz="1400" dirty="0"/>
              <a:t xml:space="preserve"> Load the express module using require().</a:t>
            </a:r>
          </a:p>
          <a:p>
            <a:pPr marL="285750" indent="-285750">
              <a:buFontTx/>
              <a:buChar char="-"/>
            </a:pPr>
            <a:r>
              <a:rPr lang="en-US" sz="1400" b="1" dirty="0"/>
              <a:t>2. Create App:</a:t>
            </a:r>
            <a:r>
              <a:rPr lang="en-US" sz="1400" dirty="0"/>
              <a:t xml:space="preserve"> Call express() to create an application instance.</a:t>
            </a:r>
          </a:p>
          <a:p>
            <a:pPr marL="285750" indent="-285750">
              <a:buFontTx/>
              <a:buChar char="-"/>
            </a:pPr>
            <a:r>
              <a:rPr lang="en-US" sz="1400" b="1" dirty="0"/>
              <a:t>3. Define Routes:</a:t>
            </a:r>
            <a:r>
              <a:rPr lang="en-US" sz="1400" dirty="0"/>
              <a:t xml:space="preserve"> Tell the app how to respond to specific URL paths and HTTP methods.</a:t>
            </a:r>
          </a:p>
          <a:p>
            <a:pPr marL="285750" indent="-285750">
              <a:buFontTx/>
              <a:buChar char="-"/>
            </a:pPr>
            <a:r>
              <a:rPr lang="en-US" sz="1400" b="1" dirty="0"/>
              <a:t>4. Start Listening:</a:t>
            </a:r>
            <a:r>
              <a:rPr lang="en-US" sz="1400" dirty="0"/>
              <a:t xml:space="preserve"> Call app.listen() with a port number to start the server.</a:t>
            </a:r>
          </a:p>
          <a:p>
            <a:r>
              <a:rPr lang="en-US" b="1" dirty="0">
                <a:latin typeface="Arial Black" panose="020B0A04020102020204" pitchFamily="34" charset="0"/>
              </a:rPr>
              <a:t>Running the Server</a:t>
            </a:r>
          </a:p>
          <a:p>
            <a:endParaRPr lang="en-US" dirty="0"/>
          </a:p>
          <a:p>
            <a:r>
              <a:rPr lang="en-US" sz="1500" dirty="0"/>
              <a:t>To start your server, run: node server.js in the terminal. Then open a browser and go to http://localhost:3000 to see your response. Press Ctrl+C to stop the server.</a:t>
            </a:r>
          </a:p>
          <a:p>
            <a:endParaRPr lang="en-US" dirty="0"/>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HELLO WORLD SERVER</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server.js — Minimal Express Application</a:t>
            </a:r>
          </a:p>
          <a:p>
            <a:r>
              <a:rPr lang="en-US" sz="1500" dirty="0"/>
              <a:t>The complete code for your first Express server. Study each line carefully:</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 Step 1: Import the express module</a:t>
            </a:r>
          </a:p>
          <a:p>
            <a:r>
              <a:rPr lang="en-US" sz="1150" dirty="0">
                <a:solidFill>
                  <a:srgbClr val="D4D4D4"/>
                </a:solidFill>
                <a:latin typeface="Consolas" panose="020B0609020204030204" pitchFamily="49" charset="0"/>
              </a:rPr>
              <a:t>const express = require('express');</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Step 2: Create an Express application instance</a:t>
            </a:r>
          </a:p>
          <a:p>
            <a:r>
              <a:rPr lang="en-US" sz="1150" dirty="0">
                <a:solidFill>
                  <a:srgbClr val="D4D4D4"/>
                </a:solidFill>
                <a:latin typeface="Consolas" panose="020B0609020204030204" pitchFamily="49" charset="0"/>
              </a:rPr>
              <a:t>const app = express();</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Step 3: Define a route handler for GET requests to /</a:t>
            </a:r>
          </a:p>
          <a:p>
            <a:r>
              <a:rPr lang="en-US" sz="1150" dirty="0">
                <a:solidFill>
                  <a:srgbClr val="D4D4D4"/>
                </a:solidFill>
                <a:latin typeface="Consolas" panose="020B0609020204030204" pitchFamily="49" charset="0"/>
              </a:rPr>
              <a:t>app.get('/', function(req, res) {</a:t>
            </a:r>
          </a:p>
          <a:p>
            <a:r>
              <a:rPr lang="en-US" sz="1150" dirty="0">
                <a:solidFill>
                  <a:srgbClr val="D4D4D4"/>
                </a:solidFill>
                <a:latin typeface="Consolas" panose="020B0609020204030204" pitchFamily="49" charset="0"/>
              </a:rPr>
              <a:t xml:space="preserve">  res.send('Hello, World! Welcome to Express.js!');</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Step 4: Start listening on port 3000</a:t>
            </a:r>
          </a:p>
          <a:p>
            <a:r>
              <a:rPr lang="en-US" sz="1150" dirty="0">
                <a:solidFill>
                  <a:srgbClr val="D4D4D4"/>
                </a:solidFill>
                <a:latin typeface="Consolas" panose="020B0609020204030204" pitchFamily="49" charset="0"/>
              </a:rPr>
              <a:t>app.listen(3000, function() {</a:t>
            </a:r>
          </a:p>
          <a:p>
            <a:r>
              <a:rPr lang="en-US" sz="1150" dirty="0">
                <a:solidFill>
                  <a:srgbClr val="D4D4D4"/>
                </a:solidFill>
                <a:latin typeface="Consolas" panose="020B0609020204030204" pitchFamily="49" charset="0"/>
              </a:rPr>
              <a:t xml:space="preserve">  console.log('Server is running on http://localhost:3000');</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UNDERSTANDING APP.LISTEN()</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Does app.listen() Do?</a:t>
            </a:r>
          </a:p>
          <a:p>
            <a:endParaRPr lang="en-US" dirty="0"/>
          </a:p>
          <a:p>
            <a:r>
              <a:rPr lang="en-US" sz="1500" dirty="0"/>
              <a:t>app.listen() starts the HTTP server on the specified port number and begins accepting incoming connections. It is the last step in setting up an Express application.</a:t>
            </a:r>
          </a:p>
          <a:p>
            <a:endParaRPr lang="en-US" dirty="0"/>
          </a:p>
          <a:p>
            <a:r>
              <a:rPr lang="en-US" b="1" dirty="0">
                <a:latin typeface="Arial Black" panose="020B0A04020102020204" pitchFamily="34" charset="0"/>
              </a:rPr>
              <a:t>Syntax Breakdown</a:t>
            </a:r>
          </a:p>
          <a:p>
            <a:endParaRPr lang="en-US" dirty="0"/>
          </a:p>
          <a:p>
            <a:pPr marL="285750" indent="-285750">
              <a:buFontTx/>
              <a:buChar char="-"/>
            </a:pPr>
            <a:r>
              <a:rPr lang="en-US" sz="1400" b="1" dirty="0"/>
              <a:t>port (required):</a:t>
            </a:r>
            <a:r>
              <a:rPr lang="en-US" sz="1400" dirty="0"/>
              <a:t xml:space="preserve"> The port number the server will listen on. Common choices: 3000, 4000, 8000, 8080. Port 80 is the default for HTTP, but requires admin privileges.</a:t>
            </a:r>
          </a:p>
          <a:p>
            <a:pPr marL="285750" indent="-285750">
              <a:buFontTx/>
              <a:buChar char="-"/>
            </a:pPr>
            <a:r>
              <a:rPr lang="en-US" sz="1400" b="1" dirty="0"/>
              <a:t>hostname (optional):</a:t>
            </a:r>
            <a:r>
              <a:rPr lang="en-US" sz="1400" dirty="0"/>
              <a:t xml:space="preserve"> The IP address to bind to. Defaults to 0.0.0.0 (all network interfaces). Use ‘localhost’ to restrict to your machine only.</a:t>
            </a:r>
          </a:p>
          <a:p>
            <a:pPr marL="285750" indent="-285750">
              <a:buFontTx/>
              <a:buChar char="-"/>
            </a:pPr>
            <a:r>
              <a:rPr lang="en-US" sz="1400" b="1" dirty="0"/>
              <a:t>callback (optional):</a:t>
            </a:r>
            <a:r>
              <a:rPr lang="en-US" sz="1400" dirty="0"/>
              <a:t xml:space="preserve"> A function that runs once the server starts successfully. Useful for logging a startup message.</a:t>
            </a:r>
          </a:p>
          <a:p>
            <a:r>
              <a:rPr lang="en-US" b="1" dirty="0">
                <a:latin typeface="Arial Black" panose="020B0A04020102020204" pitchFamily="34" charset="0"/>
              </a:rPr>
              <a:t>Environment-Based Port</a:t>
            </a:r>
          </a:p>
          <a:p>
            <a:endParaRPr lang="en-US" dirty="0"/>
          </a:p>
          <a:p>
            <a:r>
              <a:rPr lang="en-US" sz="1500" dirty="0"/>
              <a:t>In production, the port is usually set via an environment variable so the platform can control it: const PORT = process.env.PORT || 3000; This means: use the PORT environment variable if it exists, otherwise default to 3000.</a:t>
            </a:r>
          </a:p>
          <a:p>
            <a:endParaRPr lang="en-US" dirty="0"/>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WHAT IS MIDDLEWARE?</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Definition</a:t>
            </a:r>
          </a:p>
          <a:p>
            <a:endParaRPr lang="en-US" dirty="0"/>
          </a:p>
          <a:p>
            <a:r>
              <a:rPr lang="en-US" sz="1500" dirty="0"/>
              <a:t>Middleware is a function that has access to the request object (req), the response object (res), and a function called next that passes control to the next middleware in the chain. Middleware runs between the moment a request arrives and the moment a response is sent.</a:t>
            </a:r>
          </a:p>
          <a:p>
            <a:endParaRPr lang="en-US" dirty="0"/>
          </a:p>
          <a:p>
            <a:r>
              <a:rPr lang="en-US" b="1" dirty="0">
                <a:latin typeface="Arial Black" panose="020B0A04020102020204" pitchFamily="34" charset="0"/>
              </a:rPr>
              <a:t>The Middleware Chain</a:t>
            </a:r>
          </a:p>
          <a:p>
            <a:endParaRPr lang="en-US" dirty="0"/>
          </a:p>
          <a:p>
            <a:r>
              <a:rPr lang="en-US" sz="1500" dirty="0"/>
              <a:t>Think of middleware as a series of "checkpoints" that every request must pass through. Each checkpoint can: inspect or modify the request/response, execute any code, end the request-response cycle, or call next() to move to the next checkpoint.</a:t>
            </a:r>
          </a:p>
          <a:p>
            <a:endParaRPr lang="en-US" dirty="0"/>
          </a:p>
          <a:p>
            <a:r>
              <a:rPr lang="en-US" b="1" dirty="0">
                <a:latin typeface="Arial Black" panose="020B0A04020102020204" pitchFamily="34" charset="0"/>
              </a:rPr>
              <a:t>Types of Middleware in Express</a:t>
            </a:r>
          </a:p>
          <a:p>
            <a:endParaRPr lang="en-US" dirty="0"/>
          </a:p>
          <a:p>
            <a:pPr marL="285750" indent="-285750">
              <a:buFontTx/>
              <a:buChar char="-"/>
            </a:pPr>
            <a:r>
              <a:rPr lang="en-US" sz="1400" b="1" dirty="0"/>
              <a:t>Application-level:</a:t>
            </a:r>
            <a:r>
              <a:rPr lang="en-US" sz="1400" dirty="0"/>
              <a:t xml:space="preserve"> Bound to the app using app.use() or app.METHOD(). Runs on every request or specific routes.</a:t>
            </a:r>
          </a:p>
          <a:p>
            <a:pPr marL="285750" indent="-285750">
              <a:buFontTx/>
              <a:buChar char="-"/>
            </a:pPr>
            <a:r>
              <a:rPr lang="en-US" sz="1400" b="1" dirty="0"/>
              <a:t>Router-level:</a:t>
            </a:r>
            <a:r>
              <a:rPr lang="en-US" sz="1400" dirty="0"/>
              <a:t xml:space="preserve"> Works the same but is bound to an instance of express.Router().</a:t>
            </a:r>
          </a:p>
          <a:p>
            <a:pPr marL="285750" indent="-285750">
              <a:buFontTx/>
              <a:buChar char="-"/>
            </a:pPr>
            <a:r>
              <a:rPr lang="en-US" sz="1400" b="1" dirty="0"/>
              <a:t>Error-handling:</a:t>
            </a:r>
            <a:r>
              <a:rPr lang="en-US" sz="1400" dirty="0"/>
              <a:t xml:space="preserve"> Takes four arguments (err, req, res, next) and handles errors globally.</a:t>
            </a:r>
          </a:p>
          <a:p>
            <a:pPr marL="285750" indent="-285750">
              <a:buFontTx/>
              <a:buChar char="-"/>
            </a:pPr>
            <a:r>
              <a:rPr lang="en-US" sz="1400" b="1" dirty="0"/>
              <a:t>Built-in:</a:t>
            </a:r>
            <a:r>
              <a:rPr lang="en-US" sz="1400" dirty="0"/>
              <a:t xml:space="preserve"> Provided by Express itself, e.g. express.json() and express.static().</a:t>
            </a:r>
          </a:p>
          <a:p>
            <a:pPr marL="285750" indent="-285750">
              <a:buFontTx/>
              <a:buChar char="-"/>
            </a:pPr>
            <a:r>
              <a:rPr lang="en-US" sz="1400" b="1" dirty="0"/>
              <a:t>Third-party:</a:t>
            </a:r>
            <a:r>
              <a:rPr lang="en-US" sz="1400" dirty="0"/>
              <a:t xml:space="preserve"> Installed via npm, e.g. morgan for logging, cors for cross-origin requests.</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BUILT-IN MIDDLEWARE IN EXPRESS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express.json()</a:t>
            </a:r>
          </a:p>
          <a:p>
            <a:endParaRPr lang="en-US" dirty="0"/>
          </a:p>
          <a:p>
            <a:r>
              <a:rPr lang="en-US" sz="1500" dirty="0"/>
              <a:t>Parses incoming requests with JSON payloads. When a client sends data in JSON format (e.g. from a form submission or fetch() call), this middleware reads the raw bytes and converts them into a JavaScript object available at req.body. Usage: app.use(express.json())</a:t>
            </a:r>
          </a:p>
          <a:p>
            <a:endParaRPr lang="en-US" dirty="0"/>
          </a:p>
          <a:p>
            <a:r>
              <a:rPr lang="en-US" b="1" dirty="0">
                <a:latin typeface="Arial Black" panose="020B0A04020102020204" pitchFamily="34" charset="0"/>
              </a:rPr>
              <a:t>express.urlencoded()</a:t>
            </a:r>
          </a:p>
          <a:p>
            <a:endParaRPr lang="en-US" dirty="0"/>
          </a:p>
          <a:p>
            <a:r>
              <a:rPr lang="en-US" sz="1500" dirty="0"/>
              <a:t>Parses incoming requests with URL-encoded payloads — the format used by HTML form submissions. The extended: true option allows parsing nested objects. Usage: app.use(express.urlencoded({ extended: true }))</a:t>
            </a:r>
          </a:p>
          <a:p>
            <a:endParaRPr lang="en-US" dirty="0"/>
          </a:p>
          <a:p>
            <a:r>
              <a:rPr lang="en-US" b="1" dirty="0">
                <a:latin typeface="Arial Black" panose="020B0A04020102020204" pitchFamily="34" charset="0"/>
              </a:rPr>
              <a:t>express.static()</a:t>
            </a:r>
          </a:p>
          <a:p>
            <a:endParaRPr lang="en-US" dirty="0"/>
          </a:p>
          <a:p>
            <a:r>
              <a:rPr lang="en-US" sz="1500" dirty="0"/>
              <a:t>Serves static files (HTML, CSS, images, JavaScript) from a folder on your server. This is how you deliver front-end assets. Usage: app.use(express.static(‘public’)) — serve files from a folder named public/.</a:t>
            </a:r>
          </a:p>
          <a:p>
            <a:endParaRPr lang="en-US" dirty="0"/>
          </a:p>
          <a:p>
            <a:r>
              <a:rPr lang="en-US" b="1" dirty="0">
                <a:latin typeface="Arial Black" panose="020B0A04020102020204" pitchFamily="34" charset="0"/>
              </a:rPr>
              <a:t>Important Note</a:t>
            </a:r>
          </a:p>
          <a:p>
            <a:endParaRPr lang="en-US" dirty="0"/>
          </a:p>
          <a:p>
            <a:r>
              <a:rPr lang="en-US" sz="1500" dirty="0"/>
              <a:t>Middleware must be registered BEFORE the routes that depend on it. If you call app.use(express.json()) after your route definitions, req.body will be undefined inside those routes.</a:t>
            </a:r>
          </a:p>
          <a:p>
            <a:endParaRPr lang="en-US" dirty="0"/>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CUSTOM MIDDLEWARE</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Writing Your Own Middleware Function</a:t>
            </a:r>
          </a:p>
          <a:p>
            <a:r>
              <a:rPr lang="en-US" sz="1500" dirty="0"/>
              <a:t>Custom middleware is just a function with (req, res, next) parameters. Always call next() unless you are ending the response:</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 Custom logging middleware</a:t>
            </a:r>
          </a:p>
          <a:p>
            <a:r>
              <a:rPr lang="en-US" sz="1150" dirty="0">
                <a:solidFill>
                  <a:srgbClr val="D4D4D4"/>
                </a:solidFill>
                <a:latin typeface="Consolas" panose="020B0609020204030204" pitchFamily="49" charset="0"/>
              </a:rPr>
              <a:t>function logger(req, res, next) {</a:t>
            </a:r>
          </a:p>
          <a:p>
            <a:r>
              <a:rPr lang="en-US" sz="1150" dirty="0">
                <a:solidFill>
                  <a:srgbClr val="D4D4D4"/>
                </a:solidFill>
                <a:latin typeface="Consolas" panose="020B0609020204030204" pitchFamily="49" charset="0"/>
              </a:rPr>
              <a:t xml:space="preserve">  const time = new Date().toISOString();</a:t>
            </a:r>
          </a:p>
          <a:p>
            <a:r>
              <a:rPr lang="en-US" sz="1150" dirty="0">
                <a:solidFill>
                  <a:srgbClr val="D4D4D4"/>
                </a:solidFill>
                <a:latin typeface="Consolas" panose="020B0609020204030204" pitchFamily="49" charset="0"/>
              </a:rPr>
              <a:t xml:space="preserve">  console.log(`[${time}] ${req.method} ${req.url}`);</a:t>
            </a:r>
          </a:p>
          <a:p>
            <a:r>
              <a:rPr lang="en-US" sz="1150" dirty="0">
                <a:solidFill>
                  <a:srgbClr val="D4D4D4"/>
                </a:solidFill>
                <a:latin typeface="Consolas" panose="020B0609020204030204" pitchFamily="49" charset="0"/>
              </a:rPr>
              <a:t xml:space="preserve">  next(); // Pass control to the next middleware/route</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Register middleware BEFORE routes</a:t>
            </a:r>
          </a:p>
          <a:p>
            <a:r>
              <a:rPr lang="en-US" sz="1150" dirty="0">
                <a:solidFill>
                  <a:srgbClr val="D4D4D4"/>
                </a:solidFill>
                <a:latin typeface="Consolas" panose="020B0609020204030204" pitchFamily="49" charset="0"/>
              </a:rPr>
              <a:t>app.use(logger);</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Custom authentication check middleware</a:t>
            </a:r>
          </a:p>
          <a:p>
            <a:r>
              <a:rPr lang="en-US" sz="1150" dirty="0">
                <a:solidFill>
                  <a:srgbClr val="D4D4D4"/>
                </a:solidFill>
                <a:latin typeface="Consolas" panose="020B0609020204030204" pitchFamily="49" charset="0"/>
              </a:rPr>
              <a:t>function requireAuth(req, res, next) {</a:t>
            </a:r>
          </a:p>
          <a:p>
            <a:r>
              <a:rPr lang="en-US" sz="1150" dirty="0">
                <a:solidFill>
                  <a:srgbClr val="D4D4D4"/>
                </a:solidFill>
                <a:latin typeface="Consolas" panose="020B0609020204030204" pitchFamily="49" charset="0"/>
              </a:rPr>
              <a:t xml:space="preserve">  const token = req.headers['authorization'];</a:t>
            </a:r>
          </a:p>
          <a:p>
            <a:r>
              <a:rPr lang="en-US" sz="1150" dirty="0">
                <a:solidFill>
                  <a:srgbClr val="D4D4D4"/>
                </a:solidFill>
                <a:latin typeface="Consolas" panose="020B0609020204030204" pitchFamily="49" charset="0"/>
              </a:rPr>
              <a:t xml:space="preserve">  if (!token) {</a:t>
            </a:r>
          </a:p>
          <a:p>
            <a:r>
              <a:rPr lang="en-US" sz="1150" dirty="0">
                <a:solidFill>
                  <a:srgbClr val="D4D4D4"/>
                </a:solidFill>
                <a:latin typeface="Consolas" panose="020B0609020204030204" pitchFamily="49" charset="0"/>
              </a:rPr>
              <a:t xml:space="preserve">    return res.status(401).json({ error: 'Unauthorized' });</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xml:space="preserve">  next(); // Token exists, proceed</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Apply auth middleware to a specific route only</a:t>
            </a:r>
          </a:p>
          <a:p>
            <a:r>
              <a:rPr lang="en-US" sz="1150" dirty="0">
                <a:solidFill>
                  <a:srgbClr val="D4D4D4"/>
                </a:solidFill>
                <a:latin typeface="Consolas" panose="020B0609020204030204" pitchFamily="49" charset="0"/>
              </a:rPr>
              <a:t>app.get('/dashboard', requireAuth, (req, res) =&gt; {</a:t>
            </a:r>
          </a:p>
          <a:p>
            <a:r>
              <a:rPr lang="en-US" sz="1150" dirty="0">
                <a:solidFill>
                  <a:srgbClr val="D4D4D4"/>
                </a:solidFill>
                <a:latin typeface="Consolas" panose="020B0609020204030204" pitchFamily="49" charset="0"/>
              </a:rPr>
              <a:t xml:space="preserve">  res.send('Welcome to the dashboard!');</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ROUTING BASICS IN EXPRESS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is Routing?</a:t>
            </a:r>
          </a:p>
          <a:p>
            <a:endParaRPr lang="en-US" dirty="0"/>
          </a:p>
          <a:p>
            <a:r>
              <a:rPr lang="en-US" sz="1500" dirty="0"/>
              <a:t>Routing refers to how an application responds to a client request to a particular endpoint (a URI/path) and a specific HTTP method (GET, POST, etc.). Each route can have one or more handler functions which are executed when the route is matched.</a:t>
            </a:r>
          </a:p>
          <a:p>
            <a:endParaRPr lang="en-US" dirty="0"/>
          </a:p>
          <a:p>
            <a:r>
              <a:rPr lang="en-US" b="1" dirty="0">
                <a:latin typeface="Arial Black" panose="020B0A04020102020204" pitchFamily="34" charset="0"/>
              </a:rPr>
              <a:t>Route Definition Syntax</a:t>
            </a:r>
          </a:p>
          <a:p>
            <a:endParaRPr lang="en-US" dirty="0"/>
          </a:p>
          <a:p>
            <a:r>
              <a:rPr lang="en-US" sz="1500" dirty="0"/>
              <a:t>app.METHOD(PATH, HANDLER) where: METHOD is the HTTP method in lowercase (get, post, put, delete). PATH is the URL path on the server. HANDLER is the function to execute when the route matches.</a:t>
            </a:r>
          </a:p>
          <a:p>
            <a:endParaRPr lang="en-US" dirty="0"/>
          </a:p>
          <a:p>
            <a:r>
              <a:rPr lang="en-US" b="1" dirty="0">
                <a:latin typeface="Arial Black" panose="020B0A04020102020204" pitchFamily="34" charset="0"/>
              </a:rPr>
              <a:t>Route Examples</a:t>
            </a:r>
          </a:p>
          <a:p>
            <a:endParaRPr lang="en-US" dirty="0"/>
          </a:p>
          <a:p>
            <a:pPr marL="285750" indent="-285750">
              <a:buFontTx/>
              <a:buChar char="-"/>
            </a:pPr>
            <a:r>
              <a:rPr lang="en-US" sz="1400" b="1" dirty="0"/>
              <a:t>app.get('/', ...)</a:t>
            </a:r>
            <a:r>
              <a:rPr lang="en-US" sz="1400" dirty="0"/>
              <a:t xml:space="preserve"> Responds to GET requests at the root URL /</a:t>
            </a:r>
          </a:p>
          <a:p>
            <a:pPr marL="285750" indent="-285750">
              <a:buFontTx/>
              <a:buChar char="-"/>
            </a:pPr>
            <a:r>
              <a:rPr lang="en-US" sz="1400" b="1" dirty="0"/>
              <a:t>app.post('/users', ...)</a:t>
            </a:r>
            <a:r>
              <a:rPr lang="en-US" sz="1400" dirty="0"/>
              <a:t xml:space="preserve"> Responds to POST requests at /users (usually to create a new user)</a:t>
            </a:r>
          </a:p>
          <a:p>
            <a:pPr marL="285750" indent="-285750">
              <a:buFontTx/>
              <a:buChar char="-"/>
            </a:pPr>
            <a:r>
              <a:rPr lang="en-US" sz="1400" b="1" dirty="0"/>
              <a:t>app.put('/users/:id', ...)</a:t>
            </a:r>
            <a:r>
              <a:rPr lang="en-US" sz="1400" dirty="0"/>
              <a:t xml:space="preserve"> Responds to PUT requests at /users/123 (update a specific user)</a:t>
            </a:r>
          </a:p>
          <a:p>
            <a:pPr marL="285750" indent="-285750">
              <a:buFontTx/>
              <a:buChar char="-"/>
            </a:pPr>
            <a:r>
              <a:rPr lang="en-US" sz="1400" b="1" dirty="0"/>
              <a:t>app.delete('/users/:id', ...)</a:t>
            </a:r>
            <a:r>
              <a:rPr lang="en-US" sz="1400" dirty="0"/>
              <a:t xml:space="preserve"> Responds to DELETE requests to remove a resource</a:t>
            </a:r>
          </a:p>
          <a:p>
            <a:r>
              <a:rPr lang="en-US" b="1" dirty="0">
                <a:latin typeface="Arial Black" panose="020B0A04020102020204" pitchFamily="34" charset="0"/>
              </a:rPr>
              <a:t>app.use() vs app.get()</a:t>
            </a:r>
          </a:p>
          <a:p>
            <a:endParaRPr lang="en-US" dirty="0"/>
          </a:p>
          <a:p>
            <a:r>
              <a:rPr lang="en-US" sz="1500" dirty="0"/>
              <a:t>app.use() matches ALL HTTP methods and is primarily used for middleware. app.get() only matches GET requests and is used for routes that deliver data.</a:t>
            </a:r>
          </a:p>
          <a:p>
            <a:endParaRPr lang="en-US" dirty="0"/>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ROUTE PARAMETERS</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Dynamic URL Segments with :param</a:t>
            </a:r>
          </a:p>
          <a:p>
            <a:r>
              <a:rPr lang="en-US" sz="1500" dirty="0"/>
              <a:t>Route parameters are named URL segments used to capture values from the URL. They are prefixed with a colon (:) in the route path and accessed via req.params:</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 Route with a parameter: :id captures the value</a:t>
            </a:r>
          </a:p>
          <a:p>
            <a:r>
              <a:rPr lang="en-US" sz="1150" dirty="0">
                <a:solidFill>
                  <a:srgbClr val="D4D4D4"/>
                </a:solidFill>
                <a:latin typeface="Consolas" panose="020B0609020204030204" pitchFamily="49" charset="0"/>
              </a:rPr>
              <a:t>app.get('/users/:id', (req, res) =&gt; {</a:t>
            </a:r>
          </a:p>
          <a:p>
            <a:r>
              <a:rPr lang="en-US" sz="1150" dirty="0">
                <a:solidFill>
                  <a:srgbClr val="D4D4D4"/>
                </a:solidFill>
                <a:latin typeface="Consolas" panose="020B0609020204030204" pitchFamily="49" charset="0"/>
              </a:rPr>
              <a:t xml:space="preserve">  const userId = req.params.id; // e.g. "42"</a:t>
            </a:r>
          </a:p>
          <a:p>
            <a:r>
              <a:rPr lang="en-US" sz="1150" dirty="0">
                <a:solidFill>
                  <a:srgbClr val="D4D4D4"/>
                </a:solidFill>
                <a:latin typeface="Consolas" panose="020B0609020204030204" pitchFamily="49" charset="0"/>
              </a:rPr>
              <a:t xml:space="preserve">  res.send(`Fetching user with ID: ${userId}`);</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Multiple parameters</a:t>
            </a:r>
          </a:p>
          <a:p>
            <a:r>
              <a:rPr lang="en-US" sz="1150" dirty="0">
                <a:solidFill>
                  <a:srgbClr val="D4D4D4"/>
                </a:solidFill>
                <a:latin typeface="Consolas" panose="020B0609020204030204" pitchFamily="49" charset="0"/>
              </a:rPr>
              <a:t>app.get('/posts/:year/:month', (req, res) =&gt; {</a:t>
            </a:r>
          </a:p>
          <a:p>
            <a:r>
              <a:rPr lang="en-US" sz="1150" dirty="0">
                <a:solidFill>
                  <a:srgbClr val="D4D4D4"/>
                </a:solidFill>
                <a:latin typeface="Consolas" panose="020B0609020204030204" pitchFamily="49" charset="0"/>
              </a:rPr>
              <a:t xml:space="preserve">  const { year, month } = req.params;</a:t>
            </a:r>
          </a:p>
          <a:p>
            <a:r>
              <a:rPr lang="en-US" sz="1150" dirty="0">
                <a:solidFill>
                  <a:srgbClr val="D4D4D4"/>
                </a:solidFill>
                <a:latin typeface="Consolas" panose="020B0609020204030204" pitchFamily="49" charset="0"/>
              </a:rPr>
              <a:t xml:space="preserve">  res.send(`Posts from ${month}/${year}`);</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Optional segment using ?</a:t>
            </a:r>
          </a:p>
          <a:p>
            <a:r>
              <a:rPr lang="en-US" sz="1150" dirty="0">
                <a:solidFill>
                  <a:srgbClr val="D4D4D4"/>
                </a:solidFill>
                <a:latin typeface="Consolas" panose="020B0609020204030204" pitchFamily="49" charset="0"/>
              </a:rPr>
              <a:t>app.get('/products/:category/:id?', (req, res) =&gt; {</a:t>
            </a:r>
          </a:p>
          <a:p>
            <a:r>
              <a:rPr lang="en-US" sz="1150" dirty="0">
                <a:solidFill>
                  <a:srgbClr val="D4D4D4"/>
                </a:solidFill>
                <a:latin typeface="Consolas" panose="020B0609020204030204" pitchFamily="49" charset="0"/>
              </a:rPr>
              <a:t xml:space="preserve">  const { category, id } = req.params;</a:t>
            </a:r>
          </a:p>
          <a:p>
            <a:r>
              <a:rPr lang="en-US" sz="1150" dirty="0">
                <a:solidFill>
                  <a:srgbClr val="D4D4D4"/>
                </a:solidFill>
                <a:latin typeface="Consolas" panose="020B0609020204030204" pitchFamily="49" charset="0"/>
              </a:rPr>
              <a:t xml:space="preserve">  if (id) {</a:t>
            </a:r>
          </a:p>
          <a:p>
            <a:r>
              <a:rPr lang="en-US" sz="1150" dirty="0">
                <a:solidFill>
                  <a:srgbClr val="D4D4D4"/>
                </a:solidFill>
                <a:latin typeface="Consolas" panose="020B0609020204030204" pitchFamily="49" charset="0"/>
              </a:rPr>
              <a:t xml:space="preserve">    res.send(`Product ${id} in ${category}`);</a:t>
            </a:r>
          </a:p>
          <a:p>
            <a:r>
              <a:rPr lang="en-US" sz="1150" dirty="0">
                <a:solidFill>
                  <a:srgbClr val="D4D4D4"/>
                </a:solidFill>
                <a:latin typeface="Consolas" panose="020B0609020204030204" pitchFamily="49" charset="0"/>
              </a:rPr>
              <a:t xml:space="preserve">  } else {</a:t>
            </a:r>
          </a:p>
          <a:p>
            <a:r>
              <a:rPr lang="en-US" sz="1150" dirty="0">
                <a:solidFill>
                  <a:srgbClr val="D4D4D4"/>
                </a:solidFill>
                <a:latin typeface="Consolas" panose="020B0609020204030204" pitchFamily="49" charset="0"/>
              </a:rPr>
              <a:t xml:space="preserve">    res.send(`All products in ${category}`);</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QUERY STRINGS</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Reading URL Query Parameters with req.query</a:t>
            </a:r>
          </a:p>
          <a:p>
            <a:r>
              <a:rPr lang="en-US" sz="1500" dirty="0"/>
              <a:t>Query strings appear after a ? in the URL. Example: /search?q=express&amp;limit=10. Express automatically parses them into req.query:</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 URL: /search?q=express&amp;limit=10&amp;page=2</a:t>
            </a:r>
          </a:p>
          <a:p>
            <a:r>
              <a:rPr lang="en-US" sz="1150" dirty="0">
                <a:solidFill>
                  <a:srgbClr val="D4D4D4"/>
                </a:solidFill>
                <a:latin typeface="Consolas" panose="020B0609020204030204" pitchFamily="49" charset="0"/>
              </a:rPr>
              <a:t>app.get('/search', (req, res) =&gt; {</a:t>
            </a:r>
          </a:p>
          <a:p>
            <a:r>
              <a:rPr lang="en-US" sz="1150" dirty="0">
                <a:solidFill>
                  <a:srgbClr val="D4D4D4"/>
                </a:solidFill>
                <a:latin typeface="Consolas" panose="020B0609020204030204" pitchFamily="49" charset="0"/>
              </a:rPr>
              <a:t xml:space="preserve">  const { q, limit, page } = req.query;</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 Provide defaults for optional params</a:t>
            </a:r>
          </a:p>
          <a:p>
            <a:r>
              <a:rPr lang="en-US" sz="1150" dirty="0">
                <a:solidFill>
                  <a:srgbClr val="D4D4D4"/>
                </a:solidFill>
                <a:latin typeface="Consolas" panose="020B0609020204030204" pitchFamily="49" charset="0"/>
              </a:rPr>
              <a:t xml:space="preserve">  const searchTerm = q || "";</a:t>
            </a:r>
          </a:p>
          <a:p>
            <a:r>
              <a:rPr lang="en-US" sz="1150" dirty="0">
                <a:solidFill>
                  <a:srgbClr val="D4D4D4"/>
                </a:solidFill>
                <a:latin typeface="Consolas" panose="020B0609020204030204" pitchFamily="49" charset="0"/>
              </a:rPr>
              <a:t xml:space="preserve">  const maxResults = parseInt(limit) || 20;</a:t>
            </a:r>
          </a:p>
          <a:p>
            <a:r>
              <a:rPr lang="en-US" sz="1150" dirty="0">
                <a:solidFill>
                  <a:srgbClr val="D4D4D4"/>
                </a:solidFill>
                <a:latin typeface="Consolas" panose="020B0609020204030204" pitchFamily="49" charset="0"/>
              </a:rPr>
              <a:t xml:space="preserve">  const pageNum = parseInt(page) || 1;</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res.json({</a:t>
            </a:r>
          </a:p>
          <a:p>
            <a:r>
              <a:rPr lang="en-US" sz="1150" dirty="0">
                <a:solidFill>
                  <a:srgbClr val="D4D4D4"/>
                </a:solidFill>
                <a:latin typeface="Consolas" panose="020B0609020204030204" pitchFamily="49" charset="0"/>
              </a:rPr>
              <a:t xml:space="preserve">    query: searchTerm,</a:t>
            </a:r>
          </a:p>
          <a:p>
            <a:r>
              <a:rPr lang="en-US" sz="1150" dirty="0">
                <a:solidFill>
                  <a:srgbClr val="D4D4D4"/>
                </a:solidFill>
                <a:latin typeface="Consolas" panose="020B0609020204030204" pitchFamily="49" charset="0"/>
              </a:rPr>
              <a:t xml:space="preserve">    limit: maxResults,</a:t>
            </a:r>
          </a:p>
          <a:p>
            <a:r>
              <a:rPr lang="en-US" sz="1150" dirty="0">
                <a:solidFill>
                  <a:srgbClr val="D4D4D4"/>
                </a:solidFill>
                <a:latin typeface="Consolas" panose="020B0609020204030204" pitchFamily="49" charset="0"/>
              </a:rPr>
              <a:t xml:space="preserve">    page: pageNum,</a:t>
            </a:r>
          </a:p>
          <a:p>
            <a:r>
              <a:rPr lang="en-US" sz="1150" dirty="0">
                <a:solidFill>
                  <a:srgbClr val="D4D4D4"/>
                </a:solidFill>
                <a:latin typeface="Consolas" panose="020B0609020204030204" pitchFamily="49" charset="0"/>
              </a:rPr>
              <a:t xml:space="preserve">    message: `Searching for "${searchTerm}"`,</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URL: /products?sort=price&amp;order=asc</a:t>
            </a:r>
          </a:p>
          <a:p>
            <a:r>
              <a:rPr lang="en-US" sz="1150" dirty="0">
                <a:solidFill>
                  <a:srgbClr val="D4D4D4"/>
                </a:solidFill>
                <a:latin typeface="Consolas" panose="020B0609020204030204" pitchFamily="49" charset="0"/>
              </a:rPr>
              <a:t>app.get('/products', (req, res) =&gt; {</a:t>
            </a:r>
          </a:p>
          <a:p>
            <a:r>
              <a:rPr lang="en-US" sz="1150" dirty="0">
                <a:solidFill>
                  <a:srgbClr val="D4D4D4"/>
                </a:solidFill>
                <a:latin typeface="Consolas" panose="020B0609020204030204" pitchFamily="49" charset="0"/>
              </a:rPr>
              <a:t xml:space="preserve">  const sort = req.query.sort || 'name';</a:t>
            </a:r>
          </a:p>
          <a:p>
            <a:r>
              <a:rPr lang="en-US" sz="1150" dirty="0">
                <a:solidFill>
                  <a:srgbClr val="D4D4D4"/>
                </a:solidFill>
                <a:latin typeface="Consolas" panose="020B0609020204030204" pitchFamily="49" charset="0"/>
              </a:rPr>
              <a:t xml:space="preserve">  const order = req.query.order || 'asc';</a:t>
            </a:r>
          </a:p>
          <a:p>
            <a:r>
              <a:rPr lang="en-US" sz="1150" dirty="0">
                <a:solidFill>
                  <a:srgbClr val="D4D4D4"/>
                </a:solidFill>
                <a:latin typeface="Consolas" panose="020B0609020204030204" pitchFamily="49" charset="0"/>
              </a:rPr>
              <a:t xml:space="preserve">  res.send(`Products sorted by ${sort} (${order})`);</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SESSION 9 RECAP</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Key Concepts Covered in Session 9</a:t>
            </a:r>
          </a:p>
          <a:p>
            <a:endParaRPr lang="en-US" dirty="0"/>
          </a:p>
          <a:p>
            <a:pPr marL="285750" indent="-285750">
              <a:buFontTx/>
              <a:buChar char="-"/>
            </a:pPr>
            <a:r>
              <a:rPr lang="en-US" sz="1400" b="1" dirty="0"/>
              <a:t>Express.js:</a:t>
            </a:r>
            <a:r>
              <a:rPr lang="en-US" sz="1400" dirty="0"/>
              <a:t xml:space="preserve"> A minimal, flexible Node.js web framework for building servers and APIs quickly.</a:t>
            </a:r>
          </a:p>
          <a:p>
            <a:pPr marL="285750" indent="-285750">
              <a:buFontTx/>
              <a:buChar char="-"/>
            </a:pPr>
            <a:r>
              <a:rPr lang="en-US" sz="1400" b="1" dirty="0"/>
              <a:t>Server Setup:</a:t>
            </a:r>
            <a:r>
              <a:rPr lang="en-US" sz="1400" dirty="0"/>
              <a:t xml:space="preserve"> Install with npm install express, import with require(), create instance with express(), and start with app.listen().</a:t>
            </a:r>
          </a:p>
          <a:p>
            <a:pPr marL="285750" indent="-285750">
              <a:buFontTx/>
              <a:buChar char="-"/>
            </a:pPr>
            <a:r>
              <a:rPr lang="en-US" sz="1400" b="1" dirty="0"/>
              <a:t>Middleware:</a:t>
            </a:r>
            <a:r>
              <a:rPr lang="en-US" sz="1400" dirty="0"/>
              <a:t xml:space="preserve"> Functions with (req, res, next) that intercept requests. Applied with app.use(). Must call next() to continue the chain.</a:t>
            </a:r>
          </a:p>
          <a:p>
            <a:pPr marL="285750" indent="-285750">
              <a:buFontTx/>
              <a:buChar char="-"/>
            </a:pPr>
            <a:r>
              <a:rPr lang="en-US" sz="1400" b="1" dirty="0"/>
              <a:t>Built-in Middleware:</a:t>
            </a:r>
            <a:r>
              <a:rPr lang="en-US" sz="1400" dirty="0"/>
              <a:t xml:space="preserve"> express.json() parses JSON bodies. express.urlencoded() parses HTML form data. express.static() serves files.</a:t>
            </a:r>
          </a:p>
          <a:p>
            <a:pPr marL="285750" indent="-285750">
              <a:buFontTx/>
              <a:buChar char="-"/>
            </a:pPr>
            <a:r>
              <a:rPr lang="en-US" sz="1400" b="1" dirty="0"/>
              <a:t>Routing:</a:t>
            </a:r>
            <a:r>
              <a:rPr lang="en-US" sz="1400" dirty="0"/>
              <a:t xml:space="preserve"> app.METHOD(path, handler) maps URLs to functions. Route parameters (:id) capture dynamic segments via req.params.</a:t>
            </a:r>
          </a:p>
          <a:p>
            <a:pPr marL="285750" indent="-285750">
              <a:buFontTx/>
              <a:buChar char="-"/>
            </a:pPr>
            <a:r>
              <a:rPr lang="en-US" sz="1400" b="1" dirty="0"/>
              <a:t>Query Strings:</a:t>
            </a:r>
            <a:r>
              <a:rPr lang="en-US" sz="1400" dirty="0"/>
              <a:t xml:space="preserve"> Extra URL data after ? accessed via req.query object (e.g. ?search=node gives req.query.search === ‘node’).</a:t>
            </a:r>
          </a:p>
          <a:p>
            <a:r>
              <a:rPr lang="en-US" b="1" dirty="0">
                <a:latin typeface="Arial Black" panose="020B0A04020102020204" pitchFamily="34" charset="0"/>
              </a:rPr>
              <a:t>Session 10 Preview</a:t>
            </a:r>
          </a:p>
          <a:p>
            <a:endParaRPr lang="en-US" dirty="0"/>
          </a:p>
          <a:p>
            <a:r>
              <a:rPr lang="en-US" sz="1500" dirty="0"/>
              <a:t>In Session 10 we dive deeper: HTTP methods and status codes, serving static files, building a mini REST API, and hands-on exercises using Postman to test your endpoints.</a:t>
            </a:r>
          </a:p>
          <a:p>
            <a:endParaRPr lang="en-US" dirty="0"/>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HTTP METHODS OVERVIEW</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are HTTP Methods?</a:t>
            </a:r>
          </a:p>
          <a:p>
            <a:endParaRPr lang="en-US" dirty="0"/>
          </a:p>
          <a:p>
            <a:r>
              <a:rPr lang="en-US" sz="1500" dirty="0"/>
              <a:t>HTTP methods (also called HTTP verbs) tell the server what action to perform on a resource. REST APIs use different methods to represent different operations, following the CRUD pattern (Create, Read, Update, Delete).</a:t>
            </a:r>
          </a:p>
          <a:p>
            <a:endParaRPr lang="en-US" dirty="0"/>
          </a:p>
          <a:p>
            <a:r>
              <a:rPr lang="en-US" b="1" dirty="0">
                <a:latin typeface="Arial Black" panose="020B0A04020102020204" pitchFamily="34" charset="0"/>
              </a:rPr>
              <a:t>The Four Main Methods</a:t>
            </a:r>
          </a:p>
          <a:p>
            <a:endParaRPr lang="en-US" dirty="0"/>
          </a:p>
          <a:p>
            <a:pPr marL="285750" indent="-285750">
              <a:buFontTx/>
              <a:buChar char="-"/>
            </a:pPr>
            <a:r>
              <a:rPr lang="en-US" sz="1400" b="1" dirty="0"/>
              <a:t>GET:</a:t>
            </a:r>
            <a:r>
              <a:rPr lang="en-US" sz="1400" dirty="0"/>
              <a:t xml:space="preserve"> Read/retrieve a resource. Should never modify data. Safe and idempotent. Example: fetch a list of users.</a:t>
            </a:r>
          </a:p>
          <a:p>
            <a:pPr marL="285750" indent="-285750">
              <a:buFontTx/>
              <a:buChar char="-"/>
            </a:pPr>
            <a:r>
              <a:rPr lang="en-US" sz="1400" b="1" dirty="0"/>
              <a:t>POST:</a:t>
            </a:r>
            <a:r>
              <a:rPr lang="en-US" sz="1400" dirty="0"/>
              <a:t xml:space="preserve"> Create a new resource. Sends data in the request body. Not idempotent (calling twice creates two records). Example: register a new user.</a:t>
            </a:r>
          </a:p>
          <a:p>
            <a:pPr marL="285750" indent="-285750">
              <a:buFontTx/>
              <a:buChar char="-"/>
            </a:pPr>
            <a:r>
              <a:rPr lang="en-US" sz="1400" b="1" dirty="0"/>
              <a:t>PUT:</a:t>
            </a:r>
            <a:r>
              <a:rPr lang="en-US" sz="1400" dirty="0"/>
              <a:t xml:space="preserve"> Update/replace an entire resource. Requires you to send the full object. Idempotent. Example: update user profile.</a:t>
            </a:r>
          </a:p>
          <a:p>
            <a:pPr marL="285750" indent="-285750">
              <a:buFontTx/>
              <a:buChar char="-"/>
            </a:pPr>
            <a:r>
              <a:rPr lang="en-US" sz="1400" b="1" dirty="0"/>
              <a:t>DELETE:</a:t>
            </a:r>
            <a:r>
              <a:rPr lang="en-US" sz="1400" dirty="0"/>
              <a:t xml:space="preserve"> Remove a resource from the server. Idempotent. Example: delete an account.</a:t>
            </a:r>
          </a:p>
          <a:p>
            <a:r>
              <a:rPr lang="en-US" b="1" dirty="0">
                <a:latin typeface="Arial Black" panose="020B0A04020102020204" pitchFamily="34" charset="0"/>
              </a:rPr>
              <a:t>Other Methods</a:t>
            </a:r>
          </a:p>
          <a:p>
            <a:endParaRPr lang="en-US" dirty="0"/>
          </a:p>
          <a:p>
            <a:pPr marL="285750" indent="-285750">
              <a:buFontTx/>
              <a:buChar char="-"/>
            </a:pPr>
            <a:r>
              <a:rPr lang="en-US" sz="1400" b="1" dirty="0"/>
              <a:t>PATCH:</a:t>
            </a:r>
            <a:r>
              <a:rPr lang="en-US" sz="1400" dirty="0"/>
              <a:t xml:space="preserve"> Partially update a resource — send only the fields that changed.</a:t>
            </a:r>
          </a:p>
          <a:p>
            <a:pPr marL="285750" indent="-285750">
              <a:buFontTx/>
              <a:buChar char="-"/>
            </a:pPr>
            <a:r>
              <a:rPr lang="en-US" sz="1400" b="1" dirty="0"/>
              <a:t>HEAD:</a:t>
            </a:r>
            <a:r>
              <a:rPr lang="en-US" sz="1400" dirty="0"/>
              <a:t xml:space="preserve"> Like GET but returns only headers, not the body. Used to check if a resource exists.</a:t>
            </a:r>
          </a:p>
          <a:p>
            <a:pPr marL="285750" indent="-285750">
              <a:buFontTx/>
              <a:buChar char="-"/>
            </a:pPr>
            <a:r>
              <a:rPr lang="en-US" sz="1400" b="1" dirty="0"/>
              <a:t>OPTIONS:</a:t>
            </a:r>
            <a:r>
              <a:rPr lang="en-US" sz="1400" dirty="0"/>
              <a:t xml:space="preserve"> Asks the server what methods are allowed for a given URL (used in CORS preflight checks).</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GET REQUESTS</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Using app.get() to Retrieve Data</a:t>
            </a:r>
          </a:p>
          <a:p>
            <a:r>
              <a:rPr lang="en-US" sz="1500" dirty="0"/>
              <a:t>GET is the most common HTTP method. It fetches data without changing anything on the server. Here is a complete example with a simulated database array:</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 Simulated in-memory database</a:t>
            </a:r>
          </a:p>
          <a:p>
            <a:r>
              <a:rPr lang="en-US" sz="1150" dirty="0">
                <a:solidFill>
                  <a:srgbClr val="D4D4D4"/>
                </a:solidFill>
                <a:latin typeface="Consolas" panose="020B0609020204030204" pitchFamily="49" charset="0"/>
              </a:rPr>
              <a:t>const users = [</a:t>
            </a:r>
          </a:p>
          <a:p>
            <a:r>
              <a:rPr lang="en-US" sz="1150" dirty="0">
                <a:solidFill>
                  <a:srgbClr val="D4D4D4"/>
                </a:solidFill>
                <a:latin typeface="Consolas" panose="020B0609020204030204" pitchFamily="49" charset="0"/>
              </a:rPr>
              <a:t xml:space="preserve">  { id: 1, name: 'Alice', email: 'alice@example.com' },</a:t>
            </a:r>
          </a:p>
          <a:p>
            <a:r>
              <a:rPr lang="en-US" sz="1150" dirty="0">
                <a:solidFill>
                  <a:srgbClr val="D4D4D4"/>
                </a:solidFill>
                <a:latin typeface="Consolas" panose="020B0609020204030204" pitchFamily="49" charset="0"/>
              </a:rPr>
              <a:t xml:space="preserve">  { id: 2, name: 'Bob',   email: 'bob@example.com'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GET all users</a:t>
            </a:r>
          </a:p>
          <a:p>
            <a:r>
              <a:rPr lang="en-US" sz="1150" dirty="0">
                <a:solidFill>
                  <a:srgbClr val="D4D4D4"/>
                </a:solidFill>
                <a:latin typeface="Consolas" panose="020B0609020204030204" pitchFamily="49" charset="0"/>
              </a:rPr>
              <a:t>app.get('/users', (req, res) =&gt; {</a:t>
            </a:r>
          </a:p>
          <a:p>
            <a:r>
              <a:rPr lang="en-US" sz="1150" dirty="0">
                <a:solidFill>
                  <a:srgbClr val="D4D4D4"/>
                </a:solidFill>
                <a:latin typeface="Consolas" panose="020B0609020204030204" pitchFamily="49" charset="0"/>
              </a:rPr>
              <a:t xml:space="preserve">  res.status(200).json(users);</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GET a single user by ID</a:t>
            </a:r>
          </a:p>
          <a:p>
            <a:r>
              <a:rPr lang="en-US" sz="1150" dirty="0">
                <a:solidFill>
                  <a:srgbClr val="D4D4D4"/>
                </a:solidFill>
                <a:latin typeface="Consolas" panose="020B0609020204030204" pitchFamily="49" charset="0"/>
              </a:rPr>
              <a:t>app.get('/users/:id', (req, res) =&gt; {</a:t>
            </a:r>
          </a:p>
          <a:p>
            <a:r>
              <a:rPr lang="en-US" sz="1150" dirty="0">
                <a:solidFill>
                  <a:srgbClr val="D4D4D4"/>
                </a:solidFill>
                <a:latin typeface="Consolas" panose="020B0609020204030204" pitchFamily="49" charset="0"/>
              </a:rPr>
              <a:t xml:space="preserve">  const id = parseInt(req.params.id);</a:t>
            </a:r>
          </a:p>
          <a:p>
            <a:r>
              <a:rPr lang="en-US" sz="1150" dirty="0">
                <a:solidFill>
                  <a:srgbClr val="D4D4D4"/>
                </a:solidFill>
                <a:latin typeface="Consolas" panose="020B0609020204030204" pitchFamily="49" charset="0"/>
              </a:rPr>
              <a:t xml:space="preserve">  const user = users.find(u =&gt; u.id === id);</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if (!user) {</a:t>
            </a:r>
          </a:p>
          <a:p>
            <a:r>
              <a:rPr lang="en-US" sz="1150" dirty="0">
                <a:solidFill>
                  <a:srgbClr val="D4D4D4"/>
                </a:solidFill>
                <a:latin typeface="Consolas" panose="020B0609020204030204" pitchFamily="49" charset="0"/>
              </a:rPr>
              <a:t xml:space="preserve">    return res.status(404).json({ error: 'User not found' });</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xml:space="preserve">  res.status(200).json(user);</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POST REQUESTS</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Using app.post() to Create Data</a:t>
            </a:r>
          </a:p>
          <a:p>
            <a:r>
              <a:rPr lang="en-US" sz="1500" dirty="0"/>
              <a:t>POST sends data in the request body to create a new resource. Always use express.json() middleware first so req.body is populated:</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app.use(express.json()); // Required to parse JSON body</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app.post('/users', (req, res) =&gt; {</a:t>
            </a:r>
          </a:p>
          <a:p>
            <a:r>
              <a:rPr lang="en-US" sz="1150" dirty="0">
                <a:solidFill>
                  <a:srgbClr val="D4D4D4"/>
                </a:solidFill>
                <a:latin typeface="Consolas" panose="020B0609020204030204" pitchFamily="49" charset="0"/>
              </a:rPr>
              <a:t xml:space="preserve">  const { name, email } = req.body;</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 Validate input</a:t>
            </a:r>
          </a:p>
          <a:p>
            <a:r>
              <a:rPr lang="en-US" sz="1150" dirty="0">
                <a:solidFill>
                  <a:srgbClr val="D4D4D4"/>
                </a:solidFill>
                <a:latin typeface="Consolas" panose="020B0609020204030204" pitchFamily="49" charset="0"/>
              </a:rPr>
              <a:t xml:space="preserve">  if (!name || !email) {</a:t>
            </a:r>
          </a:p>
          <a:p>
            <a:r>
              <a:rPr lang="en-US" sz="1150" dirty="0">
                <a:solidFill>
                  <a:srgbClr val="D4D4D4"/>
                </a:solidFill>
                <a:latin typeface="Consolas" panose="020B0609020204030204" pitchFamily="49" charset="0"/>
              </a:rPr>
              <a:t xml:space="preserve">    return res.status(400).json({</a:t>
            </a:r>
          </a:p>
          <a:p>
            <a:r>
              <a:rPr lang="en-US" sz="1150" dirty="0">
                <a:solidFill>
                  <a:srgbClr val="D4D4D4"/>
                </a:solidFill>
                <a:latin typeface="Consolas" panose="020B0609020204030204" pitchFamily="49" charset="0"/>
              </a:rPr>
              <a:t xml:space="preserve">      error: 'Name and email are required',</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 Create new user object</a:t>
            </a:r>
          </a:p>
          <a:p>
            <a:r>
              <a:rPr lang="en-US" sz="1150" dirty="0">
                <a:solidFill>
                  <a:srgbClr val="D4D4D4"/>
                </a:solidFill>
                <a:latin typeface="Consolas" panose="020B0609020204030204" pitchFamily="49" charset="0"/>
              </a:rPr>
              <a:t xml:space="preserve">  const newUser = {</a:t>
            </a:r>
          </a:p>
          <a:p>
            <a:r>
              <a:rPr lang="en-US" sz="1150" dirty="0">
                <a:solidFill>
                  <a:srgbClr val="D4D4D4"/>
                </a:solidFill>
                <a:latin typeface="Consolas" panose="020B0609020204030204" pitchFamily="49" charset="0"/>
              </a:rPr>
              <a:t xml:space="preserve">    id: users.length + 1,</a:t>
            </a:r>
          </a:p>
          <a:p>
            <a:r>
              <a:rPr lang="en-US" sz="1150" dirty="0">
                <a:solidFill>
                  <a:srgbClr val="D4D4D4"/>
                </a:solidFill>
                <a:latin typeface="Consolas" panose="020B0609020204030204" pitchFamily="49" charset="0"/>
              </a:rPr>
              <a:t xml:space="preserve">    name: name,</a:t>
            </a:r>
          </a:p>
          <a:p>
            <a:r>
              <a:rPr lang="en-US" sz="1150" dirty="0">
                <a:solidFill>
                  <a:srgbClr val="D4D4D4"/>
                </a:solidFill>
                <a:latin typeface="Consolas" panose="020B0609020204030204" pitchFamily="49" charset="0"/>
              </a:rPr>
              <a:t xml:space="preserve">    email: email,</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users.push(newUser);</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 201 Created = resource successfully created</a:t>
            </a:r>
          </a:p>
          <a:p>
            <a:r>
              <a:rPr lang="en-US" sz="1150" dirty="0">
                <a:solidFill>
                  <a:srgbClr val="D4D4D4"/>
                </a:solidFill>
                <a:latin typeface="Consolas" panose="020B0609020204030204" pitchFamily="49" charset="0"/>
              </a:rPr>
              <a:t xml:space="preserve">  res.status(201).json(newUser);</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PUT REQUESTS</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Using app.put() to Update a Resource</a:t>
            </a:r>
          </a:p>
          <a:p>
            <a:r>
              <a:rPr lang="en-US" sz="1500" dirty="0"/>
              <a:t>PUT replaces an entire resource with the data you provide. The client must send the full updated object. Partial updates should use PATCH instead:</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app.put('/users/:id', (req, res) =&gt; {</a:t>
            </a:r>
          </a:p>
          <a:p>
            <a:r>
              <a:rPr lang="en-US" sz="1150" dirty="0">
                <a:solidFill>
                  <a:srgbClr val="D4D4D4"/>
                </a:solidFill>
                <a:latin typeface="Consolas" panose="020B0609020204030204" pitchFamily="49" charset="0"/>
              </a:rPr>
              <a:t xml:space="preserve">  const id = parseInt(req.params.id);</a:t>
            </a:r>
          </a:p>
          <a:p>
            <a:r>
              <a:rPr lang="en-US" sz="1150" dirty="0">
                <a:solidFill>
                  <a:srgbClr val="D4D4D4"/>
                </a:solidFill>
                <a:latin typeface="Consolas" panose="020B0609020204030204" pitchFamily="49" charset="0"/>
              </a:rPr>
              <a:t xml:space="preserve">  const { name, email } = req.body;</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 Validate input</a:t>
            </a:r>
          </a:p>
          <a:p>
            <a:r>
              <a:rPr lang="en-US" sz="1150" dirty="0">
                <a:solidFill>
                  <a:srgbClr val="D4D4D4"/>
                </a:solidFill>
                <a:latin typeface="Consolas" panose="020B0609020204030204" pitchFamily="49" charset="0"/>
              </a:rPr>
              <a:t xml:space="preserve">  if (!name || !email) {</a:t>
            </a:r>
          </a:p>
          <a:p>
            <a:r>
              <a:rPr lang="en-US" sz="1150" dirty="0">
                <a:solidFill>
                  <a:srgbClr val="D4D4D4"/>
                </a:solidFill>
                <a:latin typeface="Consolas" panose="020B0609020204030204" pitchFamily="49" charset="0"/>
              </a:rPr>
              <a:t xml:space="preserve">    return res.status(400).json({</a:t>
            </a:r>
          </a:p>
          <a:p>
            <a:r>
              <a:rPr lang="en-US" sz="1150" dirty="0">
                <a:solidFill>
                  <a:srgbClr val="D4D4D4"/>
                </a:solidFill>
                <a:latin typeface="Consolas" panose="020B0609020204030204" pitchFamily="49" charset="0"/>
              </a:rPr>
              <a:t xml:space="preserve">      error: 'Both name and email are required for PUT',</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 Find the index of the user</a:t>
            </a:r>
          </a:p>
          <a:p>
            <a:r>
              <a:rPr lang="en-US" sz="1150" dirty="0">
                <a:solidFill>
                  <a:srgbClr val="D4D4D4"/>
                </a:solidFill>
                <a:latin typeface="Consolas" panose="020B0609020204030204" pitchFamily="49" charset="0"/>
              </a:rPr>
              <a:t xml:space="preserve">  const index = users.findIndex(u =&gt; u.id === id);</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if (index === -1) {</a:t>
            </a:r>
          </a:p>
          <a:p>
            <a:r>
              <a:rPr lang="en-US" sz="1150" dirty="0">
                <a:solidFill>
                  <a:srgbClr val="D4D4D4"/>
                </a:solidFill>
                <a:latin typeface="Consolas" panose="020B0609020204030204" pitchFamily="49" charset="0"/>
              </a:rPr>
              <a:t xml:space="preserve">    return res.status(404).json({ error: 'User not found' });</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 Replace the user object</a:t>
            </a:r>
          </a:p>
          <a:p>
            <a:r>
              <a:rPr lang="en-US" sz="1150" dirty="0">
                <a:solidFill>
                  <a:srgbClr val="D4D4D4"/>
                </a:solidFill>
                <a:latin typeface="Consolas" panose="020B0609020204030204" pitchFamily="49" charset="0"/>
              </a:rPr>
              <a:t xml:space="preserve">  users[index] = { id, name, email };</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res.status(200).json(users[index]);</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DELETE REQUESTS</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Using app.delete() to Remove a Resource</a:t>
            </a:r>
          </a:p>
          <a:p>
            <a:r>
              <a:rPr lang="en-US" sz="1500" dirty="0"/>
              <a:t>DELETE removes a resource identified by its URL. After deletion, return 200 with a confirmation message or 204 No Content:</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app.delete('/users/:id', (req, res) =&gt; {</a:t>
            </a:r>
          </a:p>
          <a:p>
            <a:r>
              <a:rPr lang="en-US" sz="1150" dirty="0">
                <a:solidFill>
                  <a:srgbClr val="D4D4D4"/>
                </a:solidFill>
                <a:latin typeface="Consolas" panose="020B0609020204030204" pitchFamily="49" charset="0"/>
              </a:rPr>
              <a:t xml:space="preserve">  const id = parseInt(req.params.id);</a:t>
            </a:r>
          </a:p>
          <a:p>
            <a:r>
              <a:rPr lang="en-US" sz="1150" dirty="0">
                <a:solidFill>
                  <a:srgbClr val="D4D4D4"/>
                </a:solidFill>
                <a:latin typeface="Consolas" panose="020B0609020204030204" pitchFamily="49" charset="0"/>
              </a:rPr>
              <a:t xml:space="preserve">  const index = users.findIndex(u =&gt; u.id === id);</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if (index === -1) {</a:t>
            </a:r>
          </a:p>
          <a:p>
            <a:r>
              <a:rPr lang="en-US" sz="1150" dirty="0">
                <a:solidFill>
                  <a:srgbClr val="D4D4D4"/>
                </a:solidFill>
                <a:latin typeface="Consolas" panose="020B0609020204030204" pitchFamily="49" charset="0"/>
              </a:rPr>
              <a:t xml:space="preserve">    return res.status(404).json({</a:t>
            </a:r>
          </a:p>
          <a:p>
            <a:r>
              <a:rPr lang="en-US" sz="1150" dirty="0">
                <a:solidFill>
                  <a:srgbClr val="D4D4D4"/>
                </a:solidFill>
                <a:latin typeface="Consolas" panose="020B0609020204030204" pitchFamily="49" charset="0"/>
              </a:rPr>
              <a:t xml:space="preserve">      error: `User with id ${id} not found`,</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 Remove user from the array</a:t>
            </a:r>
          </a:p>
          <a:p>
            <a:r>
              <a:rPr lang="en-US" sz="1150" dirty="0">
                <a:solidFill>
                  <a:srgbClr val="D4D4D4"/>
                </a:solidFill>
                <a:latin typeface="Consolas" panose="020B0609020204030204" pitchFamily="49" charset="0"/>
              </a:rPr>
              <a:t xml:space="preserve">  const deleted = users.splice(index, 1);</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xml:space="preserve">  res.status(200).json({</a:t>
            </a:r>
          </a:p>
          <a:p>
            <a:r>
              <a:rPr lang="en-US" sz="1150" dirty="0">
                <a:solidFill>
                  <a:srgbClr val="D4D4D4"/>
                </a:solidFill>
                <a:latin typeface="Consolas" panose="020B0609020204030204" pitchFamily="49" charset="0"/>
              </a:rPr>
              <a:t xml:space="preserve">    message: 'User deleted successfully',</a:t>
            </a:r>
          </a:p>
          <a:p>
            <a:r>
              <a:rPr lang="en-US" sz="1150" dirty="0">
                <a:solidFill>
                  <a:srgbClr val="D4D4D4"/>
                </a:solidFill>
                <a:latin typeface="Consolas" panose="020B0609020204030204" pitchFamily="49" charset="0"/>
              </a:rPr>
              <a:t xml:space="preserve">    deletedUser: deleted[0],</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Alternative: 204 No Content (body is empty)</a:t>
            </a:r>
          </a:p>
          <a:p>
            <a:r>
              <a:rPr lang="en-US" sz="1150" dirty="0">
                <a:solidFill>
                  <a:srgbClr val="D4D4D4"/>
                </a:solidFill>
                <a:latin typeface="Consolas" panose="020B0609020204030204" pitchFamily="49" charset="0"/>
              </a:rPr>
              <a:t>app.delete('/items/:id', (req, res) =&gt; {</a:t>
            </a:r>
          </a:p>
          <a:p>
            <a:r>
              <a:rPr lang="en-US" sz="1150" dirty="0">
                <a:solidFill>
                  <a:srgbClr val="D4D4D4"/>
                </a:solidFill>
                <a:latin typeface="Consolas" panose="020B0609020204030204" pitchFamily="49" charset="0"/>
              </a:rPr>
              <a:t xml:space="preserve">  // ... delete logic ...</a:t>
            </a:r>
          </a:p>
          <a:p>
            <a:r>
              <a:rPr lang="en-US" sz="1150" dirty="0">
                <a:solidFill>
                  <a:srgbClr val="D4D4D4"/>
                </a:solidFill>
                <a:latin typeface="Consolas" panose="020B0609020204030204" pitchFamily="49" charset="0"/>
              </a:rPr>
              <a:t xml:space="preserve">  res.status(204).send();</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HTTP STATUS CODES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are Status Codes?</a:t>
            </a:r>
          </a:p>
          <a:p>
            <a:endParaRPr lang="en-US" dirty="0"/>
          </a:p>
          <a:p>
            <a:r>
              <a:rPr lang="en-US" sz="1500" dirty="0"/>
              <a:t>HTTP status codes are three-digit numbers returned by the server in the response. They tell the client whether the request was successful, redirected, or caused an error. Always set the correct status code — it is part of the API contract.</a:t>
            </a:r>
          </a:p>
          <a:p>
            <a:endParaRPr lang="en-US" dirty="0"/>
          </a:p>
          <a:p>
            <a:r>
              <a:rPr lang="en-US" b="1" dirty="0">
                <a:latin typeface="Arial Black" panose="020B0A04020102020204" pitchFamily="34" charset="0"/>
              </a:rPr>
              <a:t>2xx — Success</a:t>
            </a:r>
          </a:p>
          <a:p>
            <a:endParaRPr lang="en-US" dirty="0"/>
          </a:p>
          <a:p>
            <a:pPr marL="285750" indent="-285750">
              <a:buFontTx/>
              <a:buChar char="-"/>
            </a:pPr>
            <a:r>
              <a:rPr lang="en-US" sz="1400" b="1" dirty="0"/>
              <a:t>200 OK:</a:t>
            </a:r>
            <a:r>
              <a:rPr lang="en-US" sz="1400" dirty="0"/>
              <a:t xml:space="preserve"> Standard success response. Used for successful GET, PUT, PATCH, and DELETE.</a:t>
            </a:r>
          </a:p>
          <a:p>
            <a:pPr marL="285750" indent="-285750">
              <a:buFontTx/>
              <a:buChar char="-"/>
            </a:pPr>
            <a:r>
              <a:rPr lang="en-US" sz="1400" b="1" dirty="0"/>
              <a:t>201 Created:</a:t>
            </a:r>
            <a:r>
              <a:rPr lang="en-US" sz="1400" dirty="0"/>
              <a:t xml:space="preserve"> Resource was successfully created. Use after a successful POST.</a:t>
            </a:r>
          </a:p>
          <a:p>
            <a:pPr marL="285750" indent="-285750">
              <a:buFontTx/>
              <a:buChar char="-"/>
            </a:pPr>
            <a:r>
              <a:rPr lang="en-US" sz="1400" b="1" dirty="0"/>
              <a:t>204 No Content:</a:t>
            </a:r>
            <a:r>
              <a:rPr lang="en-US" sz="1400" dirty="0"/>
              <a:t xml:space="preserve"> Success but no data to return. Common after a DELETE operation.</a:t>
            </a:r>
          </a:p>
          <a:p>
            <a:r>
              <a:rPr lang="en-US" b="1" dirty="0">
                <a:latin typeface="Arial Black" panose="020B0A04020102020204" pitchFamily="34" charset="0"/>
              </a:rPr>
              <a:t>4xx — Client Errors</a:t>
            </a:r>
          </a:p>
          <a:p>
            <a:endParaRPr lang="en-US" dirty="0"/>
          </a:p>
          <a:p>
            <a:pPr marL="285750" indent="-285750">
              <a:buFontTx/>
              <a:buChar char="-"/>
            </a:pPr>
            <a:r>
              <a:rPr lang="en-US" sz="1400" b="1" dirty="0"/>
              <a:t>400 Bad Request:</a:t>
            </a:r>
            <a:r>
              <a:rPr lang="en-US" sz="1400" dirty="0"/>
              <a:t xml:space="preserve"> The request was malformed or missing required fields.</a:t>
            </a:r>
          </a:p>
          <a:p>
            <a:pPr marL="285750" indent="-285750">
              <a:buFontTx/>
              <a:buChar char="-"/>
            </a:pPr>
            <a:r>
              <a:rPr lang="en-US" sz="1400" b="1" dirty="0"/>
              <a:t>401 Unauthorized:</a:t>
            </a:r>
            <a:r>
              <a:rPr lang="en-US" sz="1400" dirty="0"/>
              <a:t xml:space="preserve"> Authentication is required but was not provided or is invalid.</a:t>
            </a:r>
          </a:p>
          <a:p>
            <a:pPr marL="285750" indent="-285750">
              <a:buFontTx/>
              <a:buChar char="-"/>
            </a:pPr>
            <a:r>
              <a:rPr lang="en-US" sz="1400" b="1" dirty="0"/>
              <a:t>403 Forbidden:</a:t>
            </a:r>
            <a:r>
              <a:rPr lang="en-US" sz="1400" dirty="0"/>
              <a:t xml:space="preserve"> Authenticated but not permitted to access the resource.</a:t>
            </a:r>
          </a:p>
          <a:p>
            <a:pPr marL="285750" indent="-285750">
              <a:buFontTx/>
              <a:buChar char="-"/>
            </a:pPr>
            <a:r>
              <a:rPr lang="en-US" sz="1400" b="1" dirty="0"/>
              <a:t>404 Not Found:</a:t>
            </a:r>
            <a:r>
              <a:rPr lang="en-US" sz="1400" dirty="0"/>
              <a:t xml:space="preserve"> The requested resource does not exist.</a:t>
            </a:r>
          </a:p>
          <a:p>
            <a:r>
              <a:rPr lang="en-US" b="1" dirty="0">
                <a:latin typeface="Arial Black" panose="020B0A04020102020204" pitchFamily="34" charset="0"/>
              </a:rPr>
              <a:t>5xx — Server Errors</a:t>
            </a:r>
          </a:p>
          <a:p>
            <a:endParaRPr lang="en-US" dirty="0"/>
          </a:p>
          <a:p>
            <a:pPr marL="285750" indent="-285750">
              <a:buFontTx/>
              <a:buChar char="-"/>
            </a:pPr>
            <a:r>
              <a:rPr lang="en-US" sz="1400" b="1" dirty="0"/>
              <a:t>500 Internal Server Error:</a:t>
            </a:r>
            <a:r>
              <a:rPr lang="en-US" sz="1400" dirty="0"/>
              <a:t xml:space="preserve"> Something went wrong on the server. Generic catch-all for unhandled errors.</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SENDING STATUS CODES</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Using res.status() with Responses</a:t>
            </a:r>
          </a:p>
          <a:p>
            <a:r>
              <a:rPr lang="en-US" sz="1500" dirty="0"/>
              <a:t>Chain res.status(code) with a response method. The status must be set BEFORE sending the body:</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 200 OK with JSON data</a:t>
            </a:r>
          </a:p>
          <a:p>
            <a:r>
              <a:rPr lang="en-US" sz="1150" dirty="0">
                <a:solidFill>
                  <a:srgbClr val="D4D4D4"/>
                </a:solidFill>
                <a:latin typeface="Consolas" panose="020B0609020204030204" pitchFamily="49" charset="0"/>
              </a:rPr>
              <a:t>app.get('/ping', (req, res) =&gt; {</a:t>
            </a:r>
          </a:p>
          <a:p>
            <a:r>
              <a:rPr lang="en-US" sz="1150" dirty="0">
                <a:solidFill>
                  <a:srgbClr val="D4D4D4"/>
                </a:solidFill>
                <a:latin typeface="Consolas" panose="020B0609020204030204" pitchFamily="49" charset="0"/>
              </a:rPr>
              <a:t xml:space="preserve">  res.status(200).json({ message: 'pong'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201 Created after inserting a resource</a:t>
            </a:r>
          </a:p>
          <a:p>
            <a:r>
              <a:rPr lang="en-US" sz="1150" dirty="0">
                <a:solidFill>
                  <a:srgbClr val="D4D4D4"/>
                </a:solidFill>
                <a:latin typeface="Consolas" panose="020B0609020204030204" pitchFamily="49" charset="0"/>
              </a:rPr>
              <a:t>app.post('/products', (req, res) =&gt; {</a:t>
            </a:r>
          </a:p>
          <a:p>
            <a:r>
              <a:rPr lang="en-US" sz="1150" dirty="0">
                <a:solidFill>
                  <a:srgbClr val="D4D4D4"/>
                </a:solidFill>
                <a:latin typeface="Consolas" panose="020B0609020204030204" pitchFamily="49" charset="0"/>
              </a:rPr>
              <a:t xml:space="preserve">  const product = createProduct(req.body);</a:t>
            </a:r>
          </a:p>
          <a:p>
            <a:r>
              <a:rPr lang="en-US" sz="1150" dirty="0">
                <a:solidFill>
                  <a:srgbClr val="D4D4D4"/>
                </a:solidFill>
                <a:latin typeface="Consolas" panose="020B0609020204030204" pitchFamily="49" charset="0"/>
              </a:rPr>
              <a:t xml:space="preserve">  res.status(201).json(product);</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400 Bad Request for missing fields</a:t>
            </a:r>
          </a:p>
          <a:p>
            <a:r>
              <a:rPr lang="en-US" sz="1150" dirty="0">
                <a:solidFill>
                  <a:srgbClr val="D4D4D4"/>
                </a:solidFill>
                <a:latin typeface="Consolas" panose="020B0609020204030204" pitchFamily="49" charset="0"/>
              </a:rPr>
              <a:t>app.post('/login', (req, res) =&gt; {</a:t>
            </a:r>
          </a:p>
          <a:p>
            <a:r>
              <a:rPr lang="en-US" sz="1150" dirty="0">
                <a:solidFill>
                  <a:srgbClr val="D4D4D4"/>
                </a:solidFill>
                <a:latin typeface="Consolas" panose="020B0609020204030204" pitchFamily="49" charset="0"/>
              </a:rPr>
              <a:t xml:space="preserve">  const { email, password } = req.body;</a:t>
            </a:r>
          </a:p>
          <a:p>
            <a:r>
              <a:rPr lang="en-US" sz="1150" dirty="0">
                <a:solidFill>
                  <a:srgbClr val="D4D4D4"/>
                </a:solidFill>
                <a:latin typeface="Consolas" panose="020B0609020204030204" pitchFamily="49" charset="0"/>
              </a:rPr>
              <a:t xml:space="preserve">  if (!email || !password) {</a:t>
            </a:r>
          </a:p>
          <a:p>
            <a:r>
              <a:rPr lang="en-US" sz="1150" dirty="0">
                <a:solidFill>
                  <a:srgbClr val="D4D4D4"/>
                </a:solidFill>
                <a:latin typeface="Consolas" panose="020B0609020204030204" pitchFamily="49" charset="0"/>
              </a:rPr>
              <a:t xml:space="preserve">    return res.status(400).json({</a:t>
            </a:r>
          </a:p>
          <a:p>
            <a:r>
              <a:rPr lang="en-US" sz="1150" dirty="0">
                <a:solidFill>
                  <a:srgbClr val="D4D4D4"/>
                </a:solidFill>
                <a:latin typeface="Consolas" panose="020B0609020204030204" pitchFamily="49" charset="0"/>
              </a:rPr>
              <a:t xml:space="preserve">      error: 'Email and password are required',</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 xml:space="preserve">  // ... authentication logic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404 Not Found</a:t>
            </a:r>
          </a:p>
          <a:p>
            <a:r>
              <a:rPr lang="en-US" sz="1150" dirty="0">
                <a:solidFill>
                  <a:srgbClr val="D4D4D4"/>
                </a:solidFill>
                <a:latin typeface="Consolas" panose="020B0609020204030204" pitchFamily="49" charset="0"/>
              </a:rPr>
              <a:t>app.get('/users/:id', (req, res) =&gt; {</a:t>
            </a:r>
          </a:p>
          <a:p>
            <a:r>
              <a:rPr lang="en-US" sz="1150" dirty="0">
                <a:solidFill>
                  <a:srgbClr val="D4D4D4"/>
                </a:solidFill>
                <a:latin typeface="Consolas" panose="020B0609020204030204" pitchFamily="49" charset="0"/>
              </a:rPr>
              <a:t xml:space="preserve">  const user = findUser(req.params.id);</a:t>
            </a:r>
          </a:p>
          <a:p>
            <a:r>
              <a:rPr lang="en-US" sz="1150" dirty="0">
                <a:solidFill>
                  <a:srgbClr val="D4D4D4"/>
                </a:solidFill>
                <a:latin typeface="Consolas" panose="020B0609020204030204" pitchFamily="49" charset="0"/>
              </a:rPr>
              <a:t xml:space="preserve">  if (!user) return res.status(404).json({ error: 'Not found' });</a:t>
            </a:r>
          </a:p>
          <a:p>
            <a:r>
              <a:rPr lang="en-US" sz="1150" dirty="0">
                <a:solidFill>
                  <a:srgbClr val="D4D4D4"/>
                </a:solidFill>
                <a:latin typeface="Consolas" panose="020B0609020204030204" pitchFamily="49" charset="0"/>
              </a:rPr>
              <a:t xml:space="preserve">  res.json(user);</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SERVING STATIC FILES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are Static Files?</a:t>
            </a:r>
          </a:p>
          <a:p>
            <a:endParaRPr lang="en-US" dirty="0"/>
          </a:p>
          <a:p>
            <a:r>
              <a:rPr lang="en-US" sz="1500" dirty="0"/>
              <a:t>Static files are files that the server delivers to the client exactly as they are stored — without any processing. Examples include HTML pages, CSS stylesheets, JavaScript files, images, fonts, and PDF documents.</a:t>
            </a:r>
          </a:p>
          <a:p>
            <a:endParaRPr lang="en-US" dirty="0"/>
          </a:p>
          <a:p>
            <a:r>
              <a:rPr lang="en-US" b="1" dirty="0">
                <a:latin typeface="Arial Black" panose="020B0A04020102020204" pitchFamily="34" charset="0"/>
              </a:rPr>
              <a:t>How express.static() Works</a:t>
            </a:r>
          </a:p>
          <a:p>
            <a:endParaRPr lang="en-US" dirty="0"/>
          </a:p>
          <a:p>
            <a:r>
              <a:rPr lang="en-US" sz="1500" dirty="0"/>
              <a:t>You point express.static() at a directory, and Express will automatically serve any file inside it when the URL matches the filename. If you put index.html inside the public/ folder, visiting / will serve it automatically.</a:t>
            </a:r>
          </a:p>
          <a:p>
            <a:endParaRPr lang="en-US" dirty="0"/>
          </a:p>
          <a:p>
            <a:r>
              <a:rPr lang="en-US" b="1" dirty="0">
                <a:latin typeface="Arial Black" panose="020B0A04020102020204" pitchFamily="34" charset="0"/>
              </a:rPr>
              <a:t>Recommended Folder Structure</a:t>
            </a:r>
          </a:p>
          <a:p>
            <a:endParaRPr lang="en-US" dirty="0"/>
          </a:p>
          <a:p>
            <a:pPr marL="285750" indent="-285750">
              <a:buFontTx/>
              <a:buChar char="-"/>
            </a:pPr>
            <a:r>
              <a:rPr lang="en-US" sz="1400" b="1" dirty="0"/>
              <a:t>public/</a:t>
            </a:r>
            <a:r>
              <a:rPr lang="en-US" sz="1400" dirty="0"/>
              <a:t xml:space="preserve"> Root folder for all static assets served to the browser.</a:t>
            </a:r>
          </a:p>
          <a:p>
            <a:pPr marL="285750" indent="-285750">
              <a:buFontTx/>
              <a:buChar char="-"/>
            </a:pPr>
            <a:r>
              <a:rPr lang="en-US" sz="1400" b="1" dirty="0"/>
              <a:t>public/index.html</a:t>
            </a:r>
            <a:r>
              <a:rPr lang="en-US" sz="1400" dirty="0"/>
              <a:t xml:space="preserve"> Main HTML page served at /.</a:t>
            </a:r>
          </a:p>
          <a:p>
            <a:pPr marL="285750" indent="-285750">
              <a:buFontTx/>
              <a:buChar char="-"/>
            </a:pPr>
            <a:r>
              <a:rPr lang="en-US" sz="1400" b="1" dirty="0"/>
              <a:t>public/css/style.css</a:t>
            </a:r>
            <a:r>
              <a:rPr lang="en-US" sz="1400" dirty="0"/>
              <a:t xml:space="preserve"> Stylesheets. Access via /css/style.css.</a:t>
            </a:r>
          </a:p>
          <a:p>
            <a:pPr marL="285750" indent="-285750">
              <a:buFontTx/>
              <a:buChar char="-"/>
            </a:pPr>
            <a:r>
              <a:rPr lang="en-US" sz="1400" b="1" dirty="0"/>
              <a:t>public/js/main.js</a:t>
            </a:r>
            <a:r>
              <a:rPr lang="en-US" sz="1400" dirty="0"/>
              <a:t xml:space="preserve"> Client-side JavaScript. Access via /js/main.js.</a:t>
            </a:r>
          </a:p>
          <a:p>
            <a:pPr marL="285750" indent="-285750">
              <a:buFontTx/>
              <a:buChar char="-"/>
            </a:pPr>
            <a:r>
              <a:rPr lang="en-US" sz="1400" b="1" dirty="0"/>
              <a:t>public/images/</a:t>
            </a:r>
            <a:r>
              <a:rPr lang="en-US" sz="1400" dirty="0"/>
              <a:t xml:space="preserve"> Images. Access via /images/logo.png.</a:t>
            </a:r>
          </a:p>
          <a:p>
            <a:r>
              <a:rPr lang="en-US" b="1" dirty="0">
                <a:latin typeface="Arial Black" panose="020B0A04020102020204" pitchFamily="34" charset="0"/>
              </a:rPr>
              <a:t>Multiple Static Folders</a:t>
            </a:r>
          </a:p>
          <a:p>
            <a:endParaRPr lang="en-US" dirty="0"/>
          </a:p>
          <a:p>
            <a:r>
              <a:rPr lang="en-US" sz="1500" dirty="0"/>
              <a:t>You can call express.static() multiple times to serve from several directories: app.use(express.static(‘public’)); app.use(express.static(‘uploads’));</a:t>
            </a:r>
          </a:p>
          <a:p>
            <a:endParaRPr lang="en-US" dirty="0"/>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SERVING STATIC FILES</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Setting Up express.static() with a Virtual Path</a:t>
            </a:r>
          </a:p>
          <a:p>
            <a:r>
              <a:rPr lang="en-US" sz="1500" dirty="0"/>
              <a:t>You can serve static files from the public/ folder and also add a URL prefix (virtual path) for better organisation:</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const path = require('path');</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Serve files from "public" folder at the root URL</a:t>
            </a:r>
          </a:p>
          <a:p>
            <a:r>
              <a:rPr lang="en-US" sz="1150" dirty="0">
                <a:solidFill>
                  <a:srgbClr val="D4D4D4"/>
                </a:solidFill>
                <a:latin typeface="Consolas" panose="020B0609020204030204" pitchFamily="49" charset="0"/>
              </a:rPr>
              <a:t>// e.g. public/style.css -&gt; http://localhost:3000/style.css</a:t>
            </a:r>
          </a:p>
          <a:p>
            <a:r>
              <a:rPr lang="en-US" sz="1150" dirty="0">
                <a:solidFill>
                  <a:srgbClr val="D4D4D4"/>
                </a:solidFill>
                <a:latin typeface="Consolas" panose="020B0609020204030204" pitchFamily="49" charset="0"/>
              </a:rPr>
              <a:t>app.use(express.static('public'));</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Virtual path prefix: files served under /static/</a:t>
            </a:r>
          </a:p>
          <a:p>
            <a:r>
              <a:rPr lang="en-US" sz="1150" dirty="0">
                <a:solidFill>
                  <a:srgbClr val="D4D4D4"/>
                </a:solidFill>
                <a:latin typeface="Consolas" panose="020B0609020204030204" pitchFamily="49" charset="0"/>
              </a:rPr>
              <a:t>// e.g. public/logo.png -&gt; http://localhost:3000/static/logo.png</a:t>
            </a:r>
          </a:p>
          <a:p>
            <a:r>
              <a:rPr lang="en-US" sz="1150" dirty="0">
                <a:solidFill>
                  <a:srgbClr val="D4D4D4"/>
                </a:solidFill>
                <a:latin typeface="Consolas" panose="020B0609020204030204" pitchFamily="49" charset="0"/>
              </a:rPr>
              <a:t>app.use('/static', express.static('public'));</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Best practice: use path.join for cross-platform paths</a:t>
            </a:r>
          </a:p>
          <a:p>
            <a:r>
              <a:rPr lang="en-US" sz="1150" dirty="0">
                <a:solidFill>
                  <a:srgbClr val="D4D4D4"/>
                </a:solidFill>
                <a:latin typeface="Consolas" panose="020B0609020204030204" pitchFamily="49" charset="0"/>
              </a:rPr>
              <a:t>app.use(express.static(path.join(__dirname, 'public')));</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Serve an HTML file directly from a route</a:t>
            </a:r>
          </a:p>
          <a:p>
            <a:r>
              <a:rPr lang="en-US" sz="1150" dirty="0">
                <a:solidFill>
                  <a:srgbClr val="D4D4D4"/>
                </a:solidFill>
                <a:latin typeface="Consolas" panose="020B0609020204030204" pitchFamily="49" charset="0"/>
              </a:rPr>
              <a:t>app.get('/about', (req, res) =&gt; {</a:t>
            </a:r>
          </a:p>
          <a:p>
            <a:r>
              <a:rPr lang="en-US" sz="1150" dirty="0">
                <a:solidFill>
                  <a:srgbClr val="D4D4D4"/>
                </a:solidFill>
                <a:latin typeface="Consolas" panose="020B0609020204030204" pitchFamily="49" charset="0"/>
              </a:rPr>
              <a:t xml:space="preserve">  res.sendFile(path.join(__dirname, 'public', 'about.html'));</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Folder structure:</a:t>
            </a:r>
          </a:p>
          <a:p>
            <a:r>
              <a:rPr lang="en-US" sz="1150" dirty="0">
                <a:solidFill>
                  <a:srgbClr val="D4D4D4"/>
                </a:solidFill>
                <a:latin typeface="Consolas" panose="020B0609020204030204" pitchFamily="49" charset="0"/>
              </a:rPr>
              <a:t>// project/</a:t>
            </a:r>
          </a:p>
          <a:p>
            <a:r>
              <a:rPr lang="en-US" sz="1150" dirty="0">
                <a:solidFill>
                  <a:srgbClr val="D4D4D4"/>
                </a:solidFill>
                <a:latin typeface="Consolas" panose="020B0609020204030204" pitchFamily="49" charset="0"/>
              </a:rPr>
              <a:t>//   server.js</a:t>
            </a:r>
          </a:p>
          <a:p>
            <a:r>
              <a:rPr lang="en-US" sz="1150" dirty="0">
                <a:solidFill>
                  <a:srgbClr val="D4D4D4"/>
                </a:solidFill>
                <a:latin typeface="Consolas" panose="020B0609020204030204" pitchFamily="49" charset="0"/>
              </a:rPr>
              <a:t>//   public/</a:t>
            </a:r>
          </a:p>
          <a:p>
            <a:r>
              <a:rPr lang="en-US" sz="1150" dirty="0">
                <a:solidFill>
                  <a:srgbClr val="D4D4D4"/>
                </a:solidFill>
                <a:latin typeface="Consolas" panose="020B0609020204030204" pitchFamily="49" charset="0"/>
              </a:rPr>
              <a:t>//     index.html</a:t>
            </a:r>
          </a:p>
          <a:p>
            <a:r>
              <a:rPr lang="en-US" sz="1150" dirty="0">
                <a:solidFill>
                  <a:srgbClr val="D4D4D4"/>
                </a:solidFill>
                <a:latin typeface="Consolas" panose="020B0609020204030204" pitchFamily="49" charset="0"/>
              </a:rPr>
              <a:t>//     style.css</a:t>
            </a:r>
          </a:p>
          <a:p>
            <a:r>
              <a:rPr lang="en-US" sz="1150" dirty="0">
                <a:solidFill>
                  <a:srgbClr val="D4D4D4"/>
                </a:solidFill>
                <a:latin typeface="Consolas" panose="020B0609020204030204" pitchFamily="49" charset="0"/>
              </a:rPr>
              <a:t>//     app.js</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WORKING WITH JSON IN EXPRESS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is JSON?</a:t>
            </a:r>
          </a:p>
          <a:p>
            <a:endParaRPr lang="en-US" dirty="0"/>
          </a:p>
          <a:p>
            <a:r>
              <a:rPr lang="en-US" sz="1500" dirty="0"/>
              <a:t>JSON (JavaScript Object Notation) is the standard data format for web APIs. It represents data as key-value pairs using JavaScript-like syntax. Express makes sending and receiving JSON very straightforward.</a:t>
            </a:r>
          </a:p>
          <a:p>
            <a:endParaRPr lang="en-US" dirty="0"/>
          </a:p>
          <a:p>
            <a:r>
              <a:rPr lang="en-US" b="1" dirty="0">
                <a:latin typeface="Arial Black" panose="020B0A04020102020204" pitchFamily="34" charset="0"/>
              </a:rPr>
              <a:t>Sending JSON with res.json()</a:t>
            </a:r>
          </a:p>
          <a:p>
            <a:endParaRPr lang="en-US" dirty="0"/>
          </a:p>
          <a:p>
            <a:r>
              <a:rPr lang="en-US" sz="1500" dirty="0"/>
              <a:t>res.json() automatically sets the Content-Type header to application/json and serializes the JavaScript object into a JSON string. It is the preferred way to return API data.</a:t>
            </a:r>
          </a:p>
          <a:p>
            <a:endParaRPr lang="en-US" dirty="0"/>
          </a:p>
          <a:p>
            <a:r>
              <a:rPr lang="en-US" b="1" dirty="0">
                <a:latin typeface="Arial Black" panose="020B0A04020102020204" pitchFamily="34" charset="0"/>
              </a:rPr>
              <a:t>Receiving JSON with req.body</a:t>
            </a:r>
          </a:p>
          <a:p>
            <a:endParaRPr lang="en-US" dirty="0"/>
          </a:p>
          <a:p>
            <a:r>
              <a:rPr lang="en-US" sz="1500" dirty="0"/>
              <a:t>To read JSON data sent in a POST or PUT request body, you MUST register express.json() middleware first. Without it, req.body will be undefined.</a:t>
            </a:r>
          </a:p>
          <a:p>
            <a:endParaRPr lang="en-US" dirty="0"/>
          </a:p>
          <a:p>
            <a:r>
              <a:rPr lang="en-US" b="1" dirty="0">
                <a:latin typeface="Arial Black" panose="020B0A04020102020204" pitchFamily="34" charset="0"/>
              </a:rPr>
              <a:t>res.json() vs res.send()</a:t>
            </a:r>
          </a:p>
          <a:p>
            <a:endParaRPr lang="en-US" dirty="0"/>
          </a:p>
          <a:p>
            <a:pPr marL="285750" indent="-285750">
              <a:buFontTx/>
              <a:buChar char="-"/>
            </a:pPr>
            <a:r>
              <a:rPr lang="en-US" sz="1400" b="1" dirty="0"/>
              <a:t>res.json(data):</a:t>
            </a:r>
            <a:r>
              <a:rPr lang="en-US" sz="1400" dirty="0"/>
              <a:t xml:space="preserve"> Always sets Content-Type: application/json. Accepts objects, arrays, strings, numbers, booleans.</a:t>
            </a:r>
          </a:p>
          <a:p>
            <a:pPr marL="285750" indent="-285750">
              <a:buFontTx/>
              <a:buChar char="-"/>
            </a:pPr>
            <a:r>
              <a:rPr lang="en-US" sz="1400" b="1" dirty="0"/>
              <a:t>res.send(data):</a:t>
            </a:r>
            <a:r>
              <a:rPr lang="en-US" sz="1400" dirty="0"/>
              <a:t xml:space="preserve"> Sets Content-Type based on the data type. If you pass an object it behaves like res.json(), but it is safer to be explicit.</a:t>
            </a:r>
          </a:p>
          <a:p>
            <a:pPr marL="285750" indent="-285750">
              <a:buFontTx/>
              <a:buChar char="-"/>
            </a:pPr>
            <a:r>
              <a:rPr lang="en-US" sz="1400" b="1" dirty="0"/>
              <a:t>Best Practice:</a:t>
            </a:r>
            <a:r>
              <a:rPr lang="en-US" sz="1400" dirty="0"/>
              <a:t xml:space="preserve"> Use res.json() for APIs and res.send() only for plain text or HTML responses.</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EXPRESS ROUTER</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Organising Routes with express.Router()</a:t>
            </a:r>
          </a:p>
          <a:p>
            <a:r>
              <a:rPr lang="en-US" sz="1500" dirty="0"/>
              <a:t>As your app grows, keeping all routes in server.js becomes messy. Express Router lets you split routes into separate files (modules):</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 routes/users.js</a:t>
            </a:r>
          </a:p>
          <a:p>
            <a:r>
              <a:rPr lang="en-US" sz="1150" dirty="0">
                <a:solidFill>
                  <a:srgbClr val="D4D4D4"/>
                </a:solidFill>
                <a:latin typeface="Consolas" panose="020B0609020204030204" pitchFamily="49" charset="0"/>
              </a:rPr>
              <a:t>const express = require('express');</a:t>
            </a:r>
          </a:p>
          <a:p>
            <a:r>
              <a:rPr lang="en-US" sz="1150" dirty="0">
                <a:solidFill>
                  <a:srgbClr val="D4D4D4"/>
                </a:solidFill>
                <a:latin typeface="Consolas" panose="020B0609020204030204" pitchFamily="49" charset="0"/>
              </a:rPr>
              <a:t>const router = express.Router();</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GET /users</a:t>
            </a:r>
          </a:p>
          <a:p>
            <a:r>
              <a:rPr lang="en-US" sz="1150" dirty="0">
                <a:solidFill>
                  <a:srgbClr val="D4D4D4"/>
                </a:solidFill>
                <a:latin typeface="Consolas" panose="020B0609020204030204" pitchFamily="49" charset="0"/>
              </a:rPr>
              <a:t>router.get('/', (req, res) =&gt; {</a:t>
            </a:r>
          </a:p>
          <a:p>
            <a:r>
              <a:rPr lang="en-US" sz="1150" dirty="0">
                <a:solidFill>
                  <a:srgbClr val="D4D4D4"/>
                </a:solidFill>
                <a:latin typeface="Consolas" panose="020B0609020204030204" pitchFamily="49" charset="0"/>
              </a:rPr>
              <a:t xml:space="preserve">  res.json([{ id: 1, name: 'Alice'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POST /users</a:t>
            </a:r>
          </a:p>
          <a:p>
            <a:r>
              <a:rPr lang="en-US" sz="1150" dirty="0">
                <a:solidFill>
                  <a:srgbClr val="D4D4D4"/>
                </a:solidFill>
                <a:latin typeface="Consolas" panose="020B0609020204030204" pitchFamily="49" charset="0"/>
              </a:rPr>
              <a:t>router.post('/', (req, res) =&gt; {</a:t>
            </a:r>
          </a:p>
          <a:p>
            <a:r>
              <a:rPr lang="en-US" sz="1150" dirty="0">
                <a:solidFill>
                  <a:srgbClr val="D4D4D4"/>
                </a:solidFill>
                <a:latin typeface="Consolas" panose="020B0609020204030204" pitchFamily="49" charset="0"/>
              </a:rPr>
              <a:t xml:space="preserve">  const user = { id: 2, ...req.body };</a:t>
            </a:r>
          </a:p>
          <a:p>
            <a:r>
              <a:rPr lang="en-US" sz="1150" dirty="0">
                <a:solidFill>
                  <a:srgbClr val="D4D4D4"/>
                </a:solidFill>
                <a:latin typeface="Consolas" panose="020B0609020204030204" pitchFamily="49" charset="0"/>
              </a:rPr>
              <a:t xml:space="preserve">  res.status(201).json(user);</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GET /users/:id</a:t>
            </a:r>
          </a:p>
          <a:p>
            <a:r>
              <a:rPr lang="en-US" sz="1150" dirty="0">
                <a:solidFill>
                  <a:srgbClr val="D4D4D4"/>
                </a:solidFill>
                <a:latin typeface="Consolas" panose="020B0609020204030204" pitchFamily="49" charset="0"/>
              </a:rPr>
              <a:t>router.get('/:id', (req, res) =&gt; {</a:t>
            </a:r>
          </a:p>
          <a:p>
            <a:r>
              <a:rPr lang="en-US" sz="1150" dirty="0">
                <a:solidFill>
                  <a:srgbClr val="D4D4D4"/>
                </a:solidFill>
                <a:latin typeface="Consolas" panose="020B0609020204030204" pitchFamily="49" charset="0"/>
              </a:rPr>
              <a:t xml:space="preserve">  res.json({ id: req.params.id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module.exports = router;</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server.js - mount the router</a:t>
            </a:r>
          </a:p>
          <a:p>
            <a:r>
              <a:rPr lang="en-US" sz="1150" dirty="0">
                <a:solidFill>
                  <a:srgbClr val="D4D4D4"/>
                </a:solidFill>
                <a:latin typeface="Consolas" panose="020B0609020204030204" pitchFamily="49" charset="0"/>
              </a:rPr>
              <a:t>const usersRouter = require('./routes/users');</a:t>
            </a:r>
          </a:p>
          <a:p>
            <a:r>
              <a:rPr lang="en-US" sz="1150" dirty="0">
                <a:solidFill>
                  <a:srgbClr val="D4D4D4"/>
                </a:solidFill>
                <a:latin typeface="Consolas" panose="020B0609020204030204" pitchFamily="49" charset="0"/>
              </a:rPr>
              <a:t>app.use('/users', usersRouter);</a:t>
            </a:r>
          </a:p>
          <a:p>
            <a:r>
              <a:rPr lang="en-US" sz="1150" dirty="0">
                <a:solidFill>
                  <a:srgbClr val="D4D4D4"/>
                </a:solidFill>
                <a:latin typeface="Consolas" panose="020B0609020204030204" pitchFamily="49" charset="0"/>
              </a:rPr>
              <a:t>// Now /users, POST /users, GET /users/:id all work!</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ERROR HANDLING MIDDLEWARE</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is Error-Handling Middleware?</a:t>
            </a:r>
          </a:p>
          <a:p>
            <a:endParaRPr lang="en-US" dirty="0"/>
          </a:p>
          <a:p>
            <a:r>
              <a:rPr lang="en-US" sz="1500" dirty="0"/>
              <a:t>Error-handling middleware in Express has exactly FOUR parameters: (err, req, res, next). The extra err parameter tells Express this is an error handler, not a regular middleware. It must be defined LAST in your middleware chain.</a:t>
            </a:r>
          </a:p>
          <a:p>
            <a:endParaRPr lang="en-US" dirty="0"/>
          </a:p>
          <a:p>
            <a:r>
              <a:rPr lang="en-US" b="1" dirty="0">
                <a:latin typeface="Arial Black" panose="020B0A04020102020204" pitchFamily="34" charset="0"/>
              </a:rPr>
              <a:t>How to Trigger It</a:t>
            </a:r>
          </a:p>
          <a:p>
            <a:endParaRPr lang="en-US" dirty="0"/>
          </a:p>
          <a:p>
            <a:r>
              <a:rPr lang="en-US" sz="1500" dirty="0"/>
              <a:t>Pass an error object to next() from any route or middleware: next(new Error(‘Something went wrong’)). Express will skip all regular middleware and route handlers and jump directly to the error handler.</a:t>
            </a:r>
          </a:p>
          <a:p>
            <a:endParaRPr lang="en-US" dirty="0"/>
          </a:p>
          <a:p>
            <a:r>
              <a:rPr lang="en-US" b="1" dirty="0">
                <a:latin typeface="Arial Black" panose="020B0A04020102020204" pitchFamily="34" charset="0"/>
              </a:rPr>
              <a:t>Best Practices</a:t>
            </a:r>
          </a:p>
          <a:p>
            <a:endParaRPr lang="en-US" dirty="0"/>
          </a:p>
          <a:p>
            <a:pPr marL="285750" indent="-285750">
              <a:buFontTx/>
              <a:buChar char="-"/>
            </a:pPr>
            <a:r>
              <a:rPr lang="en-US" sz="1400" b="1" dirty="0"/>
              <a:t>Centralise errors:</a:t>
            </a:r>
            <a:r>
              <a:rPr lang="en-US" sz="1400" dirty="0"/>
              <a:t xml:space="preserve"> Use a single error handler at the bottom of server.js to avoid duplicating error-handling code in every route.</a:t>
            </a:r>
          </a:p>
          <a:p>
            <a:pPr marL="285750" indent="-285750">
              <a:buFontTx/>
              <a:buChar char="-"/>
            </a:pPr>
            <a:r>
              <a:rPr lang="en-US" sz="1400" b="1" dirty="0"/>
              <a:t>Log the error:</a:t>
            </a:r>
            <a:r>
              <a:rPr lang="en-US" sz="1400" dirty="0"/>
              <a:t xml:space="preserve"> Always console.error(err) or use a logging library so you can debug in production.</a:t>
            </a:r>
          </a:p>
          <a:p>
            <a:pPr marL="285750" indent="-285750">
              <a:buFontTx/>
              <a:buChar char="-"/>
            </a:pPr>
            <a:r>
              <a:rPr lang="en-US" sz="1400" b="1" dirty="0"/>
              <a:t>Send consistent format:</a:t>
            </a:r>
            <a:r>
              <a:rPr lang="en-US" sz="1400" dirty="0"/>
              <a:t xml:space="preserve"> Return a structured JSON error response so API clients can parse it programmatically.</a:t>
            </a:r>
          </a:p>
          <a:p>
            <a:pPr marL="285750" indent="-285750">
              <a:buFontTx/>
              <a:buChar char="-"/>
            </a:pPr>
            <a:r>
              <a:rPr lang="en-US" sz="1400" b="1" dirty="0"/>
              <a:t>Never expose stack traces:</a:t>
            </a:r>
            <a:r>
              <a:rPr lang="en-US" sz="1400" dirty="0"/>
              <a:t xml:space="preserve"> In production, send a generic message. Only log the full stack server-side.</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ERROR HANDLING MIDDLEWARE</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Implementing Global Error Handling</a:t>
            </a:r>
          </a:p>
          <a:p>
            <a:r>
              <a:rPr lang="en-US" sz="1500" dirty="0"/>
              <a:t>Register your error handler AFTER all routes. Use next(error) to forward errors from any handler:</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 Utility: wrap async route handlers to catch errors</a:t>
            </a:r>
          </a:p>
          <a:p>
            <a:r>
              <a:rPr lang="en-US" sz="1150" dirty="0">
                <a:solidFill>
                  <a:srgbClr val="D4D4D4"/>
                </a:solidFill>
                <a:latin typeface="Consolas" panose="020B0609020204030204" pitchFamily="49" charset="0"/>
              </a:rPr>
              <a:t>const asyncHandler = fn =&gt; (req, res, next) =&gt;</a:t>
            </a:r>
          </a:p>
          <a:p>
            <a:r>
              <a:rPr lang="en-US" sz="1150" dirty="0">
                <a:solidFill>
                  <a:srgbClr val="D4D4D4"/>
                </a:solidFill>
                <a:latin typeface="Consolas" panose="020B0609020204030204" pitchFamily="49" charset="0"/>
              </a:rPr>
              <a:t xml:space="preserve">  Promise.resolve(fn(req, res, next)).catch(next);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Route using asyncHandler</a:t>
            </a:r>
          </a:p>
          <a:p>
            <a:r>
              <a:rPr lang="en-US" sz="1150" dirty="0">
                <a:solidFill>
                  <a:srgbClr val="D4D4D4"/>
                </a:solidFill>
                <a:latin typeface="Consolas" panose="020B0609020204030204" pitchFamily="49" charset="0"/>
              </a:rPr>
              <a:t>app.get('/data', asyncHandler(async (req, res) =&gt; {</a:t>
            </a:r>
          </a:p>
          <a:p>
            <a:r>
              <a:rPr lang="en-US" sz="1150" dirty="0">
                <a:solidFill>
                  <a:srgbClr val="D4D4D4"/>
                </a:solidFill>
                <a:latin typeface="Consolas" panose="020B0609020204030204" pitchFamily="49" charset="0"/>
              </a:rPr>
              <a:t xml:space="preserve">  const data = await fetchFromDatabase(); // may throw</a:t>
            </a:r>
          </a:p>
          <a:p>
            <a:r>
              <a:rPr lang="en-US" sz="1150" dirty="0">
                <a:solidFill>
                  <a:srgbClr val="D4D4D4"/>
                </a:solidFill>
                <a:latin typeface="Consolas" panose="020B0609020204030204" pitchFamily="49" charset="0"/>
              </a:rPr>
              <a:t xml:space="preserve">  res.json(data);</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404 handler - place BEFORE error handler</a:t>
            </a:r>
          </a:p>
          <a:p>
            <a:r>
              <a:rPr lang="en-US" sz="1150" dirty="0">
                <a:solidFill>
                  <a:srgbClr val="D4D4D4"/>
                </a:solidFill>
                <a:latin typeface="Consolas" panose="020B0609020204030204" pitchFamily="49" charset="0"/>
              </a:rPr>
              <a:t>app.use((req, res, next) =&gt; {</a:t>
            </a:r>
          </a:p>
          <a:p>
            <a:r>
              <a:rPr lang="en-US" sz="1150" dirty="0">
                <a:solidFill>
                  <a:srgbClr val="D4D4D4"/>
                </a:solidFill>
                <a:latin typeface="Consolas" panose="020B0609020204030204" pitchFamily="49" charset="0"/>
              </a:rPr>
              <a:t xml:space="preserve">  res.status(404).json({</a:t>
            </a:r>
          </a:p>
          <a:p>
            <a:r>
              <a:rPr lang="en-US" sz="1150" dirty="0">
                <a:solidFill>
                  <a:srgbClr val="D4D4D4"/>
                </a:solidFill>
                <a:latin typeface="Consolas" panose="020B0609020204030204" pitchFamily="49" charset="0"/>
              </a:rPr>
              <a:t xml:space="preserve">    error: `Route ${req.method} ${req.url} not found`,</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 Global error-handling middleware (4 params!)</a:t>
            </a:r>
          </a:p>
          <a:p>
            <a:r>
              <a:rPr lang="en-US" sz="1150" dirty="0">
                <a:solidFill>
                  <a:srgbClr val="D4D4D4"/>
                </a:solidFill>
                <a:latin typeface="Consolas" panose="020B0609020204030204" pitchFamily="49" charset="0"/>
              </a:rPr>
              <a:t>app.use((err, req, res, next) =&gt; {</a:t>
            </a:r>
          </a:p>
          <a:p>
            <a:r>
              <a:rPr lang="en-US" sz="1150" dirty="0">
                <a:solidFill>
                  <a:srgbClr val="D4D4D4"/>
                </a:solidFill>
                <a:latin typeface="Consolas" panose="020B0609020204030204" pitchFamily="49" charset="0"/>
              </a:rPr>
              <a:t xml:space="preserve">  console.error(err.stack);</a:t>
            </a:r>
          </a:p>
          <a:p>
            <a:r>
              <a:rPr lang="en-US" sz="1150" dirty="0">
                <a:solidFill>
                  <a:srgbClr val="D4D4D4"/>
                </a:solidFill>
                <a:latin typeface="Consolas" panose="020B0609020204030204" pitchFamily="49" charset="0"/>
              </a:rPr>
              <a:t xml:space="preserve">  const status = err.status || 500;</a:t>
            </a:r>
          </a:p>
          <a:p>
            <a:r>
              <a:rPr lang="en-US" sz="1150" dirty="0">
                <a:solidFill>
                  <a:srgbClr val="D4D4D4"/>
                </a:solidFill>
                <a:latin typeface="Consolas" panose="020B0609020204030204" pitchFamily="49" charset="0"/>
              </a:rPr>
              <a:t xml:space="preserve">  res.status(status).json({</a:t>
            </a:r>
          </a:p>
          <a:p>
            <a:r>
              <a:rPr lang="en-US" sz="1150" dirty="0">
                <a:solidFill>
                  <a:srgbClr val="D4D4D4"/>
                </a:solidFill>
                <a:latin typeface="Consolas" panose="020B0609020204030204" pitchFamily="49" charset="0"/>
              </a:rPr>
              <a:t xml:space="preserve">    error: err.message || 'Internal Server Error',</a:t>
            </a:r>
          </a:p>
          <a:p>
            <a:r>
              <a:rPr lang="en-US" sz="1150" dirty="0">
                <a:solidFill>
                  <a:srgbClr val="D4D4D4"/>
                </a:solidFill>
                <a:latin typeface="Consolas" panose="020B0609020204030204" pitchFamily="49" charset="0"/>
              </a:rPr>
              <a:t xml:space="preserve">  });</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BUILDING A REST API — PART 1</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is a REST API?</a:t>
            </a:r>
          </a:p>
          <a:p>
            <a:endParaRPr lang="en-US" dirty="0"/>
          </a:p>
          <a:p>
            <a:r>
              <a:rPr lang="en-US" sz="1500" dirty="0"/>
              <a:t>REST (Representational State Transfer) is an architectural style for designing APIs. A RESTful API uses HTTP methods and URLs to expose resources (data entities) and allows clients to perform CRUD operations on them.</a:t>
            </a:r>
          </a:p>
          <a:p>
            <a:endParaRPr lang="en-US" dirty="0"/>
          </a:p>
          <a:p>
            <a:r>
              <a:rPr lang="en-US" b="1" dirty="0">
                <a:latin typeface="Arial Black" panose="020B0A04020102020204" pitchFamily="34" charset="0"/>
              </a:rPr>
              <a:t>REST Design Principles</a:t>
            </a:r>
          </a:p>
          <a:p>
            <a:endParaRPr lang="en-US" dirty="0"/>
          </a:p>
          <a:p>
            <a:pPr marL="285750" indent="-285750">
              <a:buFontTx/>
              <a:buChar char="-"/>
            </a:pPr>
            <a:r>
              <a:rPr lang="en-US" sz="1400" b="1" dirty="0"/>
              <a:t>Stateless:</a:t>
            </a:r>
            <a:r>
              <a:rPr lang="en-US" sz="1400" dirty="0"/>
              <a:t xml:space="preserve"> Each request must contain all the information needed to process it. The server does not store client session data between requests.</a:t>
            </a:r>
          </a:p>
          <a:p>
            <a:pPr marL="285750" indent="-285750">
              <a:buFontTx/>
              <a:buChar char="-"/>
            </a:pPr>
            <a:r>
              <a:rPr lang="en-US" sz="1400" b="1" dirty="0"/>
              <a:t>Resource-based URLs:</a:t>
            </a:r>
            <a:r>
              <a:rPr lang="en-US" sz="1400" dirty="0"/>
              <a:t xml:space="preserve"> URLs represent nouns (things), not actions. Use /users not /getUsers. Use /products/5 not /deleteProduct?id=5.</a:t>
            </a:r>
          </a:p>
          <a:p>
            <a:pPr marL="285750" indent="-285750">
              <a:buFontTx/>
              <a:buChar char="-"/>
            </a:pPr>
            <a:r>
              <a:rPr lang="en-US" sz="1400" b="1" dirty="0"/>
              <a:t>Use correct HTTP methods:</a:t>
            </a:r>
            <a:r>
              <a:rPr lang="en-US" sz="1400" dirty="0"/>
              <a:t xml:space="preserve"> GET to read, POST to create, PUT/PATCH to update, DELETE to delete.</a:t>
            </a:r>
          </a:p>
          <a:p>
            <a:pPr marL="285750" indent="-285750">
              <a:buFontTx/>
              <a:buChar char="-"/>
            </a:pPr>
            <a:r>
              <a:rPr lang="en-US" sz="1400" b="1" dirty="0"/>
              <a:t>JSON responses:</a:t>
            </a:r>
            <a:r>
              <a:rPr lang="en-US" sz="1400" dirty="0"/>
              <a:t xml:space="preserve"> Return data in JSON format with appropriate Content-Type headers.</a:t>
            </a:r>
          </a:p>
          <a:p>
            <a:pPr marL="285750" indent="-285750">
              <a:buFontTx/>
              <a:buChar char="-"/>
            </a:pPr>
            <a:r>
              <a:rPr lang="en-US" sz="1400" b="1" dirty="0"/>
              <a:t>Meaningful status codes:</a:t>
            </a:r>
            <a:r>
              <a:rPr lang="en-US" sz="1400" dirty="0"/>
              <a:t xml:space="preserve"> 201 for creation, 404 for not found, 400 for bad input, etc.</a:t>
            </a:r>
          </a:p>
          <a:p>
            <a:r>
              <a:rPr lang="en-US" b="1" dirty="0">
                <a:latin typeface="Arial Black" panose="020B0A04020102020204" pitchFamily="34" charset="0"/>
              </a:rPr>
              <a:t>URL Design Examples</a:t>
            </a:r>
          </a:p>
          <a:p>
            <a:endParaRPr lang="en-US" dirty="0"/>
          </a:p>
          <a:p>
            <a:pPr marL="285750" indent="-285750">
              <a:buFontTx/>
              <a:buChar char="-"/>
            </a:pPr>
            <a:r>
              <a:rPr lang="en-US" sz="1400" b="1" dirty="0"/>
              <a:t>GET /books</a:t>
            </a:r>
            <a:r>
              <a:rPr lang="en-US" sz="1400" dirty="0"/>
              <a:t xml:space="preserve"> Retrieve all books</a:t>
            </a:r>
          </a:p>
          <a:p>
            <a:pPr marL="285750" indent="-285750">
              <a:buFontTx/>
              <a:buChar char="-"/>
            </a:pPr>
            <a:r>
              <a:rPr lang="en-US" sz="1400" b="1" dirty="0"/>
              <a:t>GET /books/5</a:t>
            </a:r>
            <a:r>
              <a:rPr lang="en-US" sz="1400" dirty="0"/>
              <a:t xml:space="preserve"> Retrieve book with ID 5</a:t>
            </a:r>
          </a:p>
          <a:p>
            <a:pPr marL="285750" indent="-285750">
              <a:buFontTx/>
              <a:buChar char="-"/>
            </a:pPr>
            <a:r>
              <a:rPr lang="en-US" sz="1400" b="1" dirty="0"/>
              <a:t>POST /books</a:t>
            </a:r>
            <a:r>
              <a:rPr lang="en-US" sz="1400" dirty="0"/>
              <a:t xml:space="preserve"> Create a new book</a:t>
            </a:r>
          </a:p>
          <a:p>
            <a:pPr marL="285750" indent="-285750">
              <a:buFontTx/>
              <a:buChar char="-"/>
            </a:pPr>
            <a:r>
              <a:rPr lang="en-US" sz="1400" b="1" dirty="0"/>
              <a:t>PUT /books/5</a:t>
            </a:r>
            <a:r>
              <a:rPr lang="en-US" sz="1400" dirty="0"/>
              <a:t xml:space="preserve"> Update book 5</a:t>
            </a:r>
          </a:p>
          <a:p>
            <a:pPr marL="285750" indent="-285750">
              <a:buFontTx/>
              <a:buChar char="-"/>
            </a:pPr>
            <a:r>
              <a:rPr lang="en-US" sz="1400" b="1" dirty="0"/>
              <a:t>DELETE /books/5</a:t>
            </a:r>
            <a:r>
              <a:rPr lang="en-US" sz="1400" dirty="0"/>
              <a:t xml:space="preserve"> Delete book 5</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CODE: BUILDING A REST API — PART 2</a:t>
            </a:r>
          </a:p>
        </p:txBody>
      </p:sp>
      <p:sp>
        <p:nvSpPr>
          <p:cNvPr id="14" name="IntroBox"/>
          <p:cNvSpPr txBox="1"/>
          <p:nvPr/>
        </p:nvSpPr>
        <p:spPr>
          <a:xfrm>
            <a:off x="304800" y="1060000"/>
            <a:ext cx="11582400" cy="780000"/>
          </a:xfrm>
          <a:prstGeom prst="rect">
            <a:avLst/>
          </a:prstGeom>
          <a:noFill/>
        </p:spPr>
        <p:txBody>
          <a:bodyPr wrap="square" rtlCol="0">
            <a:spAutoFit/>
          </a:bodyPr>
          <a:lstStyle/>
          <a:p>
            <a:r>
              <a:rPr lang="en-US" b="1" dirty="0">
                <a:latin typeface="Arial Black" panose="020B0A04020102020204" pitchFamily="34" charset="0"/>
              </a:rPr>
              <a:t>Complete Books REST API</a:t>
            </a:r>
          </a:p>
          <a:p>
            <a:r>
              <a:rPr lang="en-US" sz="1500" dirty="0"/>
              <a:t>Putting it all together — a fully functional Books CRUD API with validation:</a:t>
            </a:r>
          </a:p>
        </p:txBody>
      </p:sp>
      <p:sp>
        <p:nvSpPr>
          <p:cNvPr id="15" name="CodeBg"/>
          <p:cNvSpPr/>
          <p:nvPr/>
        </p:nvSpPr>
        <p:spPr>
          <a:xfrm>
            <a:off x="304800" y="1920000"/>
            <a:ext cx="11582400" cy="4300000"/>
          </a:xfrm>
          <a:prstGeom prst="rect">
            <a:avLst/>
          </a:prstGeom>
          <a:solidFill>
            <a:srgbClr val="1E1E1E"/>
          </a:solidFill>
          <a:ln>
            <a:noFill/>
          </a:ln>
        </p:spPr>
        <p:txBody>
          <a:bodyPr rtlCol="0" anchor="ctr"/>
          <a:lstStyle/>
          <a:p>
            <a:endParaRPr lang="en-US"/>
          </a:p>
        </p:txBody>
      </p:sp>
      <p:sp>
        <p:nvSpPr>
          <p:cNvPr id="16" name="CodeText"/>
          <p:cNvSpPr txBox="1"/>
          <p:nvPr/>
        </p:nvSpPr>
        <p:spPr>
          <a:xfrm>
            <a:off x="457200" y="1980000"/>
            <a:ext cx="11277000" cy="4180000"/>
          </a:xfrm>
          <a:prstGeom prst="rect">
            <a:avLst/>
          </a:prstGeom>
          <a:noFill/>
        </p:spPr>
        <p:txBody>
          <a:bodyPr wrap="square" rtlCol="0">
            <a:spAutoFit/>
          </a:bodyPr>
          <a:lstStyle/>
          <a:p>
            <a:r>
              <a:rPr lang="en-US" sz="1150" dirty="0">
                <a:solidFill>
                  <a:srgbClr val="D4D4D4"/>
                </a:solidFill>
                <a:latin typeface="Consolas" panose="020B0609020204030204" pitchFamily="49" charset="0"/>
              </a:rPr>
              <a:t>let books = [</a:t>
            </a:r>
          </a:p>
          <a:p>
            <a:r>
              <a:rPr lang="en-US" sz="1150" dirty="0">
                <a:solidFill>
                  <a:srgbClr val="D4D4D4"/>
                </a:solidFill>
                <a:latin typeface="Consolas" panose="020B0609020204030204" pitchFamily="49" charset="0"/>
              </a:rPr>
              <a:t xml:space="preserve">  { id: 1, title: 'Node.js Handbook', author: 'Alice'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app.get('/books', (req, res) =&gt; res.json(books));</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app.get('/books/:id', (req, res) =&gt; {</a:t>
            </a:r>
          </a:p>
          <a:p>
            <a:r>
              <a:rPr lang="en-US" sz="1150" dirty="0">
                <a:solidFill>
                  <a:srgbClr val="D4D4D4"/>
                </a:solidFill>
                <a:latin typeface="Consolas" panose="020B0609020204030204" pitchFamily="49" charset="0"/>
              </a:rPr>
              <a:t xml:space="preserve">  const book = books.find(b =&gt; b.id == req.params.id);</a:t>
            </a:r>
          </a:p>
          <a:p>
            <a:r>
              <a:rPr lang="en-US" sz="1150" dirty="0">
                <a:solidFill>
                  <a:srgbClr val="D4D4D4"/>
                </a:solidFill>
                <a:latin typeface="Consolas" panose="020B0609020204030204" pitchFamily="49" charset="0"/>
              </a:rPr>
              <a:t xml:space="preserve">  book ? res.json(book) : res.status(404).json({ error: 'Not found' });</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app.post('/books', (req, res) =&gt; {</a:t>
            </a:r>
          </a:p>
          <a:p>
            <a:r>
              <a:rPr lang="en-US" sz="1150" dirty="0">
                <a:solidFill>
                  <a:srgbClr val="D4D4D4"/>
                </a:solidFill>
                <a:latin typeface="Consolas" panose="020B0609020204030204" pitchFamily="49" charset="0"/>
              </a:rPr>
              <a:t xml:space="preserve">  const { title, author } = req.body;</a:t>
            </a:r>
          </a:p>
          <a:p>
            <a:r>
              <a:rPr lang="en-US" sz="1150" dirty="0">
                <a:solidFill>
                  <a:srgbClr val="D4D4D4"/>
                </a:solidFill>
                <a:latin typeface="Consolas" panose="020B0609020204030204" pitchFamily="49" charset="0"/>
              </a:rPr>
              <a:t xml:space="preserve">  if (!title || !author) return res.status(400).json({ error: 'Title and author required' });</a:t>
            </a:r>
          </a:p>
          <a:p>
            <a:r>
              <a:rPr lang="en-US" sz="1150" dirty="0">
                <a:solidFill>
                  <a:srgbClr val="D4D4D4"/>
                </a:solidFill>
                <a:latin typeface="Consolas" panose="020B0609020204030204" pitchFamily="49" charset="0"/>
              </a:rPr>
              <a:t xml:space="preserve">  const book = { id: books.length + 1, title, author };</a:t>
            </a:r>
          </a:p>
          <a:p>
            <a:r>
              <a:rPr lang="en-US" sz="1150" dirty="0">
                <a:solidFill>
                  <a:srgbClr val="D4D4D4"/>
                </a:solidFill>
                <a:latin typeface="Consolas" panose="020B0609020204030204" pitchFamily="49" charset="0"/>
              </a:rPr>
              <a:t xml:space="preserve">  books.push(book);</a:t>
            </a:r>
          </a:p>
          <a:p>
            <a:r>
              <a:rPr lang="en-US" sz="1150" dirty="0">
                <a:solidFill>
                  <a:srgbClr val="D4D4D4"/>
                </a:solidFill>
                <a:latin typeface="Consolas" panose="020B0609020204030204" pitchFamily="49" charset="0"/>
              </a:rPr>
              <a:t xml:space="preserve">  res.status(201).json(book);</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app.put('/books/:id', (req, res) =&gt; {</a:t>
            </a:r>
          </a:p>
          <a:p>
            <a:r>
              <a:rPr lang="en-US" sz="1150" dirty="0">
                <a:solidFill>
                  <a:srgbClr val="D4D4D4"/>
                </a:solidFill>
                <a:latin typeface="Consolas" panose="020B0609020204030204" pitchFamily="49" charset="0"/>
              </a:rPr>
              <a:t xml:space="preserve">  const idx = books.findIndex(b =&gt; b.id == req.params.id);</a:t>
            </a:r>
          </a:p>
          <a:p>
            <a:r>
              <a:rPr lang="en-US" sz="1150" dirty="0">
                <a:solidFill>
                  <a:srgbClr val="D4D4D4"/>
                </a:solidFill>
                <a:latin typeface="Consolas" panose="020B0609020204030204" pitchFamily="49" charset="0"/>
              </a:rPr>
              <a:t xml:space="preserve">  if (idx === -1) return res.status(404).json({ error: 'Not found' });</a:t>
            </a:r>
          </a:p>
          <a:p>
            <a:r>
              <a:rPr lang="en-US" sz="1150" dirty="0">
                <a:solidFill>
                  <a:srgbClr val="D4D4D4"/>
                </a:solidFill>
                <a:latin typeface="Consolas" panose="020B0609020204030204" pitchFamily="49" charset="0"/>
              </a:rPr>
              <a:t xml:space="preserve">  books[idx] = { id: Number(req.params.id), ...req.body };</a:t>
            </a:r>
          </a:p>
          <a:p>
            <a:r>
              <a:rPr lang="en-US" sz="1150" dirty="0">
                <a:solidFill>
                  <a:srgbClr val="D4D4D4"/>
                </a:solidFill>
                <a:latin typeface="Consolas" panose="020B0609020204030204" pitchFamily="49" charset="0"/>
              </a:rPr>
              <a:t xml:space="preserve">  res.json(books[idx]);</a:t>
            </a:r>
          </a:p>
          <a:p>
            <a:r>
              <a:rPr lang="en-US" sz="1150" dirty="0">
                <a:solidFill>
                  <a:srgbClr val="D4D4D4"/>
                </a:solidFill>
                <a:latin typeface="Consolas" panose="020B0609020204030204" pitchFamily="49" charset="0"/>
              </a:rPr>
              <a:t>});</a:t>
            </a:r>
          </a:p>
          <a:p>
            <a:r>
              <a:rPr lang="en-US" sz="1150" dirty="0">
                <a:solidFill>
                  <a:srgbClr val="D4D4D4"/>
                </a:solidFill>
                <a:latin typeface="Consolas" panose="020B0609020204030204" pitchFamily="49" charset="0"/>
              </a:rPr>
              <a:t/>
            </a:r>
          </a:p>
          <a:p>
            <a:r>
              <a:rPr lang="en-US" sz="1150" dirty="0">
                <a:solidFill>
                  <a:srgbClr val="D4D4D4"/>
                </a:solidFill>
                <a:latin typeface="Consolas" panose="020B0609020204030204" pitchFamily="49" charset="0"/>
              </a:rPr>
              <a:t>app.delete('/books/:id', (req, res) =&gt; {</a:t>
            </a:r>
          </a:p>
          <a:p>
            <a:r>
              <a:rPr lang="en-US" sz="1150" dirty="0">
                <a:solidFill>
                  <a:srgbClr val="D4D4D4"/>
                </a:solidFill>
                <a:latin typeface="Consolas" panose="020B0609020204030204" pitchFamily="49" charset="0"/>
              </a:rPr>
              <a:t xml:space="preserve">  books = books.filter(b =&gt; b.id != req.params.id);</a:t>
            </a:r>
          </a:p>
          <a:p>
            <a:r>
              <a:rPr lang="en-US" sz="1150" dirty="0">
                <a:solidFill>
                  <a:srgbClr val="D4D4D4"/>
                </a:solidFill>
                <a:latin typeface="Consolas" panose="020B0609020204030204" pitchFamily="49" charset="0"/>
              </a:rPr>
              <a:t xml:space="preserve">  res.json({ message: 'Deleted' });</a:t>
            </a:r>
          </a:p>
          <a:p>
            <a:r>
              <a:rPr lang="en-US" sz="1150" dirty="0">
                <a:solidFill>
                  <a:srgbClr val="D4D4D4"/>
                </a:solidFill>
                <a:latin typeface="Consolas" panose="020B0609020204030204" pitchFamily="49" charset="0"/>
              </a:rPr>
              <a:t>});</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TESTING YOUR API WITH POSTMAN</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is Postman?</a:t>
            </a:r>
          </a:p>
          <a:p>
            <a:endParaRPr lang="en-US" dirty="0"/>
          </a:p>
          <a:p>
            <a:r>
              <a:rPr lang="en-US" sz="1500" dirty="0"/>
              <a:t>Postman is a popular GUI tool for testing REST APIs. It allows you to send HTTP requests (GET, POST, PUT, DELETE) to your server without needing a browser or front-end interface, making API development and debugging much easier.</a:t>
            </a:r>
          </a:p>
          <a:p>
            <a:endParaRPr lang="en-US" dirty="0"/>
          </a:p>
          <a:p>
            <a:r>
              <a:rPr lang="en-US" b="1" dirty="0">
                <a:latin typeface="Arial Black" panose="020B0A04020102020204" pitchFamily="34" charset="0"/>
              </a:rPr>
              <a:t>Getting Started with Postman</a:t>
            </a:r>
          </a:p>
          <a:p>
            <a:endParaRPr lang="en-US" dirty="0"/>
          </a:p>
          <a:p>
            <a:pPr marL="285750" indent="-285750">
              <a:buFontTx/>
              <a:buChar char="-"/>
            </a:pPr>
            <a:r>
              <a:rPr lang="en-US" sz="1400" b="1" dirty="0"/>
              <a:t>Step 1:</a:t>
            </a:r>
            <a:r>
              <a:rPr lang="en-US" sz="1400" dirty="0"/>
              <a:t xml:space="preserve"> Download Postman from https://www.postman.com/downloads and install it.</a:t>
            </a:r>
          </a:p>
          <a:p>
            <a:pPr marL="285750" indent="-285750">
              <a:buFontTx/>
              <a:buChar char="-"/>
            </a:pPr>
            <a:r>
              <a:rPr lang="en-US" sz="1400" b="1" dirty="0"/>
              <a:t>Step 2:</a:t>
            </a:r>
            <a:r>
              <a:rPr lang="en-US" sz="1400" dirty="0"/>
              <a:t xml:space="preserve"> Start your Express server with node server.js.</a:t>
            </a:r>
          </a:p>
          <a:p>
            <a:pPr marL="285750" indent="-285750">
              <a:buFontTx/>
              <a:buChar char="-"/>
            </a:pPr>
            <a:r>
              <a:rPr lang="en-US" sz="1400" b="1" dirty="0"/>
              <a:t>Step 3:</a:t>
            </a:r>
            <a:r>
              <a:rPr lang="en-US" sz="1400" dirty="0"/>
              <a:t xml:space="preserve"> In Postman, click New Request. Choose the HTTP method (e.g. GET) and enter the URL: http://localhost:3000/users.</a:t>
            </a:r>
          </a:p>
          <a:p>
            <a:pPr marL="285750" indent="-285750">
              <a:buFontTx/>
              <a:buChar char="-"/>
            </a:pPr>
            <a:r>
              <a:rPr lang="en-US" sz="1400" b="1" dirty="0"/>
              <a:t>Step 4:</a:t>
            </a:r>
            <a:r>
              <a:rPr lang="en-US" sz="1400" dirty="0"/>
              <a:t xml:space="preserve"> For POST/PUT requests, click the Body tab, select raw, set format to JSON, and paste your JSON data.</a:t>
            </a:r>
          </a:p>
          <a:p>
            <a:pPr marL="285750" indent="-285750">
              <a:buFontTx/>
              <a:buChar char="-"/>
            </a:pPr>
            <a:r>
              <a:rPr lang="en-US" sz="1400" b="1" dirty="0"/>
              <a:t>Step 5:</a:t>
            </a:r>
            <a:r>
              <a:rPr lang="en-US" sz="1400" dirty="0"/>
              <a:t xml:space="preserve"> Click Send and inspect the response body, status code, and headers.</a:t>
            </a:r>
          </a:p>
          <a:p>
            <a:r>
              <a:rPr lang="en-US" b="1" dirty="0">
                <a:latin typeface="Arial Black" panose="020B0A04020102020204" pitchFamily="34" charset="0"/>
              </a:rPr>
              <a:t>What to Check in Responses</a:t>
            </a:r>
          </a:p>
          <a:p>
            <a:endParaRPr lang="en-US" dirty="0"/>
          </a:p>
          <a:p>
            <a:pPr marL="285750" indent="-285750">
              <a:buFontTx/>
              <a:buChar char="-"/>
            </a:pPr>
            <a:r>
              <a:rPr lang="en-US" sz="1400" b="1" dirty="0"/>
              <a:t>Status Code:</a:t>
            </a:r>
            <a:r>
              <a:rPr lang="en-US" sz="1400" dirty="0"/>
              <a:t xml:space="preserve"> Verify it matches expectations (200, 201, 404, etc.).</a:t>
            </a:r>
          </a:p>
          <a:p>
            <a:pPr marL="285750" indent="-285750">
              <a:buFontTx/>
              <a:buChar char="-"/>
            </a:pPr>
            <a:r>
              <a:rPr lang="en-US" sz="1400" b="1" dirty="0"/>
              <a:t>Response Body:</a:t>
            </a:r>
            <a:r>
              <a:rPr lang="en-US" sz="1400" dirty="0"/>
              <a:t xml:space="preserve"> Confirm the returned JSON structure and values are correct.</a:t>
            </a:r>
          </a:p>
          <a:p>
            <a:pPr marL="285750" indent="-285750">
              <a:buFontTx/>
              <a:buChar char="-"/>
            </a:pPr>
            <a:r>
              <a:rPr lang="en-US" sz="1400" b="1" dirty="0"/>
              <a:t>Headers:</a:t>
            </a:r>
            <a:r>
              <a:rPr lang="en-US" sz="1400" dirty="0"/>
              <a:t xml:space="preserve"> Content-Type should be application/json for API responses.</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PRACTICAL EXERCISE 1 — BUILD A TASKS API</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Exercise Goal</a:t>
            </a:r>
          </a:p>
          <a:p>
            <a:endParaRPr lang="en-US" dirty="0"/>
          </a:p>
          <a:p>
            <a:r>
              <a:rPr lang="en-US" sz="1500" dirty="0"/>
              <a:t>Build a complete RESTful API for a To-Do Task Manager using Express.js. This exercise covers everything from Session 9 and Session 10.</a:t>
            </a:r>
          </a:p>
          <a:p>
            <a:endParaRPr lang="en-US" dirty="0"/>
          </a:p>
          <a:p>
            <a:r>
              <a:rPr lang="en-US" b="1" dirty="0">
                <a:latin typeface="Arial Black" panose="020B0A04020102020204" pitchFamily="34" charset="0"/>
              </a:rPr>
              <a:t>Task Requirements</a:t>
            </a:r>
          </a:p>
          <a:p>
            <a:endParaRPr lang="en-US" dirty="0"/>
          </a:p>
          <a:p>
            <a:pPr marL="285750" indent="-285750">
              <a:buFontTx/>
              <a:buChar char="-"/>
            </a:pPr>
            <a:r>
              <a:rPr lang="en-US" sz="1400" b="1" dirty="0"/>
              <a:t>Data Model:</a:t>
            </a:r>
            <a:r>
              <a:rPr lang="en-US" sz="1400" dirty="0"/>
              <a:t xml:space="preserve"> Each task should have: id (number), title (string), completed (boolean, default false), createdAt (date string).</a:t>
            </a:r>
          </a:p>
          <a:p>
            <a:pPr marL="285750" indent="-285750">
              <a:buFontTx/>
              <a:buChar char="-"/>
            </a:pPr>
            <a:r>
              <a:rPr lang="en-US" sz="1400" b="1" dirty="0"/>
              <a:t>GET /tasks:</a:t>
            </a:r>
            <a:r>
              <a:rPr lang="en-US" sz="1400" dirty="0"/>
              <a:t xml:space="preserve"> Return all tasks as a JSON array. Support optional query parameter ?completed=true to filter by status.</a:t>
            </a:r>
          </a:p>
          <a:p>
            <a:pPr marL="285750" indent="-285750">
              <a:buFontTx/>
              <a:buChar char="-"/>
            </a:pPr>
            <a:r>
              <a:rPr lang="en-US" sz="1400" b="1" dirty="0"/>
              <a:t>GET /tasks/:id:</a:t>
            </a:r>
            <a:r>
              <a:rPr lang="en-US" sz="1400" dirty="0"/>
              <a:t xml:space="preserve"> Return a single task by ID. Return 404 if not found.</a:t>
            </a:r>
          </a:p>
          <a:p>
            <a:pPr marL="285750" indent="-285750">
              <a:buFontTx/>
              <a:buChar char="-"/>
            </a:pPr>
            <a:r>
              <a:rPr lang="en-US" sz="1400" b="1" dirty="0"/>
              <a:t>POST /tasks:</a:t>
            </a:r>
            <a:r>
              <a:rPr lang="en-US" sz="1400" dirty="0"/>
              <a:t xml:space="preserve"> Create a new task. Require title in the body. Return 400 if missing. Return the created task with 201.</a:t>
            </a:r>
          </a:p>
          <a:p>
            <a:pPr marL="285750" indent="-285750">
              <a:buFontTx/>
              <a:buChar char="-"/>
            </a:pPr>
            <a:r>
              <a:rPr lang="en-US" sz="1400" b="1" dirty="0"/>
              <a:t>PUT /tasks/:id:</a:t>
            </a:r>
            <a:r>
              <a:rPr lang="en-US" sz="1400" dirty="0"/>
              <a:t xml:space="preserve"> Update a task’s title and/or completed status. Return 404 if not found.</a:t>
            </a:r>
          </a:p>
          <a:p>
            <a:pPr marL="285750" indent="-285750">
              <a:buFontTx/>
              <a:buChar char="-"/>
            </a:pPr>
            <a:r>
              <a:rPr lang="en-US" sz="1400" b="1" dirty="0"/>
              <a:t>DELETE /tasks/:id:</a:t>
            </a:r>
            <a:r>
              <a:rPr lang="en-US" sz="1400" dirty="0"/>
              <a:t xml:space="preserve"> Delete a task by ID. Return a confirmation message.</a:t>
            </a:r>
          </a:p>
          <a:p>
            <a:r>
              <a:rPr lang="en-US" b="1" dirty="0">
                <a:latin typeface="Arial Black" panose="020B0A04020102020204" pitchFamily="34" charset="0"/>
              </a:rPr>
              <a:t>Bonus Challenges</a:t>
            </a:r>
          </a:p>
          <a:p>
            <a:endParaRPr lang="en-US" dirty="0"/>
          </a:p>
          <a:p>
            <a:pPr marL="285750" indent="-285750">
              <a:buFontTx/>
              <a:buChar char="-"/>
            </a:pPr>
            <a:r>
              <a:rPr lang="en-US" sz="1400" b="1" dirty="0"/>
              <a:t>Middleware:</a:t>
            </a:r>
            <a:r>
              <a:rPr lang="en-US" sz="1400" dirty="0"/>
              <a:t xml:space="preserve"> Add a custom request logger that prints the method, URL, and timestamp for every request.</a:t>
            </a:r>
          </a:p>
          <a:p>
            <a:pPr marL="285750" indent="-285750">
              <a:buFontTx/>
              <a:buChar char="-"/>
            </a:pPr>
            <a:r>
              <a:rPr lang="en-US" sz="1400" b="1" dirty="0"/>
              <a:t>Validation:</a:t>
            </a:r>
            <a:r>
              <a:rPr lang="en-US" sz="1400" dirty="0"/>
              <a:t xml:space="preserve"> Return 400 if title is an empty string or contains only whitespace.</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3030071" cy="197231"/>
          </a:xfrm>
          <a:prstGeom prst="rect">
            <a:avLst/>
          </a:prstGeom>
          <a:solidFill>
            <a:srgbClr val="FE4A55"/>
          </a:solidFill>
          <a:ln>
            <a:noFill/>
          </a:ln>
        </p:spPr>
        <p:txBody>
          <a:bodyPr rtlCol="0" anchor="ctr"/>
          <a:lstStyle/>
          <a:p>
            <a:endParaRPr lang="en-US"/>
          </a:p>
        </p:txBody>
      </p:sp>
      <p:pic>
        <p:nvPicPr>
          <p:cNvPr id="10" name="Picture 9"/>
          <p:cNvPicPr>
            <a:picLocks noChangeAspect="1"/>
          </p:cNvPicPr>
          <p:nvPr/>
        </p:nvPicPr>
        <p:blipFill>
          <a:blip r:embed="rId2"/>
          <a:stretch>
            <a:fillRect/>
          </a:stretch>
        </p:blipFill>
        <p:spPr>
          <a:xfrm>
            <a:off x="10206443" y="0"/>
            <a:ext cx="1886945" cy="502031"/>
          </a:xfrm>
          <a:prstGeom prst="rect">
            <a:avLst/>
          </a:prstGeom>
        </p:spPr>
      </p:pic>
      <p:sp>
        <p:nvSpPr>
          <p:cNvPr id="31" name="Rectangle 30"/>
          <p:cNvSpPr/>
          <p:nvPr/>
        </p:nvSpPr>
        <p:spPr>
          <a:xfrm>
            <a:off x="3397623" y="152400"/>
            <a:ext cx="3478306" cy="197231"/>
          </a:xfrm>
          <a:prstGeom prst="rect">
            <a:avLst/>
          </a:prstGeom>
          <a:solidFill>
            <a:schemeClr val="tx1"/>
          </a:solidFill>
          <a:ln>
            <a:noFill/>
          </a:ln>
        </p:spPr>
        <p:txBody>
          <a:bodyPr rtlCol="0" anchor="ctr"/>
          <a:lstStyle/>
          <a:p>
            <a:endParaRPr lang="en-US"/>
          </a:p>
        </p:txBody>
      </p:sp>
      <p:sp>
        <p:nvSpPr>
          <p:cNvPr id="33" name="Rectangle 32"/>
          <p:cNvSpPr/>
          <p:nvPr/>
        </p:nvSpPr>
        <p:spPr>
          <a:xfrm>
            <a:off x="7243482" y="152400"/>
            <a:ext cx="2962961" cy="197231"/>
          </a:xfrm>
          <a:prstGeom prst="rect">
            <a:avLst/>
          </a:prstGeom>
          <a:solidFill>
            <a:srgbClr val="FE4A55"/>
          </a:solidFill>
          <a:ln>
            <a:noFill/>
          </a:ln>
        </p:spPr>
        <p:txBody>
          <a:bodyPr rtlCol="0" anchor="ctr"/>
          <a:lstStyle/>
          <a:p>
            <a:endParaRPr lang="en-US"/>
          </a:p>
        </p:txBody>
      </p:sp>
      <p:sp>
        <p:nvSpPr>
          <p:cNvPr id="2" name="Rectangle 1"/>
          <p:cNvSpPr/>
          <p:nvPr/>
        </p:nvSpPr>
        <p:spPr>
          <a:xfrm>
            <a:off x="0" y="412376"/>
            <a:ext cx="10206443" cy="618565"/>
          </a:xfrm>
          <a:prstGeom prst="rect">
            <a:avLst/>
          </a:prstGeom>
          <a:solidFill>
            <a:schemeClr val="tx1"/>
          </a:solidFill>
          <a:ln>
            <a:noFill/>
          </a:ln>
        </p:spPr>
        <p:txBody>
          <a:bodyPr rtlCol="0" anchor="ctr"/>
          <a:lstStyle/>
          <a:p>
            <a:endParaRPr lang="en-US"/>
          </a:p>
        </p:txBody>
      </p:sp>
      <p:sp>
        <p:nvSpPr>
          <p:cNvPr id="3" name="TitleBox"/>
          <p:cNvSpPr txBox="1"/>
          <p:nvPr/>
        </p:nvSpPr>
        <p:spPr>
          <a:xfrm>
            <a:off x="0" y="536992"/>
            <a:ext cx="10100000"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WEEK 5 SUMMARY AND NEXT STEPS</a:t>
            </a:r>
          </a:p>
        </p:txBody>
      </p:sp>
      <p:sp>
        <p:nvSpPr>
          <p:cNvPr id="11" name="ContentBox"/>
          <p:cNvSpPr txBox="1"/>
          <p:nvPr/>
        </p:nvSpPr>
        <p:spPr>
          <a:xfrm>
            <a:off x="304800" y="1100000"/>
            <a:ext cx="11582400" cy="5100000"/>
          </a:xfrm>
          <a:prstGeom prst="rect">
            <a:avLst/>
          </a:prstGeom>
          <a:noFill/>
        </p:spPr>
        <p:txBody>
          <a:bodyPr wrap="square" rtlCol="0">
            <a:spAutoFit/>
          </a:bodyPr>
          <a:lstStyle/>
          <a:p>
            <a:r>
              <a:rPr lang="en-US" b="1" dirty="0">
                <a:latin typeface="Arial Black" panose="020B0A04020102020204" pitchFamily="34" charset="0"/>
              </a:rPr>
              <a:t>What We Covered This Week</a:t>
            </a:r>
          </a:p>
          <a:p>
            <a:endParaRPr lang="en-US" dirty="0"/>
          </a:p>
          <a:p>
            <a:pPr marL="285750" indent="-285750">
              <a:buFontTx/>
              <a:buChar char="-"/>
            </a:pPr>
            <a:r>
              <a:rPr lang="en-US" sz="1400" b="1" dirty="0"/>
              <a:t>Session 9:</a:t>
            </a:r>
            <a:r>
              <a:rPr lang="en-US" sz="1400" dirty="0"/>
              <a:t xml:space="preserve"> Installed and configured Express. Wrote a Hello World server. Understood middleware chains, built-in middleware (json, urlencoded, static), custom middleware, and routing with route parameters and query strings.</a:t>
            </a:r>
          </a:p>
          <a:p>
            <a:pPr marL="285750" indent="-285750">
              <a:buFontTx/>
              <a:buChar char="-"/>
            </a:pPr>
            <a:r>
              <a:rPr lang="en-US" sz="1400" b="1" dirty="0"/>
              <a:t>Session 10:</a:t>
            </a:r>
            <a:r>
              <a:rPr lang="en-US" sz="1400" dirty="0"/>
              <a:t xml:space="preserve"> Mastered all four HTTP methods (GET, POST, PUT, DELETE). Used HTTP status codes correctly. Served static files. Built a complete REST API with validation and error handling. Tested APIs with Postman.</a:t>
            </a:r>
          </a:p>
          <a:p>
            <a:r>
              <a:rPr lang="en-US" b="1" dirty="0">
                <a:latin typeface="Arial Black" panose="020B0A04020102020204" pitchFamily="34" charset="0"/>
              </a:rPr>
              <a:t>Core Skills Gained</a:t>
            </a:r>
          </a:p>
          <a:p>
            <a:endParaRPr lang="en-US" dirty="0"/>
          </a:p>
          <a:p>
            <a:pPr marL="285750" indent="-285750">
              <a:buFontTx/>
              <a:buChar char="-"/>
            </a:pPr>
            <a:r>
              <a:rPr lang="en-US" sz="1400" dirty="0"/>
              <a:t>Setting up a production-ready Express server from scratch</a:t>
            </a:r>
          </a:p>
          <a:p>
            <a:pPr marL="285750" indent="-285750">
              <a:buFontTx/>
              <a:buChar char="-"/>
            </a:pPr>
            <a:r>
              <a:rPr lang="en-US" sz="1400" dirty="0"/>
              <a:t>Designing RESTful API endpoints following best practices</a:t>
            </a:r>
          </a:p>
          <a:p>
            <a:pPr marL="285750" indent="-285750">
              <a:buFontTx/>
              <a:buChar char="-"/>
            </a:pPr>
            <a:r>
              <a:rPr lang="en-US" sz="1400" dirty="0"/>
              <a:t>Writing clean, modular route files using express.Router()</a:t>
            </a:r>
          </a:p>
          <a:p>
            <a:pPr marL="285750" indent="-285750">
              <a:buFontTx/>
              <a:buChar char="-"/>
            </a:pPr>
            <a:r>
              <a:rPr lang="en-US" sz="1400" dirty="0"/>
              <a:t>Handling errors gracefully with centralised middleware</a:t>
            </a:r>
          </a:p>
          <a:p>
            <a:pPr marL="285750" indent="-285750">
              <a:buFontTx/>
              <a:buChar char="-"/>
            </a:pPr>
            <a:r>
              <a:rPr lang="en-US" sz="1400" dirty="0"/>
              <a:t>Testing and debugging APIs with Postman</a:t>
            </a:r>
          </a:p>
          <a:p>
            <a:r>
              <a:rPr lang="en-US" b="1" dirty="0">
                <a:latin typeface="Arial Black" panose="020B0A04020102020204" pitchFamily="34" charset="0"/>
              </a:rPr>
              <a:t>Coming Up in Week 6</a:t>
            </a:r>
          </a:p>
          <a:p>
            <a:endParaRPr lang="en-US" dirty="0"/>
          </a:p>
          <a:p>
            <a:pPr marL="285750" indent="-285750">
              <a:buFontTx/>
              <a:buChar char="-"/>
            </a:pPr>
            <a:r>
              <a:rPr lang="en-US" sz="1400" b="1" dirty="0"/>
              <a:t>Databases with MongoDB:</a:t>
            </a:r>
            <a:r>
              <a:rPr lang="en-US" sz="1400" dirty="0"/>
              <a:t xml:space="preserve"> Connect your Express API to a real database using Mongoose ODM.</a:t>
            </a:r>
          </a:p>
          <a:p>
            <a:pPr marL="285750" indent="-285750">
              <a:buFontTx/>
              <a:buChar char="-"/>
            </a:pPr>
            <a:r>
              <a:rPr lang="en-US" sz="1400" b="1" dirty="0"/>
              <a:t>Authentication:</a:t>
            </a:r>
            <a:r>
              <a:rPr lang="en-US" sz="1400" dirty="0"/>
              <a:t xml:space="preserve"> Secure your routes with JWT (JSON Web Tokens) and password hashing.</a:t>
            </a:r>
          </a:p>
          <a:p>
            <a:pPr marL="285750" indent="-285750">
              <a:buFontTx/>
              <a:buChar char="-"/>
            </a:pPr>
            <a:r>
              <a:rPr lang="en-US" sz="1400" b="1" dirty="0"/>
              <a:t>Deployment:</a:t>
            </a:r>
            <a:r>
              <a:rPr lang="en-US" sz="1400" dirty="0"/>
              <a:t xml:space="preserve"> Host your Node.js/Express app on a cloud platform (Render, Railway, or Heroku).</a:t>
            </a:r>
          </a:p>
        </p:txBody>
      </p:sp>
      <p:sp>
        <p:nvSpPr>
          <p:cNvPr id="12" name="Disclaimer"/>
          <p:cNvSpPr txBox="1"/>
          <p:nvPr/>
        </p:nvSpPr>
        <p:spPr>
          <a:xfrm>
            <a:off x="1138518" y="6472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679</TotalTime>
  <Words>608</Words>
  <Application>Microsoft Office PowerPoint</Application>
  <PresentationFormat>Widescreen</PresentationFormat>
  <Paragraphs>68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Olaniyi Eluwole</dc:creator>
  <cp:lastModifiedBy>Olaniyi Eluwole</cp:lastModifiedBy>
  <cp:revision>6</cp:revision>
  <dcterms:created xsi:type="dcterms:W3CDTF">2024-10-09T19:59:03Z</dcterms:created>
  <dcterms:modified xsi:type="dcterms:W3CDTF">2024-10-11T18:02:13Z</dcterms:modified>
</cp:coreProperties>
</file>